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B4031-82A3-4C8A-BDA1-70AACA606BCC}" v="1" dt="2026-10-12T13:19:36.1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5C3B9-B825-451E-8B5C-689BFE8E6BAC}" type="datetimeFigureOut"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F3C4B-C80C-4473-8219-6406D30DD4CA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273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직원이 업무 지출 영수증을 웹에서 찍어 올리면 AI가 증빙 정보를 추출하고, 그동안 챗봇이 지출 목적·부서 등 빠진 정보를 묻습니다. 담당자는 정리된 증빙을 검토해 승인합니다.</a:t>
            </a:r>
          </a:p>
          <a:p>
            <a:r>
              <a:t>휴대폰 화면은 예시 화면입니다.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지금 담당자는 ① 영수증을 하나씩 보며 상호명·날짜·금액을 수기로 입력하고 ② 영수증에 없는 지출 목적·부서·프로젝트를 직원에게 다시 묻습니다.</a:t>
            </a:r>
          </a:p>
          <a:p>
            <a:r>
              <a:t>③ 금액 오입력과 필수 정보 누락으로 재확인·보완이 반복되고 ④ 이미지·정산 정보·검토 상태가 흩어져 건별 처리 상황을 파악하기 어렵습니다.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예시 화면입니다.</a:t>
            </a:r>
          </a:p>
          <a:p>
            <a:r>
              <a:t>직원이 사진을 올리면 AI 추출과 챗봇 질문이 동시에 시작하고, 추출이 끝나면 확인 화면에 결과를 반영합니다. AI가 읽지 못한 값은 '확인 필요'로 표시하고 재시도·재업로드·수동 입력을 지원합니다.</a:t>
            </a:r>
          </a:p>
          <a:p>
            <a:r>
              <a:t>Cognito 로그인으로 직원과 담당자를 구분합니다. 직원은 본인 증빙에만 접근하고 최종 승인은 담당자가 합니다. 상태: 작성 중 → 제출 → 승인 또는 보완 요청 → 수정·재제출.</a:t>
            </a:r>
          </a:p>
          <a:p>
            <a:r>
              <a:t>(Q&amp;A) 질문이 끝나기 전에 분석 완료를 보장하지는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4주 일정이라 Must 7개로 고정하고 자체 모델 학습은 뺐습니다. 기능을 지우기보다 구현 순서를 나눴습니다.</a:t>
            </a:r>
          </a:p>
          <a:p>
            <a:r>
              <a:t>촬영 가이드·원근 보정은 단계적으로 적용하고, 위치 표시·기기별 자동 처리 선택은 실험 후 적용 범위를 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① 브라우저(OpenCV.js)에서 모서리 검출·흐림·반사 검사·원근 보정을 하고, 서버(preprocess-service) 보정도 제공합니다.</a:t>
            </a:r>
          </a:p>
          <a:p>
            <a:r>
              <a:t>② 수 초 걸리는 AI 추출과 챗봇 질문을 동시에 진행합니다. 직원이 답하는 동안 추출을 진행하고 완료 후 결과를 반영합니다.</a:t>
            </a:r>
          </a:p>
          <a:p>
            <a:r>
              <a:t>③ 세 금액 항목이 모두 있을 때 공급가액 + 부가세 = 총액을 확인해 오류 가능성을 표시하고, 처리 단계별 시간을 기록해 품질을 숫자로 관리합니다.</a:t>
            </a:r>
          </a:p>
          <a:p>
            <a:r>
              <a:t>(Q&amp;A) 기기별 브라우저·서버 처리 선택은 성능 실험 후 결정하고, 정확도·비용 효과는 실측으로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직원이 촬영하면 보정 이미지가 presigned URL로 S3에 직접 올라가고, 같은 순간 chat-service가 질문을 시작합니다. S3 이벤트는 SQS에 쌓이고 ocr-worker가 Bedrock으로 추출·검산해 DynamoDB에 저장합니다. 추출이 끝나면 chat-service가 결과를 읽어 금액 불일치 같은 확인 질문을 이어 갑니다.</a:t>
            </a:r>
          </a:p>
          <a:p>
            <a:r>
              <a:t>분석 워커는 외부 AI 응답 대기 비중이 높아 SQS 큐 길이 기준(KEDA) 확장을 계획합니다. KEDA·Cluster Autoscaler는 기본 처리 연결 후 검증하고, 노드는 최대 3대로 제한합니다.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총 운영시간 420시간(약 17.5일)을 가정한 기준 예상비용이며, 10/19~11/13 상시 운영이 아닙니다.</a:t>
            </a:r>
          </a:p>
          <a:p>
            <a:r>
              <a:t>EKS·IPv4는 공식 단가, EC2·EBS·AI 등은 견적용 가정입니다. Bedrock $20은 사용량 예산(입력 1천만·출력 2백만 토큰)입니다. NAT Gateway·RDS는 쓰지 않습니다.</a:t>
            </a:r>
          </a:p>
          <a:p>
            <a:r>
              <a:t>26일 상시 운영하거나 ALB·IP가 남아 있으면 $200에 근접하거나 초과할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실제 개발은 10/19에 시작합니다. 10/16까지 기획안·발표 자료 준비, 10/17~18은 피드백 정리와 개발 착수 준비 기간입니다.</a:t>
            </a:r>
          </a:p>
          <a:p>
            <a:r>
              <a:t>10/23 최소 EKS 배포, 11/6 핵심 기능 통합, 11/13 오류 수정·시연 준비 완료가 목표입니다. 역할별 주간 업무는 기획서 개발 로드맵 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평가 목표는 모두 초기 목표이며 데모데이 전에 측정해 결과를 보고합니다. 평가셋은 소량 검증 후 최대 100장으로 늘리고, 검산 일치율과 추출 정확도는 따로 집계합니다.</a:t>
            </a:r>
          </a:p>
          <a:p>
            <a:r>
              <a:t>중간 리스크: 추출 정확도 미달(촬영 보정·프롬프트 개선·금액 검산·수정 UI), 챗봇 질문 번거로움(최대 3개·선택지 제시), Bedrock 모델 접근·리전(계정 제공 직후 확인), 영수증 속 개인정보(마스킹·S3 비공개·암호화·종강 후 삭제).</a:t>
            </a:r>
          </a:p>
          <a:p>
            <a:r>
              <a:t>EKS 설정이 늦어져도 다른 플랫폼으로 전환하지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ver Text"/>
          <p:cNvGrpSpPr/>
          <p:nvPr/>
        </p:nvGrpSpPr>
        <p:grpSpPr>
          <a:xfrm>
            <a:off x="1016000" y="1587500"/>
            <a:ext cx="3613150" cy="3657600"/>
            <a:chOff x="1016000" y="1587500"/>
            <a:chExt cx="3613150" cy="3657600"/>
          </a:xfrm>
        </p:grpSpPr>
        <p:sp>
          <p:nvSpPr>
            <p:cNvPr id="3" name="Kicker"/>
            <p:cNvSpPr txBox="1"/>
            <p:nvPr/>
          </p:nvSpPr>
          <p:spPr>
            <a:xfrm>
              <a:off x="1016000" y="1587500"/>
              <a:ext cx="1835150" cy="3048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</a:pPr>
              <a:r>
                <a:rPr lang="ko-KR" altLang="en-US" sz="2000" b="0" spc="-40">
                  <a:solidFill>
                    <a:srgbClr val="333333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촬영부터 검수까지,</a:t>
              </a:r>
            </a:p>
          </p:txBody>
        </p:sp>
        <p:sp>
          <p:nvSpPr>
            <p:cNvPr id="4" name="Title"/>
            <p:cNvSpPr txBox="1"/>
            <p:nvPr/>
          </p:nvSpPr>
          <p:spPr>
            <a:xfrm>
              <a:off x="1016000" y="2070100"/>
              <a:ext cx="3613150" cy="1752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6900"/>
                </a:lnSpc>
                <a:spcBef>
                  <a:spcPts val="0"/>
                </a:spcBef>
              </a:pPr>
              <a:r>
                <a:rPr lang="ko-KR" altLang="en-US" sz="6400" b="0" spc="-128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영수증 증빙</a:t>
              </a:r>
            </a:p>
            <a:p>
              <a:pPr algn="l">
                <a:lnSpc>
                  <a:spcPts val="6900"/>
                </a:lnSpc>
                <a:spcBef>
                  <a:spcPts val="0"/>
                </a:spcBef>
              </a:pPr>
              <a:r>
                <a:rPr lang="ko-KR" altLang="en-US" sz="6400" b="0" spc="-128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검수 서비스</a:t>
              </a:r>
            </a:p>
          </p:txBody>
        </p:sp>
        <p:sp>
          <p:nvSpPr>
            <p:cNvPr id="5" name="Team Name"/>
            <p:cNvSpPr txBox="1"/>
            <p:nvPr/>
          </p:nvSpPr>
          <p:spPr>
            <a:xfrm>
              <a:off x="1016000" y="4457700"/>
              <a:ext cx="304800" cy="241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900"/>
                </a:lnSpc>
                <a:spcBef>
                  <a:spcPts val="0"/>
                </a:spcBef>
              </a:pPr>
              <a:r>
                <a:rPr lang="ko-KR" altLang="en-US" sz="16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4팀</a:t>
              </a:r>
            </a:p>
          </p:txBody>
        </p:sp>
        <p:sp>
          <p:nvSpPr>
            <p:cNvPr id="6" name="Members"/>
            <p:cNvSpPr txBox="1"/>
            <p:nvPr/>
          </p:nvSpPr>
          <p:spPr>
            <a:xfrm>
              <a:off x="1016000" y="4775200"/>
              <a:ext cx="2209800" cy="2095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650"/>
                </a:lnSpc>
                <a:spcBef>
                  <a:spcPts val="0"/>
                </a:spcBef>
              </a:pPr>
              <a:r>
                <a:rPr lang="ko-KR" altLang="en-US" sz="1400" b="0" spc="-15">
                  <a:solidFill>
                    <a:srgbClr val="333333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장차희   김태희   김수빈   박준영</a:t>
              </a:r>
            </a:p>
          </p:txBody>
        </p:sp>
        <p:sp>
          <p:nvSpPr>
            <p:cNvPr id="7" name="Date"/>
            <p:cNvSpPr txBox="1"/>
            <p:nvPr/>
          </p:nvSpPr>
          <p:spPr>
            <a:xfrm>
              <a:off x="1016000" y="5060950"/>
              <a:ext cx="70485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2026.10.16</a:t>
              </a:r>
            </a:p>
          </p:txBody>
        </p:sp>
      </p:grpSp>
      <p:grpSp>
        <p:nvGrpSpPr>
          <p:cNvPr id="8" name="Phone"/>
          <p:cNvGrpSpPr/>
          <p:nvPr/>
        </p:nvGrpSpPr>
        <p:grpSpPr>
          <a:xfrm rot="420000">
            <a:off x="7578344" y="1045718"/>
            <a:ext cx="2921000" cy="5715000"/>
            <a:chOff x="7578344" y="1045718"/>
            <a:chExt cx="2921000" cy="5715000"/>
          </a:xfrm>
        </p:grpSpPr>
        <p:sp>
          <p:nvSpPr>
            <p:cNvPr id="9" name="Phone"/>
            <p:cNvSpPr/>
            <p:nvPr/>
          </p:nvSpPr>
          <p:spPr>
            <a:xfrm>
              <a:off x="7578344" y="1045718"/>
              <a:ext cx="2921000" cy="5715000"/>
            </a:xfrm>
            <a:prstGeom prst="roundRect">
              <a:avLst>
                <a:gd name="adj" fmla="val 14347"/>
              </a:avLst>
            </a:prstGeom>
            <a:solidFill>
              <a:srgbClr val="1D1D1F"/>
            </a:solidFill>
            <a:ln>
              <a:noFill/>
            </a:ln>
            <a:effectLst>
              <a:outerShdw blurRad="508000" dist="170388" dir="3806097" algn="ctr" rotWithShape="0">
                <a:srgbClr val="000000">
                  <a:alpha val="21961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0" name="Screen"/>
            <p:cNvGrpSpPr/>
            <p:nvPr/>
          </p:nvGrpSpPr>
          <p:grpSpPr>
            <a:xfrm>
              <a:off x="7667244" y="1134618"/>
              <a:ext cx="2743200" cy="5537200"/>
              <a:chOff x="7667244" y="1134618"/>
              <a:chExt cx="2743200" cy="5537200"/>
            </a:xfrm>
          </p:grpSpPr>
          <p:sp>
            <p:nvSpPr>
              <p:cNvPr id="11" name="Screen"/>
              <p:cNvSpPr/>
              <p:nvPr/>
            </p:nvSpPr>
            <p:spPr>
              <a:xfrm>
                <a:off x="7667244" y="1134618"/>
                <a:ext cx="2743200" cy="5537200"/>
              </a:xfrm>
              <a:prstGeom prst="roundRect">
                <a:avLst>
                  <a:gd name="adj" fmla="val 12037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Screen Title"/>
              <p:cNvSpPr txBox="1"/>
              <p:nvPr/>
            </p:nvSpPr>
            <p:spPr>
              <a:xfrm>
                <a:off x="7819644" y="1541018"/>
                <a:ext cx="53340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800"/>
                  </a:lnSpc>
                  <a:spcBef>
                    <a:spcPts val="0"/>
                  </a:spcBef>
                </a:pPr>
                <a:r>
                  <a:rPr lang="ko-KR" altLang="en-US" sz="1500" b="0" spc="-15">
                    <a:solidFill>
                      <a:srgbClr val="1D1D1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새 증빙</a:t>
                </a:r>
              </a:p>
            </p:txBody>
          </p:sp>
          <p:grpSp>
            <p:nvGrpSpPr>
              <p:cNvPr id="13" name="Receipt Photo"/>
              <p:cNvGrpSpPr/>
              <p:nvPr/>
            </p:nvGrpSpPr>
            <p:grpSpPr>
              <a:xfrm>
                <a:off x="7819644" y="1909318"/>
                <a:ext cx="2438400" cy="1905000"/>
                <a:chOff x="7819644" y="1909318"/>
                <a:chExt cx="2438400" cy="1905000"/>
              </a:xfrm>
            </p:grpSpPr>
            <p:pic>
              <p:nvPicPr>
                <p:cNvPr id="14" name="Receipt Photo" descr="receipt-example.png"/>
                <p:cNvPicPr>
                  <a:picLocks noChangeAspect="1"/>
                </p:cNvPicPr>
                <p:nvPr/>
              </p:nvPicPr>
              <p:blipFill>
                <a:blip r:embed="rId3"/>
                <a:srcRect l="2000" r="2000"/>
                <a:stretch>
                  <a:fillRect/>
                </a:stretch>
              </p:blipFill>
              <p:spPr>
                <a:xfrm>
                  <a:off x="7819644" y="1909318"/>
                  <a:ext cx="2438400" cy="1905000"/>
                </a:xfrm>
                <a:prstGeom prst="roundRect">
                  <a:avLst>
                    <a:gd name="adj" fmla="val 6000"/>
                  </a:avLst>
                </a:prstGeom>
              </p:spPr>
            </p:pic>
            <p:grpSp>
              <p:nvGrpSpPr>
                <p:cNvPr id="15" name="Analyzing Pill"/>
                <p:cNvGrpSpPr/>
                <p:nvPr/>
              </p:nvGrpSpPr>
              <p:grpSpPr>
                <a:xfrm>
                  <a:off x="7921244" y="3477768"/>
                  <a:ext cx="793750" cy="234950"/>
                  <a:chOff x="7921244" y="3477768"/>
                  <a:chExt cx="793750" cy="234950"/>
                </a:xfrm>
              </p:grpSpPr>
              <p:sp>
                <p:nvSpPr>
                  <p:cNvPr id="16" name="Analyzing Pill"/>
                  <p:cNvSpPr/>
                  <p:nvPr/>
                </p:nvSpPr>
                <p:spPr>
                  <a:xfrm>
                    <a:off x="7921244" y="3477768"/>
                    <a:ext cx="793750" cy="2349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7" name="Loader"/>
                  <p:cNvSpPr/>
                  <p:nvPr/>
                </p:nvSpPr>
                <p:spPr>
                  <a:xfrm>
                    <a:off x="8010144" y="3538093"/>
                    <a:ext cx="114300" cy="114300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4000" h="24000" fill="none">
                        <a:moveTo>
                          <a:pt x="12000" y="2000"/>
                        </a:moveTo>
                        <a:lnTo>
                          <a:pt x="12000" y="6000"/>
                        </a:lnTo>
                      </a:path>
                      <a:path w="24000" h="24000" fill="none">
                        <a:moveTo>
                          <a:pt x="16200" y="7800"/>
                        </a:moveTo>
                        <a:lnTo>
                          <a:pt x="19100" y="4900"/>
                        </a:lnTo>
                      </a:path>
                      <a:path w="24000" h="24000" fill="none">
                        <a:moveTo>
                          <a:pt x="18000" y="12000"/>
                        </a:moveTo>
                        <a:lnTo>
                          <a:pt x="22000" y="12000"/>
                        </a:lnTo>
                      </a:path>
                      <a:path w="24000" h="24000" fill="none">
                        <a:moveTo>
                          <a:pt x="16200" y="16200"/>
                        </a:moveTo>
                        <a:lnTo>
                          <a:pt x="19100" y="19100"/>
                        </a:lnTo>
                      </a:path>
                      <a:path w="24000" h="24000" fill="none">
                        <a:moveTo>
                          <a:pt x="12000" y="18000"/>
                        </a:moveTo>
                        <a:lnTo>
                          <a:pt x="12000" y="22000"/>
                        </a:lnTo>
                      </a:path>
                      <a:path w="24000" h="24000" fill="none">
                        <a:moveTo>
                          <a:pt x="4900" y="19100"/>
                        </a:moveTo>
                        <a:lnTo>
                          <a:pt x="7800" y="16200"/>
                        </a:lnTo>
                      </a:path>
                      <a:path w="24000" h="24000" fill="none">
                        <a:moveTo>
                          <a:pt x="2000" y="12000"/>
                        </a:moveTo>
                        <a:lnTo>
                          <a:pt x="6000" y="12000"/>
                        </a:lnTo>
                      </a:path>
                      <a:path w="24000" h="24000" fill="none">
                        <a:moveTo>
                          <a:pt x="4900" y="4900"/>
                        </a:moveTo>
                        <a:lnTo>
                          <a:pt x="7800" y="7800"/>
                        </a:lnTo>
                      </a:path>
                    </a:pathLst>
                  </a:custGeom>
                  <a:noFill/>
                  <a:ln w="9525" cap="rnd">
                    <a:solidFill>
                      <a:srgbClr val="0066CC"/>
                    </a:solidFill>
                    <a:round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8" name="Analyzing"/>
                  <p:cNvSpPr txBox="1"/>
                  <p:nvPr/>
                </p:nvSpPr>
                <p:spPr>
                  <a:xfrm>
                    <a:off x="8175244" y="3528568"/>
                    <a:ext cx="450850" cy="13335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r">
                      <a:lnSpc>
                        <a:spcPts val="1050"/>
                      </a:lnSpc>
                      <a:spcBef>
                        <a:spcPts val="0"/>
                      </a:spcBef>
                    </a:pPr>
                    <a:r>
                      <a:rPr lang="ko-KR" altLang="en-US" sz="900" b="0" spc="-15">
                        <a:solidFill>
                          <a:srgbClr val="0066CC"/>
                        </a:solidFill>
                        <a:latin typeface="Pretendard SemiBold" pitchFamily="50" charset="-127"/>
                        <a:ea typeface="Pretendard SemiBold" pitchFamily="50" charset="-127"/>
                        <a:cs typeface="Pretendard SemiBold" pitchFamily="50" charset="-127"/>
                      </a:rPr>
                      <a:t>AI 분석 중</a:t>
                    </a:r>
                  </a:p>
                </p:txBody>
              </p:sp>
            </p:grpSp>
          </p:grpSp>
          <p:grpSp>
            <p:nvGrpSpPr>
              <p:cNvPr id="19" name="Bubble Bot"/>
              <p:cNvGrpSpPr/>
              <p:nvPr/>
            </p:nvGrpSpPr>
            <p:grpSpPr>
              <a:xfrm>
                <a:off x="7819644" y="3954018"/>
                <a:ext cx="1822450" cy="342900"/>
                <a:chOff x="7819644" y="3954018"/>
                <a:chExt cx="1822450" cy="342900"/>
              </a:xfrm>
            </p:grpSpPr>
            <p:sp>
              <p:nvSpPr>
                <p:cNvPr id="20" name="Bubble Bot"/>
                <p:cNvSpPr/>
                <p:nvPr/>
              </p:nvSpPr>
              <p:spPr>
                <a:xfrm>
                  <a:off x="7819644" y="3954018"/>
                  <a:ext cx="1822450" cy="342900"/>
                </a:xfrm>
                <a:prstGeom prst="roundRect">
                  <a:avLst>
                    <a:gd name="adj" fmla="val 40740"/>
                  </a:avLst>
                </a:prstGeom>
                <a:solidFill>
                  <a:srgbClr val="F5F5F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" name="Text"/>
                <p:cNvSpPr txBox="1"/>
                <p:nvPr/>
              </p:nvSpPr>
              <p:spPr>
                <a:xfrm>
                  <a:off x="7933944" y="4042918"/>
                  <a:ext cx="159385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1D1D1F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이 지출의 목적을 알려 주세요.</a:t>
                  </a:r>
                </a:p>
              </p:txBody>
            </p:sp>
          </p:grpSp>
          <p:grpSp>
            <p:nvGrpSpPr>
              <p:cNvPr id="22" name="Bubble Me"/>
              <p:cNvGrpSpPr/>
              <p:nvPr/>
            </p:nvGrpSpPr>
            <p:grpSpPr>
              <a:xfrm>
                <a:off x="9095994" y="4385818"/>
                <a:ext cx="1162050" cy="342900"/>
                <a:chOff x="9095994" y="4385818"/>
                <a:chExt cx="1162050" cy="342900"/>
              </a:xfrm>
            </p:grpSpPr>
            <p:sp>
              <p:nvSpPr>
                <p:cNvPr id="23" name="Bubble Me"/>
                <p:cNvSpPr/>
                <p:nvPr/>
              </p:nvSpPr>
              <p:spPr>
                <a:xfrm>
                  <a:off x="9095994" y="4385818"/>
                  <a:ext cx="1162050" cy="342900"/>
                </a:xfrm>
                <a:prstGeom prst="roundRect">
                  <a:avLst>
                    <a:gd name="adj" fmla="val 40740"/>
                  </a:avLst>
                </a:prstGeom>
                <a:solidFill>
                  <a:srgbClr val="0066CC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" name="Text"/>
                <p:cNvSpPr txBox="1"/>
                <p:nvPr/>
              </p:nvSpPr>
              <p:spPr>
                <a:xfrm>
                  <a:off x="9210294" y="4474718"/>
                  <a:ext cx="93345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FFFFFF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팀 주간 회의 다과</a:t>
                  </a:r>
                </a:p>
              </p:txBody>
            </p:sp>
          </p:grpSp>
          <p:grpSp>
            <p:nvGrpSpPr>
              <p:cNvPr id="25" name="Bubble Bot"/>
              <p:cNvGrpSpPr/>
              <p:nvPr/>
            </p:nvGrpSpPr>
            <p:grpSpPr>
              <a:xfrm>
                <a:off x="7819644" y="4817618"/>
                <a:ext cx="1435100" cy="342900"/>
                <a:chOff x="7819644" y="4817618"/>
                <a:chExt cx="1435100" cy="342900"/>
              </a:xfrm>
            </p:grpSpPr>
            <p:sp>
              <p:nvSpPr>
                <p:cNvPr id="26" name="Bubble Bot"/>
                <p:cNvSpPr/>
                <p:nvPr/>
              </p:nvSpPr>
              <p:spPr>
                <a:xfrm>
                  <a:off x="7819644" y="4817618"/>
                  <a:ext cx="1435100" cy="342900"/>
                </a:xfrm>
                <a:prstGeom prst="roundRect">
                  <a:avLst>
                    <a:gd name="adj" fmla="val 40740"/>
                  </a:avLst>
                </a:prstGeom>
                <a:solidFill>
                  <a:srgbClr val="F5F5F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" name="Text"/>
                <p:cNvSpPr txBox="1"/>
                <p:nvPr/>
              </p:nvSpPr>
              <p:spPr>
                <a:xfrm>
                  <a:off x="7933944" y="4906518"/>
                  <a:ext cx="120650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1D1D1F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어느 부서 비용인가요?</a:t>
                  </a:r>
                </a:p>
              </p:txBody>
            </p:sp>
          </p:grpSp>
          <p:grpSp>
            <p:nvGrpSpPr>
              <p:cNvPr id="28" name="Chip 개발팀"/>
              <p:cNvGrpSpPr/>
              <p:nvPr/>
            </p:nvGrpSpPr>
            <p:grpSpPr>
              <a:xfrm>
                <a:off x="7824406" y="5254180"/>
                <a:ext cx="517525" cy="244475"/>
                <a:chOff x="7824406" y="5254180"/>
                <a:chExt cx="517525" cy="244475"/>
              </a:xfrm>
            </p:grpSpPr>
            <p:sp>
              <p:nvSpPr>
                <p:cNvPr id="29" name="Chip 개발팀"/>
                <p:cNvSpPr/>
                <p:nvPr/>
              </p:nvSpPr>
              <p:spPr>
                <a:xfrm>
                  <a:off x="7824406" y="5254180"/>
                  <a:ext cx="517525" cy="244475"/>
                </a:xfrm>
                <a:prstGeom prst="roundRect">
                  <a:avLst>
                    <a:gd name="adj" fmla="val 50000"/>
                  </a:avLst>
                </a:prstGeom>
                <a:noFill/>
                <a:ln w="9525">
                  <a:solidFill>
                    <a:srgbClr val="0066CC"/>
                  </a:solidFill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0" name="Label"/>
                <p:cNvSpPr txBox="1"/>
                <p:nvPr/>
              </p:nvSpPr>
              <p:spPr>
                <a:xfrm>
                  <a:off x="7921244" y="5300218"/>
                  <a:ext cx="323850" cy="1524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200"/>
                    </a:lnSpc>
                    <a:spcBef>
                      <a:spcPts val="0"/>
                    </a:spcBef>
                  </a:pPr>
                  <a:r>
                    <a:rPr lang="ko-KR" altLang="en-US" sz="1000" b="0" spc="-15">
                      <a:solidFill>
                        <a:srgbClr val="0066CC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개발팀</a:t>
                  </a:r>
                </a:p>
              </p:txBody>
            </p:sp>
          </p:grpSp>
          <p:grpSp>
            <p:nvGrpSpPr>
              <p:cNvPr id="31" name="Chip 기획팀"/>
              <p:cNvGrpSpPr/>
              <p:nvPr/>
            </p:nvGrpSpPr>
            <p:grpSpPr>
              <a:xfrm>
                <a:off x="8402256" y="5254180"/>
                <a:ext cx="517525" cy="244475"/>
                <a:chOff x="8402256" y="5254180"/>
                <a:chExt cx="517525" cy="244475"/>
              </a:xfrm>
            </p:grpSpPr>
            <p:sp>
              <p:nvSpPr>
                <p:cNvPr id="32" name="Chip 기획팀"/>
                <p:cNvSpPr/>
                <p:nvPr/>
              </p:nvSpPr>
              <p:spPr>
                <a:xfrm>
                  <a:off x="8402256" y="5254180"/>
                  <a:ext cx="517525" cy="244475"/>
                </a:xfrm>
                <a:prstGeom prst="roundRect">
                  <a:avLst>
                    <a:gd name="adj" fmla="val 50000"/>
                  </a:avLst>
                </a:prstGeom>
                <a:noFill/>
                <a:ln w="9525">
                  <a:solidFill>
                    <a:srgbClr val="0066CC"/>
                  </a:solidFill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" name="Label"/>
                <p:cNvSpPr txBox="1"/>
                <p:nvPr/>
              </p:nvSpPr>
              <p:spPr>
                <a:xfrm>
                  <a:off x="8499094" y="5300218"/>
                  <a:ext cx="323850" cy="1524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200"/>
                    </a:lnSpc>
                    <a:spcBef>
                      <a:spcPts val="0"/>
                    </a:spcBef>
                  </a:pPr>
                  <a:r>
                    <a:rPr lang="ko-KR" altLang="en-US" sz="1000" b="0" spc="-15">
                      <a:solidFill>
                        <a:srgbClr val="0066CC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기획팀</a:t>
                  </a:r>
                </a:p>
              </p:txBody>
            </p:sp>
          </p:grpSp>
          <p:grpSp>
            <p:nvGrpSpPr>
              <p:cNvPr id="34" name="Chip 직접 입력"/>
              <p:cNvGrpSpPr/>
              <p:nvPr/>
            </p:nvGrpSpPr>
            <p:grpSpPr>
              <a:xfrm>
                <a:off x="8980106" y="5254180"/>
                <a:ext cx="657225" cy="244475"/>
                <a:chOff x="8980106" y="5254180"/>
                <a:chExt cx="657225" cy="244475"/>
              </a:xfrm>
            </p:grpSpPr>
            <p:sp>
              <p:nvSpPr>
                <p:cNvPr id="35" name="Chip 직접 입력"/>
                <p:cNvSpPr/>
                <p:nvPr/>
              </p:nvSpPr>
              <p:spPr>
                <a:xfrm>
                  <a:off x="8980106" y="5254180"/>
                  <a:ext cx="657225" cy="244475"/>
                </a:xfrm>
                <a:prstGeom prst="roundRect">
                  <a:avLst>
                    <a:gd name="adj" fmla="val 50000"/>
                  </a:avLst>
                </a:prstGeom>
                <a:noFill/>
                <a:ln w="9525">
                  <a:solidFill>
                    <a:srgbClr val="0066CC"/>
                  </a:solidFill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" name="Label"/>
                <p:cNvSpPr txBox="1"/>
                <p:nvPr/>
              </p:nvSpPr>
              <p:spPr>
                <a:xfrm>
                  <a:off x="9076944" y="5300218"/>
                  <a:ext cx="463550" cy="1524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200"/>
                    </a:lnSpc>
                    <a:spcBef>
                      <a:spcPts val="0"/>
                    </a:spcBef>
                  </a:pPr>
                  <a:r>
                    <a:rPr lang="ko-KR" altLang="en-US" sz="1000" b="0" spc="-15">
                      <a:solidFill>
                        <a:srgbClr val="0066CC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직접 입력</a:t>
                  </a:r>
                </a:p>
              </p:txBody>
            </p:sp>
          </p:grpSp>
          <p:grpSp>
            <p:nvGrpSpPr>
              <p:cNvPr id="37" name="Input Bar"/>
              <p:cNvGrpSpPr/>
              <p:nvPr/>
            </p:nvGrpSpPr>
            <p:grpSpPr>
              <a:xfrm>
                <a:off x="7819644" y="6113018"/>
                <a:ext cx="2438400" cy="381000"/>
                <a:chOff x="7819644" y="6113018"/>
                <a:chExt cx="2438400" cy="381000"/>
              </a:xfrm>
            </p:grpSpPr>
            <p:sp>
              <p:nvSpPr>
                <p:cNvPr id="38" name="Input Bar"/>
                <p:cNvSpPr/>
                <p:nvPr/>
              </p:nvSpPr>
              <p:spPr>
                <a:xfrm>
                  <a:off x="7819644" y="6113018"/>
                  <a:ext cx="2438400" cy="381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5F5F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" name="Placeholder"/>
                <p:cNvSpPr txBox="1"/>
                <p:nvPr/>
              </p:nvSpPr>
              <p:spPr>
                <a:xfrm>
                  <a:off x="7959344" y="6227318"/>
                  <a:ext cx="571500" cy="1524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1200"/>
                    </a:lnSpc>
                    <a:spcBef>
                      <a:spcPts val="0"/>
                    </a:spcBef>
                  </a:pPr>
                  <a:r>
                    <a:rPr lang="ko-KR" altLang="en-US" sz="1000" b="0" spc="-15">
                      <a:solidFill>
                        <a:srgbClr val="7A7A7A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메시지 입력</a:t>
                  </a:r>
                </a:p>
              </p:txBody>
            </p:sp>
            <p:grpSp>
              <p:nvGrpSpPr>
                <p:cNvPr id="40" name="Send"/>
                <p:cNvGrpSpPr/>
                <p:nvPr/>
              </p:nvGrpSpPr>
              <p:grpSpPr>
                <a:xfrm>
                  <a:off x="9940544" y="6176518"/>
                  <a:ext cx="254000" cy="254000"/>
                  <a:chOff x="9940544" y="6176518"/>
                  <a:chExt cx="254000" cy="254000"/>
                </a:xfrm>
              </p:grpSpPr>
              <p:sp>
                <p:nvSpPr>
                  <p:cNvPr id="41" name="Send"/>
                  <p:cNvSpPr/>
                  <p:nvPr/>
                </p:nvSpPr>
                <p:spPr>
                  <a:xfrm>
                    <a:off x="9940544" y="6176518"/>
                    <a:ext cx="254000" cy="254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66CC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2" name="Arrow Up"/>
                  <p:cNvSpPr/>
                  <p:nvPr/>
                </p:nvSpPr>
                <p:spPr>
                  <a:xfrm>
                    <a:off x="10004044" y="6240018"/>
                    <a:ext cx="127000" cy="127000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4000" h="24000" fill="none">
                        <a:moveTo>
                          <a:pt x="5000" y="12000"/>
                        </a:moveTo>
                        <a:lnTo>
                          <a:pt x="12000" y="5000"/>
                        </a:lnTo>
                        <a:lnTo>
                          <a:pt x="19000" y="12000"/>
                        </a:lnTo>
                      </a:path>
                      <a:path w="24000" h="24000" fill="none">
                        <a:moveTo>
                          <a:pt x="12000" y="19000"/>
                        </a:moveTo>
                        <a:lnTo>
                          <a:pt x="12000" y="5000"/>
                        </a:lnTo>
                      </a:path>
                    </a:pathLst>
                  </a:custGeom>
                  <a:noFill/>
                  <a:ln w="10583" cap="rnd">
                    <a:solidFill>
                      <a:srgbClr val="FFFFFF"/>
                    </a:solidFill>
                    <a:round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ection Nav"/>
          <p:cNvGrpSpPr/>
          <p:nvPr/>
        </p:nvGrpSpPr>
        <p:grpSpPr>
          <a:xfrm>
            <a:off x="0" y="0"/>
            <a:ext cx="12192000" cy="406400"/>
            <a:chOff x="0" y="0"/>
            <a:chExt cx="12192000" cy="406400"/>
          </a:xfrm>
        </p:grpSpPr>
        <p:sp>
          <p:nvSpPr>
            <p:cNvPr id="3" name="Section Nav"/>
            <p:cNvSpPr/>
            <p:nvPr/>
          </p:nvSpPr>
          <p:spPr>
            <a:xfrm>
              <a:off x="0" y="0"/>
              <a:ext cx="121920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Progress Bar"/>
            <p:cNvSpPr/>
            <p:nvPr/>
          </p:nvSpPr>
          <p:spPr>
            <a:xfrm>
              <a:off x="0" y="0"/>
              <a:ext cx="1352550" cy="381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ab 기획 배경"/>
            <p:cNvSpPr txBox="1"/>
            <p:nvPr/>
          </p:nvSpPr>
          <p:spPr>
            <a:xfrm>
              <a:off x="635000" y="241300"/>
              <a:ext cx="5080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기획 배경</a:t>
              </a:r>
            </a:p>
          </p:txBody>
        </p:sp>
        <p:sp>
          <p:nvSpPr>
            <p:cNvPr id="6" name="Tab 서비스"/>
            <p:cNvSpPr txBox="1"/>
            <p:nvPr/>
          </p:nvSpPr>
          <p:spPr>
            <a:xfrm>
              <a:off x="2487104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서비스</a:t>
              </a:r>
            </a:p>
          </p:txBody>
        </p:sp>
        <p:sp>
          <p:nvSpPr>
            <p:cNvPr id="7" name="Tab 차별점"/>
            <p:cNvSpPr txBox="1"/>
            <p:nvPr/>
          </p:nvSpPr>
          <p:spPr>
            <a:xfrm>
              <a:off x="4193096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차별점</a:t>
              </a:r>
            </a:p>
          </p:txBody>
        </p:sp>
        <p:sp>
          <p:nvSpPr>
            <p:cNvPr id="8" name="Tab 아키텍처"/>
            <p:cNvSpPr txBox="1"/>
            <p:nvPr/>
          </p:nvSpPr>
          <p:spPr>
            <a:xfrm>
              <a:off x="5899150" y="241300"/>
              <a:ext cx="4762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아키텍처</a:t>
              </a:r>
            </a:p>
          </p:txBody>
        </p:sp>
        <p:sp>
          <p:nvSpPr>
            <p:cNvPr id="9" name="Tab 예산"/>
            <p:cNvSpPr txBox="1"/>
            <p:nvPr/>
          </p:nvSpPr>
          <p:spPr>
            <a:xfrm>
              <a:off x="7719504" y="241300"/>
              <a:ext cx="2413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예산</a:t>
              </a:r>
            </a:p>
          </p:txBody>
        </p:sp>
        <p:sp>
          <p:nvSpPr>
            <p:cNvPr id="10" name="Tab 추진 계획"/>
            <p:cNvSpPr txBox="1"/>
            <p:nvPr/>
          </p:nvSpPr>
          <p:spPr>
            <a:xfrm>
              <a:off x="9304846" y="241300"/>
              <a:ext cx="5143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추진 계획</a:t>
              </a:r>
            </a:p>
          </p:txBody>
        </p:sp>
        <p:sp>
          <p:nvSpPr>
            <p:cNvPr id="11" name="Tab 팀 소개"/>
            <p:cNvSpPr txBox="1"/>
            <p:nvPr/>
          </p:nvSpPr>
          <p:spPr>
            <a:xfrm>
              <a:off x="11163300" y="241300"/>
              <a:ext cx="3937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팀 소개</a:t>
              </a:r>
            </a:p>
          </p:txBody>
        </p:sp>
      </p:grpSp>
      <p:pic>
        <p:nvPicPr>
          <p:cNvPr id="12" name="Receipt" descr="receipt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825500"/>
            <a:ext cx="2667000" cy="4445000"/>
          </a:xfrm>
          <a:prstGeom prst="rect">
            <a:avLst/>
          </a:prstGeom>
        </p:spPr>
      </p:pic>
      <p:grpSp>
        <p:nvGrpSpPr>
          <p:cNvPr id="13" name="Col 옮겨 적기"/>
          <p:cNvGrpSpPr/>
          <p:nvPr/>
        </p:nvGrpSpPr>
        <p:grpSpPr>
          <a:xfrm>
            <a:off x="635000" y="1841500"/>
            <a:ext cx="2917825" cy="1927225"/>
            <a:chOff x="635000" y="1841500"/>
            <a:chExt cx="2917825" cy="1927225"/>
          </a:xfrm>
        </p:grpSpPr>
        <p:sp>
          <p:nvSpPr>
            <p:cNvPr id="14" name="Heading"/>
            <p:cNvSpPr txBox="1"/>
            <p:nvPr/>
          </p:nvSpPr>
          <p:spPr>
            <a:xfrm>
              <a:off x="635000" y="1841500"/>
              <a:ext cx="1098550" cy="3619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2850"/>
                </a:lnSpc>
                <a:spcBef>
                  <a:spcPts val="0"/>
                </a:spcBef>
              </a:pPr>
              <a:r>
                <a:rPr lang="ko-KR" altLang="en-US" sz="2400" b="0" spc="-48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옮겨 적기</a:t>
              </a:r>
            </a:p>
          </p:txBody>
        </p:sp>
        <p:grpSp>
          <p:nvGrpSpPr>
            <p:cNvPr id="15" name="Input Form"/>
            <p:cNvGrpSpPr/>
            <p:nvPr/>
          </p:nvGrpSpPr>
          <p:grpSpPr>
            <a:xfrm>
              <a:off x="638175" y="2384425"/>
              <a:ext cx="2914650" cy="1384300"/>
              <a:chOff x="638175" y="2384425"/>
              <a:chExt cx="2914650" cy="1384300"/>
            </a:xfrm>
          </p:grpSpPr>
          <p:sp>
            <p:nvSpPr>
              <p:cNvPr id="16" name="Input Form"/>
              <p:cNvSpPr/>
              <p:nvPr/>
            </p:nvSpPr>
            <p:spPr>
              <a:xfrm>
                <a:off x="638175" y="2384425"/>
                <a:ext cx="2914650" cy="1384300"/>
              </a:xfrm>
              <a:prstGeom prst="roundRect">
                <a:avLst>
                  <a:gd name="adj" fmla="val 8256"/>
                </a:avLst>
              </a:prstGeom>
              <a:solidFill>
                <a:srgbClr val="FFFFFF"/>
              </a:solidFill>
              <a:ln w="6350">
                <a:solidFill>
                  <a:srgbClr val="E0E0E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17" name="Row 상호명"/>
              <p:cNvGrpSpPr/>
              <p:nvPr/>
            </p:nvGrpSpPr>
            <p:grpSpPr>
              <a:xfrm>
                <a:off x="812800" y="2571750"/>
                <a:ext cx="2565400" cy="298450"/>
                <a:chOff x="812800" y="2571750"/>
                <a:chExt cx="2565400" cy="298450"/>
              </a:xfrm>
            </p:grpSpPr>
            <p:sp>
              <p:nvSpPr>
                <p:cNvPr id="18" name="Row 상호명 테두리"/>
                <p:cNvSpPr/>
                <p:nvPr/>
              </p:nvSpPr>
              <p:spPr>
                <a:xfrm>
                  <a:off x="812800" y="2863850"/>
                  <a:ext cx="2565400" cy="6350"/>
                </a:xfrm>
                <a:prstGeom prst="rect">
                  <a:avLst/>
                </a:prstGeom>
                <a:solidFill>
                  <a:srgbClr val="F0F0F0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9" name="Key"/>
                <p:cNvSpPr txBox="1"/>
                <p:nvPr/>
              </p:nvSpPr>
              <p:spPr>
                <a:xfrm>
                  <a:off x="812800" y="2571750"/>
                  <a:ext cx="393700" cy="1841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1450"/>
                    </a:lnSpc>
                    <a:spcBef>
                      <a:spcPts val="0"/>
                    </a:spcBef>
                  </a:pPr>
                  <a:r>
                    <a:rPr lang="ko-KR" altLang="en-US" sz="1200" b="0" spc="-15">
                      <a:solidFill>
                        <a:srgbClr val="7A7A7A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상호명</a:t>
                  </a:r>
                </a:p>
              </p:txBody>
            </p:sp>
            <p:sp>
              <p:nvSpPr>
                <p:cNvPr id="20" name="Text"/>
                <p:cNvSpPr txBox="1"/>
                <p:nvPr/>
              </p:nvSpPr>
              <p:spPr>
                <a:xfrm>
                  <a:off x="2857500" y="2571750"/>
                  <a:ext cx="520700" cy="1841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1450"/>
                    </a:lnSpc>
                    <a:spcBef>
                      <a:spcPts val="0"/>
                    </a:spcBef>
                  </a:pPr>
                  <a:r>
                    <a:rPr lang="ko-KR" altLang="en-US" sz="1200" b="0" spc="-15">
                      <a:solidFill>
                        <a:srgbClr val="1D1D1F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가온식당</a:t>
                  </a:r>
                </a:p>
              </p:txBody>
            </p:sp>
          </p:grpSp>
          <p:grpSp>
            <p:nvGrpSpPr>
              <p:cNvPr id="21" name="Row 거래일"/>
              <p:cNvGrpSpPr/>
              <p:nvPr/>
            </p:nvGrpSpPr>
            <p:grpSpPr>
              <a:xfrm>
                <a:off x="812800" y="2984500"/>
                <a:ext cx="2565400" cy="298450"/>
                <a:chOff x="812800" y="2984500"/>
                <a:chExt cx="2565400" cy="298450"/>
              </a:xfrm>
            </p:grpSpPr>
            <p:sp>
              <p:nvSpPr>
                <p:cNvPr id="22" name="Row 거래일 테두리"/>
                <p:cNvSpPr/>
                <p:nvPr/>
              </p:nvSpPr>
              <p:spPr>
                <a:xfrm>
                  <a:off x="812800" y="3276600"/>
                  <a:ext cx="2565400" cy="6350"/>
                </a:xfrm>
                <a:prstGeom prst="rect">
                  <a:avLst/>
                </a:prstGeom>
                <a:solidFill>
                  <a:srgbClr val="F0F0F0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" name="Key"/>
                <p:cNvSpPr txBox="1"/>
                <p:nvPr/>
              </p:nvSpPr>
              <p:spPr>
                <a:xfrm>
                  <a:off x="812800" y="2984500"/>
                  <a:ext cx="393700" cy="1841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1450"/>
                    </a:lnSpc>
                    <a:spcBef>
                      <a:spcPts val="0"/>
                    </a:spcBef>
                  </a:pPr>
                  <a:r>
                    <a:rPr lang="ko-KR" altLang="en-US" sz="1200" b="0" spc="-15">
                      <a:solidFill>
                        <a:srgbClr val="7A7A7A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거래일</a:t>
                  </a:r>
                </a:p>
              </p:txBody>
            </p:sp>
            <p:sp>
              <p:nvSpPr>
                <p:cNvPr id="24" name="Text"/>
                <p:cNvSpPr txBox="1"/>
                <p:nvPr/>
              </p:nvSpPr>
              <p:spPr>
                <a:xfrm>
                  <a:off x="2520950" y="2984500"/>
                  <a:ext cx="857250" cy="1841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1450"/>
                    </a:lnSpc>
                    <a:spcBef>
                      <a:spcPts val="0"/>
                    </a:spcBef>
                  </a:pPr>
                  <a:r>
                    <a:rPr lang="ko-KR" altLang="en-US" sz="1200" b="0" spc="-15">
                      <a:solidFill>
                        <a:srgbClr val="1D1D1F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2026-10-08</a:t>
                  </a:r>
                </a:p>
              </p:txBody>
            </p:sp>
          </p:grpSp>
          <p:sp>
            <p:nvSpPr>
              <p:cNvPr id="25" name="Key"/>
              <p:cNvSpPr txBox="1"/>
              <p:nvPr/>
            </p:nvSpPr>
            <p:spPr>
              <a:xfrm>
                <a:off x="812800" y="3397250"/>
                <a:ext cx="260350" cy="1841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450"/>
                  </a:lnSpc>
                  <a:spcBef>
                    <a:spcPts val="0"/>
                  </a:spcBef>
                </a:pPr>
                <a:r>
                  <a:rPr lang="ko-KR" altLang="en-US" sz="1200" b="0" spc="-15">
                    <a:solidFill>
                      <a:srgbClr val="7A7A7A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금액</a:t>
                </a:r>
              </a:p>
            </p:txBody>
          </p:sp>
          <p:sp>
            <p:nvSpPr>
              <p:cNvPr id="26" name="Text"/>
              <p:cNvSpPr txBox="1"/>
              <p:nvPr/>
            </p:nvSpPr>
            <p:spPr>
              <a:xfrm>
                <a:off x="2825750" y="3397250"/>
                <a:ext cx="514350" cy="1841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450"/>
                  </a:lnSpc>
                  <a:spcBef>
                    <a:spcPts val="0"/>
                  </a:spcBef>
                </a:pPr>
                <a:r>
                  <a:rPr lang="ko-KR" altLang="en-US" sz="1200" b="0" spc="-15">
                    <a:solidFill>
                      <a:srgbClr val="1D1D1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48,000</a:t>
                </a:r>
              </a:p>
            </p:txBody>
          </p:sp>
          <p:sp>
            <p:nvSpPr>
              <p:cNvPr id="27" name="Caret"/>
              <p:cNvSpPr/>
              <p:nvPr/>
            </p:nvSpPr>
            <p:spPr>
              <a:xfrm>
                <a:off x="3365500" y="3400425"/>
                <a:ext cx="12700" cy="177800"/>
              </a:xfrm>
              <a:prstGeom prst="rect">
                <a:avLst/>
              </a:prstGeom>
              <a:solidFill>
                <a:srgbClr val="0066CC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28" name="Col 다시 묻기"/>
          <p:cNvGrpSpPr/>
          <p:nvPr/>
        </p:nvGrpSpPr>
        <p:grpSpPr>
          <a:xfrm>
            <a:off x="8636000" y="1841500"/>
            <a:ext cx="2921000" cy="2063750"/>
            <a:chOff x="8636000" y="1841500"/>
            <a:chExt cx="2921000" cy="2063750"/>
          </a:xfrm>
        </p:grpSpPr>
        <p:sp>
          <p:nvSpPr>
            <p:cNvPr id="29" name="Heading"/>
            <p:cNvSpPr txBox="1"/>
            <p:nvPr/>
          </p:nvSpPr>
          <p:spPr>
            <a:xfrm>
              <a:off x="8636000" y="1841500"/>
              <a:ext cx="1098550" cy="3619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2850"/>
                </a:lnSpc>
                <a:spcBef>
                  <a:spcPts val="0"/>
                </a:spcBef>
              </a:pPr>
              <a:r>
                <a:rPr lang="ko-KR" altLang="en-US" sz="2400" b="0" spc="-48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다시 묻기</a:t>
              </a:r>
            </a:p>
          </p:txBody>
        </p:sp>
        <p:grpSp>
          <p:nvGrpSpPr>
            <p:cNvPr id="30" name="Missing Info"/>
            <p:cNvGrpSpPr/>
            <p:nvPr/>
          </p:nvGrpSpPr>
          <p:grpSpPr>
            <a:xfrm>
              <a:off x="8636000" y="2381250"/>
              <a:ext cx="2921000" cy="1524000"/>
              <a:chOff x="8636000" y="2381250"/>
              <a:chExt cx="2921000" cy="1524000"/>
            </a:xfrm>
          </p:grpSpPr>
          <p:sp>
            <p:nvSpPr>
              <p:cNvPr id="31" name="Missing Info"/>
              <p:cNvSpPr/>
              <p:nvPr/>
            </p:nvSpPr>
            <p:spPr>
              <a:xfrm>
                <a:off x="8636000" y="2381250"/>
                <a:ext cx="2921000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5F5F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32" name="Row 지출 목적"/>
              <p:cNvGrpSpPr/>
              <p:nvPr/>
            </p:nvGrpSpPr>
            <p:grpSpPr>
              <a:xfrm>
                <a:off x="8813800" y="2571750"/>
                <a:ext cx="2565400" cy="342900"/>
                <a:chOff x="8813800" y="2571750"/>
                <a:chExt cx="2565400" cy="342900"/>
              </a:xfrm>
            </p:grpSpPr>
            <p:sp>
              <p:nvSpPr>
                <p:cNvPr id="33" name="Row 지출 목적 테두리"/>
                <p:cNvSpPr/>
                <p:nvPr/>
              </p:nvSpPr>
              <p:spPr>
                <a:xfrm>
                  <a:off x="8813800" y="2908300"/>
                  <a:ext cx="2565400" cy="6350"/>
                </a:xfrm>
                <a:prstGeom prst="rect">
                  <a:avLst/>
                </a:prstGeom>
                <a:solidFill>
                  <a:srgbClr val="E0E0E0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" name="Key"/>
                <p:cNvSpPr txBox="1"/>
                <p:nvPr/>
              </p:nvSpPr>
              <p:spPr>
                <a:xfrm>
                  <a:off x="8813800" y="2593975"/>
                  <a:ext cx="558800" cy="1841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1450"/>
                    </a:lnSpc>
                    <a:spcBef>
                      <a:spcPts val="0"/>
                    </a:spcBef>
                  </a:pPr>
                  <a:r>
                    <a:rPr lang="ko-KR" altLang="en-US" sz="1200" b="0" spc="-15">
                      <a:solidFill>
                        <a:srgbClr val="7A7A7A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지출 목적</a:t>
                  </a:r>
                </a:p>
              </p:txBody>
            </p:sp>
            <p:sp>
              <p:nvSpPr>
                <p:cNvPr id="35" name="Text"/>
                <p:cNvSpPr txBox="1"/>
                <p:nvPr/>
              </p:nvSpPr>
              <p:spPr>
                <a:xfrm>
                  <a:off x="11277600" y="2571750"/>
                  <a:ext cx="1016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1800"/>
                    </a:lnSpc>
                    <a:spcBef>
                      <a:spcPts val="0"/>
                    </a:spcBef>
                  </a:pPr>
                  <a:r>
                    <a:rPr lang="ko-KR" altLang="en-US" sz="1500" b="0" spc="-15">
                      <a:solidFill>
                        <a:srgbClr val="0066CC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?</a:t>
                  </a:r>
                </a:p>
              </p:txBody>
            </p:sp>
          </p:grpSp>
          <p:grpSp>
            <p:nvGrpSpPr>
              <p:cNvPr id="36" name="Row 부서"/>
              <p:cNvGrpSpPr/>
              <p:nvPr/>
            </p:nvGrpSpPr>
            <p:grpSpPr>
              <a:xfrm>
                <a:off x="8813800" y="3028950"/>
                <a:ext cx="2565400" cy="342900"/>
                <a:chOff x="8813800" y="3028950"/>
                <a:chExt cx="2565400" cy="342900"/>
              </a:xfrm>
            </p:grpSpPr>
            <p:sp>
              <p:nvSpPr>
                <p:cNvPr id="37" name="Row 부서 테두리"/>
                <p:cNvSpPr/>
                <p:nvPr/>
              </p:nvSpPr>
              <p:spPr>
                <a:xfrm>
                  <a:off x="8813800" y="3365500"/>
                  <a:ext cx="2565400" cy="6350"/>
                </a:xfrm>
                <a:prstGeom prst="rect">
                  <a:avLst/>
                </a:prstGeom>
                <a:solidFill>
                  <a:srgbClr val="E0E0E0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" name="Key"/>
                <p:cNvSpPr txBox="1"/>
                <p:nvPr/>
              </p:nvSpPr>
              <p:spPr>
                <a:xfrm>
                  <a:off x="8813800" y="3051175"/>
                  <a:ext cx="260350" cy="1841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1450"/>
                    </a:lnSpc>
                    <a:spcBef>
                      <a:spcPts val="0"/>
                    </a:spcBef>
                  </a:pPr>
                  <a:r>
                    <a:rPr lang="ko-KR" altLang="en-US" sz="1200" b="0" spc="-15">
                      <a:solidFill>
                        <a:srgbClr val="7A7A7A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부서</a:t>
                  </a:r>
                </a:p>
              </p:txBody>
            </p:sp>
            <p:sp>
              <p:nvSpPr>
                <p:cNvPr id="39" name="Text"/>
                <p:cNvSpPr txBox="1"/>
                <p:nvPr/>
              </p:nvSpPr>
              <p:spPr>
                <a:xfrm>
                  <a:off x="11277600" y="3028950"/>
                  <a:ext cx="1016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1800"/>
                    </a:lnSpc>
                    <a:spcBef>
                      <a:spcPts val="0"/>
                    </a:spcBef>
                  </a:pPr>
                  <a:r>
                    <a:rPr lang="ko-KR" altLang="en-US" sz="1500" b="0" spc="-15">
                      <a:solidFill>
                        <a:srgbClr val="0066CC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?</a:t>
                  </a:r>
                </a:p>
              </p:txBody>
            </p:sp>
          </p:grpSp>
          <p:sp>
            <p:nvSpPr>
              <p:cNvPr id="40" name="Key"/>
              <p:cNvSpPr txBox="1"/>
              <p:nvPr/>
            </p:nvSpPr>
            <p:spPr>
              <a:xfrm>
                <a:off x="8813800" y="3508375"/>
                <a:ext cx="520700" cy="1841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450"/>
                  </a:lnSpc>
                  <a:spcBef>
                    <a:spcPts val="0"/>
                  </a:spcBef>
                </a:pPr>
                <a:r>
                  <a:rPr lang="ko-KR" altLang="en-US" sz="1200" b="0" spc="-15">
                    <a:solidFill>
                      <a:srgbClr val="7A7A7A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프로젝트</a:t>
                </a:r>
              </a:p>
            </p:txBody>
          </p:sp>
          <p:sp>
            <p:nvSpPr>
              <p:cNvPr id="41" name="Text"/>
              <p:cNvSpPr txBox="1"/>
              <p:nvPr/>
            </p:nvSpPr>
            <p:spPr>
              <a:xfrm>
                <a:off x="11277600" y="3486150"/>
                <a:ext cx="10160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800"/>
                  </a:lnSpc>
                  <a:spcBef>
                    <a:spcPts val="0"/>
                  </a:spcBef>
                </a:pPr>
                <a:r>
                  <a:rPr lang="ko-KR" altLang="en-US" sz="1500" b="0" spc="-15">
                    <a:solidFill>
                      <a:srgbClr val="0066CC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?</a:t>
                </a:r>
              </a:p>
            </p:txBody>
          </p:sp>
        </p:grpSp>
      </p:grpSp>
      <p:sp>
        <p:nvSpPr>
          <p:cNvPr id="42" name="Arrow Line"/>
          <p:cNvSpPr/>
          <p:nvPr/>
        </p:nvSpPr>
        <p:spPr>
          <a:xfrm>
            <a:off x="3746500" y="3302000"/>
            <a:ext cx="1206500" cy="0"/>
          </a:xfrm>
          <a:custGeom>
            <a:avLst/>
            <a:gdLst/>
            <a:ahLst/>
            <a:cxnLst/>
            <a:rect l="0" t="0" r="r" b="b"/>
            <a:pathLst>
              <a:path w="1206500" h="1" fill="none">
                <a:moveTo>
                  <a:pt x="1206500" y="0"/>
                </a:move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66CC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Arrowhead"/>
          <p:cNvSpPr/>
          <p:nvPr/>
        </p:nvSpPr>
        <p:spPr>
          <a:xfrm>
            <a:off x="3644900" y="3219450"/>
            <a:ext cx="114300" cy="165100"/>
          </a:xfrm>
          <a:custGeom>
            <a:avLst/>
            <a:gdLst/>
            <a:ahLst/>
            <a:cxnLst/>
            <a:rect l="0" t="0" r="r" b="b"/>
            <a:pathLst>
              <a:path w="114300" h="165100">
                <a:moveTo>
                  <a:pt x="0" y="82550"/>
                </a:moveTo>
                <a:lnTo>
                  <a:pt x="114300" y="0"/>
                </a:lnTo>
                <a:lnTo>
                  <a:pt x="114300" y="165100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4" name="Message Band"/>
          <p:cNvGrpSpPr/>
          <p:nvPr/>
        </p:nvGrpSpPr>
        <p:grpSpPr>
          <a:xfrm>
            <a:off x="0" y="5524500"/>
            <a:ext cx="12192000" cy="1333500"/>
            <a:chOff x="0" y="5524500"/>
            <a:chExt cx="12192000" cy="1333500"/>
          </a:xfrm>
        </p:grpSpPr>
        <p:sp>
          <p:nvSpPr>
            <p:cNvPr id="45" name="Message Band"/>
            <p:cNvSpPr/>
            <p:nvPr/>
          </p:nvSpPr>
          <p:spPr>
            <a:xfrm>
              <a:off x="0" y="5524500"/>
              <a:ext cx="12192000" cy="1333500"/>
            </a:xfrm>
            <a:prstGeom prst="rect">
              <a:avLst/>
            </a:prstGeom>
            <a:solidFill>
              <a:srgbClr val="F5F5F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Message"/>
            <p:cNvSpPr txBox="1"/>
            <p:nvPr/>
          </p:nvSpPr>
          <p:spPr>
            <a:xfrm>
              <a:off x="4079875" y="5880100"/>
              <a:ext cx="4032250" cy="3365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2650"/>
                </a:lnSpc>
                <a:spcBef>
                  <a:spcPts val="0"/>
                </a:spcBef>
              </a:pPr>
              <a:r>
                <a:rPr lang="ko-KR" altLang="en-US" sz="2200" b="0" spc="-44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있는 건 옮겨 적고, 없는 건 다시 묻는다</a:t>
              </a:r>
            </a:p>
          </p:txBody>
        </p:sp>
        <p:sp>
          <p:nvSpPr>
            <p:cNvPr id="47" name="Keywords"/>
            <p:cNvSpPr txBox="1"/>
            <p:nvPr/>
          </p:nvSpPr>
          <p:spPr>
            <a:xfrm>
              <a:off x="5092700" y="6305550"/>
              <a:ext cx="2006600" cy="196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550"/>
                </a:lnSpc>
                <a:spcBef>
                  <a:spcPts val="0"/>
                </a:spcBef>
              </a:pPr>
              <a:r>
                <a:rPr lang="ko-KR" altLang="en-US" sz="13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재확인 반복  ·  흩어진 처리 상황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ection Nav"/>
          <p:cNvGrpSpPr/>
          <p:nvPr/>
        </p:nvGrpSpPr>
        <p:grpSpPr>
          <a:xfrm>
            <a:off x="0" y="0"/>
            <a:ext cx="12192000" cy="406400"/>
            <a:chOff x="0" y="0"/>
            <a:chExt cx="12192000" cy="406400"/>
          </a:xfrm>
        </p:grpSpPr>
        <p:sp>
          <p:nvSpPr>
            <p:cNvPr id="3" name="Section Nav"/>
            <p:cNvSpPr/>
            <p:nvPr/>
          </p:nvSpPr>
          <p:spPr>
            <a:xfrm>
              <a:off x="0" y="0"/>
              <a:ext cx="121920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Progress Bar"/>
            <p:cNvSpPr/>
            <p:nvPr/>
          </p:nvSpPr>
          <p:spPr>
            <a:xfrm>
              <a:off x="0" y="0"/>
              <a:ext cx="2711450" cy="381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ab 기획 배경"/>
            <p:cNvSpPr txBox="1"/>
            <p:nvPr/>
          </p:nvSpPr>
          <p:spPr>
            <a:xfrm>
              <a:off x="635000" y="241300"/>
              <a:ext cx="5143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기획 배경</a:t>
              </a:r>
            </a:p>
          </p:txBody>
        </p:sp>
        <p:sp>
          <p:nvSpPr>
            <p:cNvPr id="6" name="Tab 서비스"/>
            <p:cNvSpPr txBox="1"/>
            <p:nvPr/>
          </p:nvSpPr>
          <p:spPr>
            <a:xfrm>
              <a:off x="2492375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서비스</a:t>
              </a:r>
            </a:p>
          </p:txBody>
        </p:sp>
        <p:sp>
          <p:nvSpPr>
            <p:cNvPr id="7" name="Tab 차별점"/>
            <p:cNvSpPr txBox="1"/>
            <p:nvPr/>
          </p:nvSpPr>
          <p:spPr>
            <a:xfrm>
              <a:off x="4197350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차별점</a:t>
              </a:r>
            </a:p>
          </p:txBody>
        </p:sp>
        <p:sp>
          <p:nvSpPr>
            <p:cNvPr id="8" name="Tab 아키텍처"/>
            <p:cNvSpPr txBox="1"/>
            <p:nvPr/>
          </p:nvSpPr>
          <p:spPr>
            <a:xfrm>
              <a:off x="5902325" y="241300"/>
              <a:ext cx="4762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아키텍처</a:t>
              </a:r>
            </a:p>
          </p:txBody>
        </p:sp>
        <p:sp>
          <p:nvSpPr>
            <p:cNvPr id="9" name="Tab 예산"/>
            <p:cNvSpPr txBox="1"/>
            <p:nvPr/>
          </p:nvSpPr>
          <p:spPr>
            <a:xfrm>
              <a:off x="7721600" y="241300"/>
              <a:ext cx="2413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예산</a:t>
              </a:r>
            </a:p>
          </p:txBody>
        </p:sp>
        <p:sp>
          <p:nvSpPr>
            <p:cNvPr id="10" name="Tab 추진 계획"/>
            <p:cNvSpPr txBox="1"/>
            <p:nvPr/>
          </p:nvSpPr>
          <p:spPr>
            <a:xfrm>
              <a:off x="9305925" y="241300"/>
              <a:ext cx="5143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추진 계획</a:t>
              </a:r>
            </a:p>
          </p:txBody>
        </p:sp>
        <p:sp>
          <p:nvSpPr>
            <p:cNvPr id="11" name="Tab 팀 소개"/>
            <p:cNvSpPr txBox="1"/>
            <p:nvPr/>
          </p:nvSpPr>
          <p:spPr>
            <a:xfrm>
              <a:off x="11163300" y="241300"/>
              <a:ext cx="3937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팀 소개</a:t>
              </a:r>
            </a:p>
          </p:txBody>
        </p:sp>
      </p:grpSp>
      <p:grpSp>
        <p:nvGrpSpPr>
          <p:cNvPr id="12" name="Step 01"/>
          <p:cNvGrpSpPr/>
          <p:nvPr/>
        </p:nvGrpSpPr>
        <p:grpSpPr>
          <a:xfrm>
            <a:off x="635000" y="952500"/>
            <a:ext cx="5080000" cy="4445000"/>
            <a:chOff x="635000" y="952500"/>
            <a:chExt cx="5080000" cy="4445000"/>
          </a:xfrm>
        </p:grpSpPr>
        <p:sp>
          <p:nvSpPr>
            <p:cNvPr id="13" name="Step"/>
            <p:cNvSpPr txBox="1"/>
            <p:nvPr/>
          </p:nvSpPr>
          <p:spPr>
            <a:xfrm>
              <a:off x="635000" y="952500"/>
              <a:ext cx="590550" cy="2095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650"/>
                </a:lnSpc>
                <a:spcBef>
                  <a:spcPts val="0"/>
                </a:spcBef>
              </a:pPr>
              <a:r>
                <a:rPr lang="ko-KR" altLang="en-US" sz="14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step 01</a:t>
              </a:r>
            </a:p>
          </p:txBody>
        </p:sp>
        <p:sp>
          <p:nvSpPr>
            <p:cNvPr id="14" name="Who"/>
            <p:cNvSpPr txBox="1"/>
            <p:nvPr/>
          </p:nvSpPr>
          <p:spPr>
            <a:xfrm>
              <a:off x="635000" y="1200150"/>
              <a:ext cx="603250" cy="4254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3350"/>
                </a:lnSpc>
                <a:spcBef>
                  <a:spcPts val="0"/>
                </a:spcBef>
              </a:pPr>
              <a:r>
                <a:rPr lang="ko-KR" altLang="en-US" sz="2800" b="0" spc="-56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직원</a:t>
              </a:r>
            </a:p>
          </p:txBody>
        </p:sp>
        <p:grpSp>
          <p:nvGrpSpPr>
            <p:cNvPr id="15" name="Phone 촬영"/>
            <p:cNvGrpSpPr/>
            <p:nvPr/>
          </p:nvGrpSpPr>
          <p:grpSpPr>
            <a:xfrm>
              <a:off x="635000" y="1879600"/>
              <a:ext cx="1460500" cy="2984500"/>
              <a:chOff x="635000" y="1879600"/>
              <a:chExt cx="1460500" cy="2984500"/>
            </a:xfrm>
          </p:grpSpPr>
          <p:sp>
            <p:nvSpPr>
              <p:cNvPr id="16" name="Phone 촬영"/>
              <p:cNvSpPr/>
              <p:nvPr/>
            </p:nvSpPr>
            <p:spPr>
              <a:xfrm>
                <a:off x="635000" y="1879600"/>
                <a:ext cx="1460500" cy="2984500"/>
              </a:xfrm>
              <a:prstGeom prst="roundRect">
                <a:avLst>
                  <a:gd name="adj" fmla="val 15652"/>
                </a:avLst>
              </a:prstGeom>
              <a:solidFill>
                <a:srgbClr val="1D1D1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17" name="Screen"/>
              <p:cNvGrpSpPr/>
              <p:nvPr/>
            </p:nvGrpSpPr>
            <p:grpSpPr>
              <a:xfrm>
                <a:off x="679450" y="1924050"/>
                <a:ext cx="1371600" cy="2895600"/>
                <a:chOff x="679450" y="1924050"/>
                <a:chExt cx="1371600" cy="2895600"/>
              </a:xfrm>
            </p:grpSpPr>
            <p:sp>
              <p:nvSpPr>
                <p:cNvPr id="18" name="Screen"/>
                <p:cNvSpPr/>
                <p:nvPr/>
              </p:nvSpPr>
              <p:spPr>
                <a:xfrm>
                  <a:off x="679450" y="1924050"/>
                  <a:ext cx="1371600" cy="2895600"/>
                </a:xfrm>
                <a:prstGeom prst="roundRect">
                  <a:avLst>
                    <a:gd name="adj" fmla="val 13888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9" name="Hint"/>
                <p:cNvSpPr txBox="1"/>
                <p:nvPr/>
              </p:nvSpPr>
              <p:spPr>
                <a:xfrm>
                  <a:off x="901700" y="2139950"/>
                  <a:ext cx="927100" cy="889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700"/>
                    </a:lnSpc>
                    <a:spcBef>
                      <a:spcPts val="0"/>
                    </a:spcBef>
                  </a:pPr>
                  <a:r>
                    <a:rPr lang="ko-KR" altLang="en-US" sz="600" b="0" spc="-5">
                      <a:solidFill>
                        <a:srgbClr val="FFFFFF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영수증 네 모서리를 맞춰 주세요</a:t>
                  </a:r>
                </a:p>
              </p:txBody>
            </p:sp>
            <p:grpSp>
              <p:nvGrpSpPr>
                <p:cNvPr id="20" name="Viewfinder"/>
                <p:cNvGrpSpPr/>
                <p:nvPr/>
              </p:nvGrpSpPr>
              <p:grpSpPr>
                <a:xfrm>
                  <a:off x="755650" y="2292350"/>
                  <a:ext cx="1219200" cy="2019300"/>
                  <a:chOff x="755650" y="2292350"/>
                  <a:chExt cx="1219200" cy="2019300"/>
                </a:xfrm>
              </p:grpSpPr>
              <p:sp>
                <p:nvSpPr>
                  <p:cNvPr id="21" name="Viewfinder"/>
                  <p:cNvSpPr/>
                  <p:nvPr/>
                </p:nvSpPr>
                <p:spPr>
                  <a:xfrm>
                    <a:off x="755650" y="2292350"/>
                    <a:ext cx="1219200" cy="2019300"/>
                  </a:xfrm>
                  <a:prstGeom prst="roundRect">
                    <a:avLst>
                      <a:gd name="adj" fmla="val 5729"/>
                    </a:avLst>
                  </a:prstGeom>
                  <a:solidFill>
                    <a:srgbClr val="272729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pic>
                <p:nvPicPr>
                  <p:cNvPr id="22" name="Receipt Guide" descr="receipt-example.png"/>
                  <p:cNvPicPr>
                    <a:picLocks noChangeAspect="1"/>
                  </p:cNvPicPr>
                  <p:nvPr/>
                </p:nvPicPr>
                <p:blipFill>
                  <a:blip r:embed="rId3"/>
                  <a:srcRect l="27174" r="27174"/>
                  <a:stretch>
                    <a:fillRect/>
                  </a:stretch>
                </p:blipFill>
                <p:spPr>
                  <a:xfrm>
                    <a:off x="920750" y="2571750"/>
                    <a:ext cx="889000" cy="1460500"/>
                  </a:xfrm>
                  <a:prstGeom prst="roundRect">
                    <a:avLst>
                      <a:gd name="adj" fmla="val 4285"/>
                    </a:avLst>
                  </a:prstGeom>
                  <a:ln w="19050">
                    <a:solidFill>
                      <a:srgbClr val="FFFFFF"/>
                    </a:solidFill>
                  </a:ln>
                </p:spPr>
              </p:pic>
            </p:grpSp>
            <p:grpSp>
              <p:nvGrpSpPr>
                <p:cNvPr id="23" name="Shutter"/>
                <p:cNvGrpSpPr/>
                <p:nvPr/>
              </p:nvGrpSpPr>
              <p:grpSpPr>
                <a:xfrm>
                  <a:off x="1196975" y="4384675"/>
                  <a:ext cx="336550" cy="336550"/>
                  <a:chOff x="1196975" y="4384675"/>
                  <a:chExt cx="336550" cy="336550"/>
                </a:xfrm>
              </p:grpSpPr>
              <p:sp>
                <p:nvSpPr>
                  <p:cNvPr id="24" name="Shutter"/>
                  <p:cNvSpPr/>
                  <p:nvPr/>
                </p:nvSpPr>
                <p:spPr>
                  <a:xfrm>
                    <a:off x="1196975" y="4384675"/>
                    <a:ext cx="336550" cy="336550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19050">
                    <a:solidFill>
                      <a:srgbClr val="FFFFFF"/>
                    </a:solidFill>
                    <a:miter lim="800000"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25" name="Shutter Core"/>
                  <p:cNvSpPr/>
                  <p:nvPr/>
                </p:nvSpPr>
                <p:spPr>
                  <a:xfrm>
                    <a:off x="1225550" y="4413250"/>
                    <a:ext cx="279400" cy="27940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</p:grpSp>
          </p:grpSp>
        </p:grpSp>
        <p:sp>
          <p:nvSpPr>
            <p:cNvPr id="26" name="Label"/>
            <p:cNvSpPr txBox="1"/>
            <p:nvPr/>
          </p:nvSpPr>
          <p:spPr>
            <a:xfrm>
              <a:off x="1222375" y="4965700"/>
              <a:ext cx="285750" cy="196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550"/>
                </a:lnSpc>
                <a:spcBef>
                  <a:spcPts val="0"/>
                </a:spcBef>
              </a:pPr>
              <a:r>
                <a:rPr lang="ko-KR" altLang="en-US" sz="13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촬영</a:t>
              </a:r>
            </a:p>
          </p:txBody>
        </p:sp>
        <p:sp>
          <p:nvSpPr>
            <p:cNvPr id="27" name="Arrow Right"/>
            <p:cNvSpPr/>
            <p:nvPr/>
          </p:nvSpPr>
          <p:spPr>
            <a:xfrm>
              <a:off x="2174875" y="3276600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5000" y="12000"/>
                  </a:moveTo>
                  <a:lnTo>
                    <a:pt x="19000" y="12000"/>
                  </a:lnTo>
                </a:path>
                <a:path w="24000" h="24000" fill="none">
                  <a:moveTo>
                    <a:pt x="12000" y="5000"/>
                  </a:moveTo>
                  <a:lnTo>
                    <a:pt x="19000" y="12000"/>
                  </a:lnTo>
                  <a:lnTo>
                    <a:pt x="12000" y="19000"/>
                  </a:lnTo>
                </a:path>
              </a:pathLst>
            </a:custGeom>
            <a:noFill/>
            <a:ln w="15875" cap="rnd">
              <a:solidFill>
                <a:srgbClr val="7A7A7A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8" name="Phone 챗봇"/>
            <p:cNvGrpSpPr/>
            <p:nvPr/>
          </p:nvGrpSpPr>
          <p:grpSpPr>
            <a:xfrm>
              <a:off x="2444750" y="1879600"/>
              <a:ext cx="1460500" cy="2984500"/>
              <a:chOff x="2444750" y="1879600"/>
              <a:chExt cx="1460500" cy="2984500"/>
            </a:xfrm>
          </p:grpSpPr>
          <p:sp>
            <p:nvSpPr>
              <p:cNvPr id="29" name="Phone 챗봇"/>
              <p:cNvSpPr/>
              <p:nvPr/>
            </p:nvSpPr>
            <p:spPr>
              <a:xfrm>
                <a:off x="2444750" y="1879600"/>
                <a:ext cx="1460500" cy="2984500"/>
              </a:xfrm>
              <a:prstGeom prst="roundRect">
                <a:avLst>
                  <a:gd name="adj" fmla="val 15652"/>
                </a:avLst>
              </a:prstGeom>
              <a:solidFill>
                <a:srgbClr val="1D1D1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30" name="Screen"/>
              <p:cNvGrpSpPr/>
              <p:nvPr/>
            </p:nvGrpSpPr>
            <p:grpSpPr>
              <a:xfrm>
                <a:off x="2489200" y="1924050"/>
                <a:ext cx="1371600" cy="2895600"/>
                <a:chOff x="2489200" y="1924050"/>
                <a:chExt cx="1371600" cy="2895600"/>
              </a:xfrm>
            </p:grpSpPr>
            <p:sp>
              <p:nvSpPr>
                <p:cNvPr id="31" name="Screen"/>
                <p:cNvSpPr/>
                <p:nvPr/>
              </p:nvSpPr>
              <p:spPr>
                <a:xfrm>
                  <a:off x="2489200" y="1924050"/>
                  <a:ext cx="1371600" cy="2895600"/>
                </a:xfrm>
                <a:prstGeom prst="roundRect">
                  <a:avLst>
                    <a:gd name="adj" fmla="val 1388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grpSp>
              <p:nvGrpSpPr>
                <p:cNvPr id="32" name="Receipt Strip"/>
                <p:cNvGrpSpPr/>
                <p:nvPr/>
              </p:nvGrpSpPr>
              <p:grpSpPr>
                <a:xfrm>
                  <a:off x="2565400" y="2139950"/>
                  <a:ext cx="1219200" cy="355600"/>
                  <a:chOff x="2565400" y="2139950"/>
                  <a:chExt cx="1219200" cy="355600"/>
                </a:xfrm>
              </p:grpSpPr>
              <p:sp>
                <p:nvSpPr>
                  <p:cNvPr id="33" name="Receipt Strip"/>
                  <p:cNvSpPr/>
                  <p:nvPr/>
                </p:nvSpPr>
                <p:spPr>
                  <a:xfrm>
                    <a:off x="2565400" y="2139950"/>
                    <a:ext cx="1219200" cy="355600"/>
                  </a:xfrm>
                  <a:prstGeom prst="roundRect">
                    <a:avLst>
                      <a:gd name="adj" fmla="val 21428"/>
                    </a:avLst>
                  </a:prstGeom>
                  <a:solidFill>
                    <a:srgbClr val="F5F5F7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pic>
                <p:nvPicPr>
                  <p:cNvPr id="34" name="Thumb" descr="receipt-example.png"/>
                  <p:cNvPicPr>
                    <a:picLocks noChangeAspect="1"/>
                  </p:cNvPicPr>
                  <p:nvPr/>
                </p:nvPicPr>
                <p:blipFill>
                  <a:blip r:embed="rId3"/>
                  <a:srcRect l="21875" r="21875"/>
                  <a:stretch>
                    <a:fillRect/>
                  </a:stretch>
                </p:blipFill>
                <p:spPr>
                  <a:xfrm>
                    <a:off x="2616200" y="2190750"/>
                    <a:ext cx="190500" cy="254000"/>
                  </a:xfrm>
                  <a:prstGeom prst="roundRect">
                    <a:avLst>
                      <a:gd name="adj" fmla="val 13333"/>
                    </a:avLst>
                  </a:prstGeom>
                </p:spPr>
              </p:pic>
              <p:grpSp>
                <p:nvGrpSpPr>
                  <p:cNvPr id="35" name="Analyzing Pill"/>
                  <p:cNvGrpSpPr/>
                  <p:nvPr/>
                </p:nvGrpSpPr>
                <p:grpSpPr>
                  <a:xfrm>
                    <a:off x="2857500" y="2247900"/>
                    <a:ext cx="508000" cy="139700"/>
                    <a:chOff x="2857500" y="2247900"/>
                    <a:chExt cx="508000" cy="139700"/>
                  </a:xfrm>
                </p:grpSpPr>
                <p:sp>
                  <p:nvSpPr>
                    <p:cNvPr id="36" name="Analyzing Pill"/>
                    <p:cNvSpPr/>
                    <p:nvPr/>
                  </p:nvSpPr>
                  <p:spPr>
                    <a:xfrm>
                      <a:off x="2857500" y="2247900"/>
                      <a:ext cx="508000" cy="13970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EBF3FB"/>
                    </a:solidFill>
                    <a:ln>
                      <a:noFill/>
                    </a:ln>
                  </p:spPr>
                  <p:txBody>
                    <a:bodyPr rtlCol="0" anchor="ctr"/>
                    <a:lstStyle/>
                    <a:p>
                      <a:pPr algn="ctr"/>
                      <a:endParaRPr/>
                    </a:p>
                  </p:txBody>
                </p:sp>
                <p:sp>
                  <p:nvSpPr>
                    <p:cNvPr id="37" name="Loader"/>
                    <p:cNvSpPr/>
                    <p:nvPr/>
                  </p:nvSpPr>
                  <p:spPr>
                    <a:xfrm>
                      <a:off x="2908300" y="2279650"/>
                      <a:ext cx="76200" cy="76200"/>
                    </a:xfrm>
                    <a:custGeom>
                      <a:avLst/>
                      <a:gdLst/>
                      <a:ahLst/>
                      <a:cxnLst/>
                      <a:rect l="0" t="0" r="r" b="b"/>
                      <a:pathLst>
                        <a:path w="24000" h="24000" fill="none">
                          <a:moveTo>
                            <a:pt x="12000" y="2000"/>
                          </a:moveTo>
                          <a:lnTo>
                            <a:pt x="12000" y="6000"/>
                          </a:lnTo>
                        </a:path>
                        <a:path w="24000" h="24000" fill="none">
                          <a:moveTo>
                            <a:pt x="16200" y="7800"/>
                          </a:moveTo>
                          <a:lnTo>
                            <a:pt x="19100" y="4900"/>
                          </a:lnTo>
                        </a:path>
                        <a:path w="24000" h="24000" fill="none">
                          <a:moveTo>
                            <a:pt x="18000" y="12000"/>
                          </a:moveTo>
                          <a:lnTo>
                            <a:pt x="22000" y="12000"/>
                          </a:lnTo>
                        </a:path>
                        <a:path w="24000" h="24000" fill="none">
                          <a:moveTo>
                            <a:pt x="16200" y="16200"/>
                          </a:moveTo>
                          <a:lnTo>
                            <a:pt x="19100" y="19100"/>
                          </a:lnTo>
                        </a:path>
                        <a:path w="24000" h="24000" fill="none">
                          <a:moveTo>
                            <a:pt x="12000" y="18000"/>
                          </a:moveTo>
                          <a:lnTo>
                            <a:pt x="12000" y="22000"/>
                          </a:lnTo>
                        </a:path>
                        <a:path w="24000" h="24000" fill="none">
                          <a:moveTo>
                            <a:pt x="4900" y="19100"/>
                          </a:moveTo>
                          <a:lnTo>
                            <a:pt x="7800" y="16200"/>
                          </a:lnTo>
                        </a:path>
                        <a:path w="24000" h="24000" fill="none">
                          <a:moveTo>
                            <a:pt x="2000" y="12000"/>
                          </a:moveTo>
                          <a:lnTo>
                            <a:pt x="6000" y="12000"/>
                          </a:lnTo>
                        </a:path>
                        <a:path w="24000" h="24000" fill="none">
                          <a:moveTo>
                            <a:pt x="4900" y="4900"/>
                          </a:moveTo>
                          <a:lnTo>
                            <a:pt x="7800" y="7800"/>
                          </a:lnTo>
                        </a:path>
                      </a:pathLst>
                    </a:custGeom>
                    <a:noFill/>
                    <a:ln w="6350" cap="rnd">
                      <a:solidFill>
                        <a:srgbClr val="0066CC"/>
                      </a:solidFill>
                      <a:round/>
                    </a:ln>
                  </p:spPr>
                  <p:txBody>
                    <a:bodyPr rtlCol="0" anchor="ctr"/>
                    <a:lstStyle/>
                    <a:p>
                      <a:pPr algn="ctr"/>
                      <a:endParaRPr/>
                    </a:p>
                  </p:txBody>
                </p:sp>
                <p:sp>
                  <p:nvSpPr>
                    <p:cNvPr id="38" name="Analyzing"/>
                    <p:cNvSpPr txBox="1"/>
                    <p:nvPr/>
                  </p:nvSpPr>
                  <p:spPr>
                    <a:xfrm>
                      <a:off x="3009900" y="2273300"/>
                      <a:ext cx="304800" cy="8890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anchor="ctr">
                      <a:noAutofit/>
                    </a:bodyPr>
                    <a:lstStyle/>
                    <a:p>
                      <a:pPr algn="r">
                        <a:lnSpc>
                          <a:spcPts val="7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600" b="0" spc="-5">
                          <a:solidFill>
                            <a:srgbClr val="0066CC"/>
                          </a:solidFill>
                          <a:latin typeface="Pretendard SemiBold" pitchFamily="50" charset="-127"/>
                          <a:ea typeface="Pretendard SemiBold" pitchFamily="50" charset="-127"/>
                          <a:cs typeface="Pretendard SemiBold" pitchFamily="50" charset="-127"/>
                        </a:rPr>
                        <a:t>AI 분석 중</a:t>
                      </a:r>
                    </a:p>
                  </p:txBody>
                </p:sp>
              </p:grpSp>
            </p:grpSp>
            <p:grpSp>
              <p:nvGrpSpPr>
                <p:cNvPr id="39" name="Bubble Bot"/>
                <p:cNvGrpSpPr/>
                <p:nvPr/>
              </p:nvGrpSpPr>
              <p:grpSpPr>
                <a:xfrm>
                  <a:off x="2565400" y="2559050"/>
                  <a:ext cx="952500" cy="317500"/>
                  <a:chOff x="2565400" y="2559050"/>
                  <a:chExt cx="952500" cy="317500"/>
                </a:xfrm>
              </p:grpSpPr>
              <p:sp>
                <p:nvSpPr>
                  <p:cNvPr id="40" name="Bubble Bot"/>
                  <p:cNvSpPr/>
                  <p:nvPr/>
                </p:nvSpPr>
                <p:spPr>
                  <a:xfrm>
                    <a:off x="2565400" y="2559050"/>
                    <a:ext cx="952500" cy="317500"/>
                  </a:xfrm>
                  <a:prstGeom prst="roundRect">
                    <a:avLst>
                      <a:gd name="adj" fmla="val 28000"/>
                    </a:avLst>
                  </a:prstGeom>
                  <a:solidFill>
                    <a:srgbClr val="F5F5F7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1" name="Text"/>
                  <p:cNvSpPr txBox="1"/>
                  <p:nvPr/>
                </p:nvSpPr>
                <p:spPr>
                  <a:xfrm>
                    <a:off x="2628900" y="2609850"/>
                    <a:ext cx="825500" cy="2159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l">
                      <a:lnSpc>
                        <a:spcPts val="85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1D1D1F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이 지출의 목적을</a:t>
                    </a:r>
                  </a:p>
                  <a:p>
                    <a:pPr algn="l">
                      <a:lnSpc>
                        <a:spcPts val="85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1D1D1F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알려 주세요.</a:t>
                    </a:r>
                  </a:p>
                </p:txBody>
              </p:sp>
            </p:grpSp>
            <p:grpSp>
              <p:nvGrpSpPr>
                <p:cNvPr id="42" name="Bubble Me"/>
                <p:cNvGrpSpPr/>
                <p:nvPr/>
              </p:nvGrpSpPr>
              <p:grpSpPr>
                <a:xfrm>
                  <a:off x="3098800" y="2940050"/>
                  <a:ext cx="685800" cy="203200"/>
                  <a:chOff x="3098800" y="2940050"/>
                  <a:chExt cx="685800" cy="203200"/>
                </a:xfrm>
              </p:grpSpPr>
              <p:sp>
                <p:nvSpPr>
                  <p:cNvPr id="43" name="Bubble Me"/>
                  <p:cNvSpPr/>
                  <p:nvPr/>
                </p:nvSpPr>
                <p:spPr>
                  <a:xfrm>
                    <a:off x="3098800" y="2940050"/>
                    <a:ext cx="685800" cy="203200"/>
                  </a:xfrm>
                  <a:prstGeom prst="roundRect">
                    <a:avLst>
                      <a:gd name="adj" fmla="val 43750"/>
                    </a:avLst>
                  </a:prstGeom>
                  <a:solidFill>
                    <a:srgbClr val="0066CC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4" name="Text"/>
                  <p:cNvSpPr txBox="1"/>
                  <p:nvPr/>
                </p:nvSpPr>
                <p:spPr>
                  <a:xfrm>
                    <a:off x="3162300" y="2990850"/>
                    <a:ext cx="558800" cy="1016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ctr">
                      <a:lnSpc>
                        <a:spcPts val="80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FFFFFF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팀 주간 회의 다과</a:t>
                    </a:r>
                  </a:p>
                </p:txBody>
              </p:sp>
            </p:grpSp>
            <p:grpSp>
              <p:nvGrpSpPr>
                <p:cNvPr id="45" name="Bubble Bot"/>
                <p:cNvGrpSpPr/>
                <p:nvPr/>
              </p:nvGrpSpPr>
              <p:grpSpPr>
                <a:xfrm>
                  <a:off x="2565400" y="3206750"/>
                  <a:ext cx="952500" cy="209550"/>
                  <a:chOff x="2565400" y="3206750"/>
                  <a:chExt cx="952500" cy="209550"/>
                </a:xfrm>
              </p:grpSpPr>
              <p:sp>
                <p:nvSpPr>
                  <p:cNvPr id="46" name="Bubble Bot"/>
                  <p:cNvSpPr/>
                  <p:nvPr/>
                </p:nvSpPr>
                <p:spPr>
                  <a:xfrm>
                    <a:off x="2565400" y="3206750"/>
                    <a:ext cx="952500" cy="209550"/>
                  </a:xfrm>
                  <a:prstGeom prst="roundRect">
                    <a:avLst>
                      <a:gd name="adj" fmla="val 42424"/>
                    </a:avLst>
                  </a:prstGeom>
                  <a:solidFill>
                    <a:srgbClr val="F5F5F7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7" name="Text"/>
                  <p:cNvSpPr txBox="1"/>
                  <p:nvPr/>
                </p:nvSpPr>
                <p:spPr>
                  <a:xfrm>
                    <a:off x="2628900" y="3257550"/>
                    <a:ext cx="825500" cy="10795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l">
                      <a:lnSpc>
                        <a:spcPts val="85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1D1D1F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어느 부서 비용인가요?</a:t>
                    </a:r>
                  </a:p>
                </p:txBody>
              </p:sp>
            </p:grpSp>
            <p:grpSp>
              <p:nvGrpSpPr>
                <p:cNvPr id="48" name="Bubble Me"/>
                <p:cNvGrpSpPr/>
                <p:nvPr/>
              </p:nvGrpSpPr>
              <p:grpSpPr>
                <a:xfrm>
                  <a:off x="3441700" y="3479800"/>
                  <a:ext cx="342900" cy="203200"/>
                  <a:chOff x="3441700" y="3479800"/>
                  <a:chExt cx="342900" cy="203200"/>
                </a:xfrm>
              </p:grpSpPr>
              <p:sp>
                <p:nvSpPr>
                  <p:cNvPr id="49" name="Bubble Me"/>
                  <p:cNvSpPr/>
                  <p:nvPr/>
                </p:nvSpPr>
                <p:spPr>
                  <a:xfrm>
                    <a:off x="3441700" y="3479800"/>
                    <a:ext cx="342900" cy="203200"/>
                  </a:xfrm>
                  <a:prstGeom prst="roundRect">
                    <a:avLst>
                      <a:gd name="adj" fmla="val 43750"/>
                    </a:avLst>
                  </a:prstGeom>
                  <a:solidFill>
                    <a:srgbClr val="0066CC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0" name="Text"/>
                  <p:cNvSpPr txBox="1"/>
                  <p:nvPr/>
                </p:nvSpPr>
                <p:spPr>
                  <a:xfrm>
                    <a:off x="3505200" y="3530600"/>
                    <a:ext cx="215900" cy="1016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ctr">
                      <a:lnSpc>
                        <a:spcPts val="80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FFFFFF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개발팀</a:t>
                    </a:r>
                  </a:p>
                </p:txBody>
              </p:sp>
            </p:grpSp>
            <p:grpSp>
              <p:nvGrpSpPr>
                <p:cNvPr id="51" name="Bubble Bot"/>
                <p:cNvGrpSpPr/>
                <p:nvPr/>
              </p:nvGrpSpPr>
              <p:grpSpPr>
                <a:xfrm>
                  <a:off x="2565400" y="3746500"/>
                  <a:ext cx="952500" cy="317500"/>
                  <a:chOff x="2565400" y="3746500"/>
                  <a:chExt cx="952500" cy="317500"/>
                </a:xfrm>
              </p:grpSpPr>
              <p:sp>
                <p:nvSpPr>
                  <p:cNvPr id="52" name="Bubble Bot"/>
                  <p:cNvSpPr/>
                  <p:nvPr/>
                </p:nvSpPr>
                <p:spPr>
                  <a:xfrm>
                    <a:off x="2565400" y="3746500"/>
                    <a:ext cx="952500" cy="317500"/>
                  </a:xfrm>
                  <a:prstGeom prst="roundRect">
                    <a:avLst>
                      <a:gd name="adj" fmla="val 28000"/>
                    </a:avLst>
                  </a:prstGeom>
                  <a:solidFill>
                    <a:srgbClr val="F5F5F7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" name="Text"/>
                  <p:cNvSpPr txBox="1"/>
                  <p:nvPr/>
                </p:nvSpPr>
                <p:spPr>
                  <a:xfrm>
                    <a:off x="2628900" y="3797300"/>
                    <a:ext cx="825500" cy="2159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l">
                      <a:lnSpc>
                        <a:spcPts val="85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1D1D1F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어느 프로젝트에</a:t>
                    </a:r>
                  </a:p>
                  <a:p>
                    <a:pPr algn="l">
                      <a:lnSpc>
                        <a:spcPts val="85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1D1D1F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해당하나요?</a:t>
                    </a:r>
                  </a:p>
                </p:txBody>
              </p:sp>
            </p:grpSp>
            <p:grpSp>
              <p:nvGrpSpPr>
                <p:cNvPr id="54" name="Input Bar"/>
                <p:cNvGrpSpPr/>
                <p:nvPr/>
              </p:nvGrpSpPr>
              <p:grpSpPr>
                <a:xfrm>
                  <a:off x="2565400" y="4540250"/>
                  <a:ext cx="1219200" cy="190500"/>
                  <a:chOff x="2565400" y="4540250"/>
                  <a:chExt cx="1219200" cy="190500"/>
                </a:xfrm>
              </p:grpSpPr>
              <p:sp>
                <p:nvSpPr>
                  <p:cNvPr id="55" name="Input Bar"/>
                  <p:cNvSpPr/>
                  <p:nvPr/>
                </p:nvSpPr>
                <p:spPr>
                  <a:xfrm>
                    <a:off x="2565400" y="4540250"/>
                    <a:ext cx="1219200" cy="1905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5F5F7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6" name="Placeholder"/>
                  <p:cNvSpPr txBox="1"/>
                  <p:nvPr/>
                </p:nvSpPr>
                <p:spPr>
                  <a:xfrm>
                    <a:off x="2641600" y="4591050"/>
                    <a:ext cx="349250" cy="889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l">
                      <a:lnSpc>
                        <a:spcPts val="700"/>
                      </a:lnSpc>
                      <a:spcBef>
                        <a:spcPts val="0"/>
                      </a:spcBef>
                    </a:pPr>
                    <a:r>
                      <a:rPr lang="ko-KR" altLang="en-US" sz="600" b="0" spc="-5">
                        <a:solidFill>
                          <a:srgbClr val="7A7A7A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메시지 입력</a:t>
                    </a:r>
                  </a:p>
                </p:txBody>
              </p:sp>
            </p:grpSp>
          </p:grpSp>
        </p:grpSp>
        <p:sp>
          <p:nvSpPr>
            <p:cNvPr id="57" name="Label"/>
            <p:cNvSpPr txBox="1"/>
            <p:nvPr/>
          </p:nvSpPr>
          <p:spPr>
            <a:xfrm>
              <a:off x="2873375" y="4965700"/>
              <a:ext cx="603250" cy="196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550"/>
                </a:lnSpc>
                <a:spcBef>
                  <a:spcPts val="0"/>
                </a:spcBef>
              </a:pPr>
              <a:r>
                <a:rPr lang="ko-KR" altLang="en-US" sz="13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챗봇 질문</a:t>
              </a:r>
            </a:p>
          </p:txBody>
        </p:sp>
        <p:sp>
          <p:nvSpPr>
            <p:cNvPr id="58" name="Sub"/>
            <p:cNvSpPr txBox="1"/>
            <p:nvPr/>
          </p:nvSpPr>
          <p:spPr>
            <a:xfrm>
              <a:off x="2803525" y="5264150"/>
              <a:ext cx="742950" cy="1333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50"/>
                </a:lnSpc>
                <a:spcBef>
                  <a:spcPts val="0"/>
                </a:spcBef>
              </a:pPr>
              <a:r>
                <a:rPr lang="ko-KR" altLang="en-US" sz="9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AI 분석과 동시에</a:t>
              </a:r>
            </a:p>
          </p:txBody>
        </p:sp>
        <p:sp>
          <p:nvSpPr>
            <p:cNvPr id="59" name="Arrow Right"/>
            <p:cNvSpPr/>
            <p:nvPr/>
          </p:nvSpPr>
          <p:spPr>
            <a:xfrm>
              <a:off x="3984625" y="3276600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5000" y="12000"/>
                  </a:moveTo>
                  <a:lnTo>
                    <a:pt x="19000" y="12000"/>
                  </a:lnTo>
                </a:path>
                <a:path w="24000" h="24000" fill="none">
                  <a:moveTo>
                    <a:pt x="12000" y="5000"/>
                  </a:moveTo>
                  <a:lnTo>
                    <a:pt x="19000" y="12000"/>
                  </a:lnTo>
                  <a:lnTo>
                    <a:pt x="12000" y="19000"/>
                  </a:lnTo>
                </a:path>
              </a:pathLst>
            </a:custGeom>
            <a:noFill/>
            <a:ln w="15875" cap="rnd">
              <a:solidFill>
                <a:srgbClr val="7A7A7A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60" name="Phone 확인"/>
            <p:cNvGrpSpPr/>
            <p:nvPr/>
          </p:nvGrpSpPr>
          <p:grpSpPr>
            <a:xfrm>
              <a:off x="4254500" y="1879600"/>
              <a:ext cx="1460500" cy="2984500"/>
              <a:chOff x="4254500" y="1879600"/>
              <a:chExt cx="1460500" cy="2984500"/>
            </a:xfrm>
          </p:grpSpPr>
          <p:sp>
            <p:nvSpPr>
              <p:cNvPr id="61" name="Phone 확인"/>
              <p:cNvSpPr/>
              <p:nvPr/>
            </p:nvSpPr>
            <p:spPr>
              <a:xfrm>
                <a:off x="4254500" y="1879600"/>
                <a:ext cx="1460500" cy="2984500"/>
              </a:xfrm>
              <a:prstGeom prst="roundRect">
                <a:avLst>
                  <a:gd name="adj" fmla="val 15652"/>
                </a:avLst>
              </a:prstGeom>
              <a:solidFill>
                <a:srgbClr val="1D1D1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62" name="Screen"/>
              <p:cNvGrpSpPr/>
              <p:nvPr/>
            </p:nvGrpSpPr>
            <p:grpSpPr>
              <a:xfrm>
                <a:off x="4298950" y="1924050"/>
                <a:ext cx="1371600" cy="2895600"/>
                <a:chOff x="4298950" y="1924050"/>
                <a:chExt cx="1371600" cy="2895600"/>
              </a:xfrm>
            </p:grpSpPr>
            <p:sp>
              <p:nvSpPr>
                <p:cNvPr id="63" name="Screen"/>
                <p:cNvSpPr/>
                <p:nvPr/>
              </p:nvSpPr>
              <p:spPr>
                <a:xfrm>
                  <a:off x="4298950" y="1924050"/>
                  <a:ext cx="1371600" cy="2895600"/>
                </a:xfrm>
                <a:prstGeom prst="roundRect">
                  <a:avLst>
                    <a:gd name="adj" fmla="val 1388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pic>
              <p:nvPicPr>
                <p:cNvPr id="64" name="Receipt Image" descr="receipt-example.png"/>
                <p:cNvPicPr>
                  <a:picLocks noChangeAspect="1"/>
                </p:cNvPicPr>
                <p:nvPr/>
              </p:nvPicPr>
              <p:blipFill>
                <a:blip r:embed="rId3"/>
                <a:srcRect t="13889" b="13889"/>
                <a:stretch>
                  <a:fillRect/>
                </a:stretch>
              </p:blipFill>
              <p:spPr>
                <a:xfrm>
                  <a:off x="4375150" y="2139950"/>
                  <a:ext cx="1219200" cy="660400"/>
                </a:xfrm>
                <a:prstGeom prst="roundRect">
                  <a:avLst>
                    <a:gd name="adj" fmla="val 9615"/>
                  </a:avLst>
                </a:prstGeom>
              </p:spPr>
            </p:pic>
            <p:grpSp>
              <p:nvGrpSpPr>
                <p:cNvPr id="65" name="Field 상호명"/>
                <p:cNvGrpSpPr/>
                <p:nvPr/>
              </p:nvGrpSpPr>
              <p:grpSpPr>
                <a:xfrm>
                  <a:off x="4375150" y="2908300"/>
                  <a:ext cx="1219200" cy="146050"/>
                  <a:chOff x="4375150" y="2908300"/>
                  <a:chExt cx="1219200" cy="146050"/>
                </a:xfrm>
              </p:grpSpPr>
              <p:sp>
                <p:nvSpPr>
                  <p:cNvPr id="66" name="Field 상호명 테두리"/>
                  <p:cNvSpPr/>
                  <p:nvPr/>
                </p:nvSpPr>
                <p:spPr>
                  <a:xfrm>
                    <a:off x="4375150" y="3048000"/>
                    <a:ext cx="1219200" cy="6350"/>
                  </a:xfrm>
                  <a:prstGeom prst="rect">
                    <a:avLst/>
                  </a:prstGeom>
                  <a:solidFill>
                    <a:srgbClr val="F0F0F0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7" name="Key"/>
                  <p:cNvSpPr txBox="1"/>
                  <p:nvPr/>
                </p:nvSpPr>
                <p:spPr>
                  <a:xfrm>
                    <a:off x="4387850" y="2914650"/>
                    <a:ext cx="196850" cy="889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l">
                      <a:lnSpc>
                        <a:spcPts val="700"/>
                      </a:lnSpc>
                      <a:spcBef>
                        <a:spcPts val="0"/>
                      </a:spcBef>
                    </a:pPr>
                    <a:r>
                      <a:rPr lang="ko-KR" altLang="en-US" sz="600" b="0" spc="-5">
                        <a:solidFill>
                          <a:srgbClr val="7A7A7A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상호명</a:t>
                    </a:r>
                  </a:p>
                </p:txBody>
              </p:sp>
              <p:sp>
                <p:nvSpPr>
                  <p:cNvPr id="68" name="Value"/>
                  <p:cNvSpPr txBox="1"/>
                  <p:nvPr/>
                </p:nvSpPr>
                <p:spPr>
                  <a:xfrm>
                    <a:off x="5295900" y="2908300"/>
                    <a:ext cx="285750" cy="1016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r">
                      <a:lnSpc>
                        <a:spcPts val="80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1D1D1F"/>
                        </a:solidFill>
                        <a:latin typeface="Pretendard SemiBold" pitchFamily="50" charset="-127"/>
                        <a:ea typeface="Pretendard SemiBold" pitchFamily="50" charset="-127"/>
                        <a:cs typeface="Pretendard SemiBold" pitchFamily="50" charset="-127"/>
                      </a:rPr>
                      <a:t>가온식당</a:t>
                    </a:r>
                  </a:p>
                </p:txBody>
              </p:sp>
            </p:grpSp>
            <p:grpSp>
              <p:nvGrpSpPr>
                <p:cNvPr id="69" name="Field 거래 일시"/>
                <p:cNvGrpSpPr/>
                <p:nvPr/>
              </p:nvGrpSpPr>
              <p:grpSpPr>
                <a:xfrm>
                  <a:off x="4375150" y="3098800"/>
                  <a:ext cx="1219200" cy="146050"/>
                  <a:chOff x="4375150" y="3098800"/>
                  <a:chExt cx="1219200" cy="146050"/>
                </a:xfrm>
              </p:grpSpPr>
              <p:sp>
                <p:nvSpPr>
                  <p:cNvPr id="70" name="Field 거래 일시 테두리"/>
                  <p:cNvSpPr/>
                  <p:nvPr/>
                </p:nvSpPr>
                <p:spPr>
                  <a:xfrm>
                    <a:off x="4375150" y="3238500"/>
                    <a:ext cx="1219200" cy="6350"/>
                  </a:xfrm>
                  <a:prstGeom prst="rect">
                    <a:avLst/>
                  </a:prstGeom>
                  <a:solidFill>
                    <a:srgbClr val="F0F0F0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1" name="Key"/>
                  <p:cNvSpPr txBox="1"/>
                  <p:nvPr/>
                </p:nvSpPr>
                <p:spPr>
                  <a:xfrm>
                    <a:off x="4387850" y="3105150"/>
                    <a:ext cx="279400" cy="889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l">
                      <a:lnSpc>
                        <a:spcPts val="700"/>
                      </a:lnSpc>
                      <a:spcBef>
                        <a:spcPts val="0"/>
                      </a:spcBef>
                    </a:pPr>
                    <a:r>
                      <a:rPr lang="ko-KR" altLang="en-US" sz="600" b="0" spc="-5">
                        <a:solidFill>
                          <a:srgbClr val="7A7A7A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거래 일시</a:t>
                    </a:r>
                  </a:p>
                </p:txBody>
              </p:sp>
              <p:sp>
                <p:nvSpPr>
                  <p:cNvPr id="72" name="Value"/>
                  <p:cNvSpPr txBox="1"/>
                  <p:nvPr/>
                </p:nvSpPr>
                <p:spPr>
                  <a:xfrm>
                    <a:off x="5149850" y="3098800"/>
                    <a:ext cx="431800" cy="1016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r">
                      <a:lnSpc>
                        <a:spcPts val="80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1D1D1F"/>
                        </a:solidFill>
                        <a:latin typeface="Pretendard SemiBold" pitchFamily="50" charset="-127"/>
                        <a:ea typeface="Pretendard SemiBold" pitchFamily="50" charset="-127"/>
                        <a:cs typeface="Pretendard SemiBold" pitchFamily="50" charset="-127"/>
                      </a:rPr>
                      <a:t>10.08 12:41</a:t>
                    </a:r>
                  </a:p>
                </p:txBody>
              </p:sp>
            </p:grpSp>
            <p:grpSp>
              <p:nvGrpSpPr>
                <p:cNvPr id="73" name="Field 총액"/>
                <p:cNvGrpSpPr/>
                <p:nvPr/>
              </p:nvGrpSpPr>
              <p:grpSpPr>
                <a:xfrm>
                  <a:off x="4375150" y="3289300"/>
                  <a:ext cx="1219200" cy="146050"/>
                  <a:chOff x="4375150" y="3289300"/>
                  <a:chExt cx="1219200" cy="146050"/>
                </a:xfrm>
              </p:grpSpPr>
              <p:sp>
                <p:nvSpPr>
                  <p:cNvPr id="74" name="Field 총액 테두리"/>
                  <p:cNvSpPr/>
                  <p:nvPr/>
                </p:nvSpPr>
                <p:spPr>
                  <a:xfrm>
                    <a:off x="4375150" y="3429000"/>
                    <a:ext cx="1219200" cy="6350"/>
                  </a:xfrm>
                  <a:prstGeom prst="rect">
                    <a:avLst/>
                  </a:prstGeom>
                  <a:solidFill>
                    <a:srgbClr val="F0F0F0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5" name="Key"/>
                  <p:cNvSpPr txBox="1"/>
                  <p:nvPr/>
                </p:nvSpPr>
                <p:spPr>
                  <a:xfrm>
                    <a:off x="4387850" y="3295650"/>
                    <a:ext cx="133350" cy="889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l">
                      <a:lnSpc>
                        <a:spcPts val="700"/>
                      </a:lnSpc>
                      <a:spcBef>
                        <a:spcPts val="0"/>
                      </a:spcBef>
                    </a:pPr>
                    <a:r>
                      <a:rPr lang="ko-KR" altLang="en-US" sz="600" b="0" spc="-5">
                        <a:solidFill>
                          <a:srgbClr val="7A7A7A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총액</a:t>
                    </a:r>
                  </a:p>
                </p:txBody>
              </p:sp>
              <p:sp>
                <p:nvSpPr>
                  <p:cNvPr id="76" name="Value"/>
                  <p:cNvSpPr txBox="1"/>
                  <p:nvPr/>
                </p:nvSpPr>
                <p:spPr>
                  <a:xfrm>
                    <a:off x="5226050" y="3289300"/>
                    <a:ext cx="355600" cy="1016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r">
                      <a:lnSpc>
                        <a:spcPts val="80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1D1D1F"/>
                        </a:solidFill>
                        <a:latin typeface="Pretendard SemiBold" pitchFamily="50" charset="-127"/>
                        <a:ea typeface="Pretendard SemiBold" pitchFamily="50" charset="-127"/>
                        <a:cs typeface="Pretendard SemiBold" pitchFamily="50" charset="-127"/>
                      </a:rPr>
                      <a:t>₩48,000</a:t>
                    </a:r>
                  </a:p>
                </p:txBody>
              </p:sp>
            </p:grpSp>
            <p:grpSp>
              <p:nvGrpSpPr>
                <p:cNvPr id="77" name="Field 사업자번호"/>
                <p:cNvGrpSpPr/>
                <p:nvPr/>
              </p:nvGrpSpPr>
              <p:grpSpPr>
                <a:xfrm>
                  <a:off x="4375150" y="3479800"/>
                  <a:ext cx="1219200" cy="152400"/>
                  <a:chOff x="4375150" y="3479800"/>
                  <a:chExt cx="1219200" cy="152400"/>
                </a:xfrm>
              </p:grpSpPr>
              <p:sp>
                <p:nvSpPr>
                  <p:cNvPr id="78" name="Field 사업자번호 테두리"/>
                  <p:cNvSpPr/>
                  <p:nvPr/>
                </p:nvSpPr>
                <p:spPr>
                  <a:xfrm>
                    <a:off x="4375150" y="3625850"/>
                    <a:ext cx="1219200" cy="6350"/>
                  </a:xfrm>
                  <a:prstGeom prst="rect">
                    <a:avLst/>
                  </a:prstGeom>
                  <a:solidFill>
                    <a:srgbClr val="F0F0F0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9" name="Key"/>
                  <p:cNvSpPr txBox="1"/>
                  <p:nvPr/>
                </p:nvSpPr>
                <p:spPr>
                  <a:xfrm>
                    <a:off x="4387850" y="3489325"/>
                    <a:ext cx="330200" cy="889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l">
                      <a:lnSpc>
                        <a:spcPts val="700"/>
                      </a:lnSpc>
                      <a:spcBef>
                        <a:spcPts val="0"/>
                      </a:spcBef>
                    </a:pPr>
                    <a:r>
                      <a:rPr lang="ko-KR" altLang="en-US" sz="600" b="0" spc="-5">
                        <a:solidFill>
                          <a:srgbClr val="7A7A7A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사업자번호</a:t>
                    </a:r>
                  </a:p>
                </p:txBody>
              </p:sp>
              <p:grpSp>
                <p:nvGrpSpPr>
                  <p:cNvPr id="80" name="Check Tag"/>
                  <p:cNvGrpSpPr/>
                  <p:nvPr/>
                </p:nvGrpSpPr>
                <p:grpSpPr>
                  <a:xfrm>
                    <a:off x="5219700" y="3479800"/>
                    <a:ext cx="361950" cy="107950"/>
                    <a:chOff x="5219700" y="3479800"/>
                    <a:chExt cx="361950" cy="107950"/>
                  </a:xfrm>
                </p:grpSpPr>
                <p:sp>
                  <p:nvSpPr>
                    <p:cNvPr id="81" name="Check Tag"/>
                    <p:cNvSpPr/>
                    <p:nvPr/>
                  </p:nvSpPr>
                  <p:spPr>
                    <a:xfrm>
                      <a:off x="5219700" y="3479800"/>
                      <a:ext cx="361950" cy="1079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FFB114"/>
                    </a:solidFill>
                    <a:ln>
                      <a:noFill/>
                    </a:ln>
                  </p:spPr>
                  <p:txBody>
                    <a:bodyPr rtlCol="0" anchor="ctr"/>
                    <a:lstStyle/>
                    <a:p>
                      <a:pPr algn="ctr"/>
                      <a:endParaRPr/>
                    </a:p>
                  </p:txBody>
                </p:sp>
                <p:sp>
                  <p:nvSpPr>
                    <p:cNvPr id="82" name="Tag"/>
                    <p:cNvSpPr txBox="1"/>
                    <p:nvPr/>
                  </p:nvSpPr>
                  <p:spPr>
                    <a:xfrm>
                      <a:off x="5270500" y="3492500"/>
                      <a:ext cx="260350" cy="8255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65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550" b="0" spc="-5">
                          <a:solidFill>
                            <a:srgbClr val="1A1918"/>
                          </a:solidFill>
                          <a:latin typeface="Pretendard SemiBold" pitchFamily="50" charset="-127"/>
                          <a:ea typeface="Pretendard SemiBold" pitchFamily="50" charset="-127"/>
                          <a:cs typeface="Pretendard SemiBold" pitchFamily="50" charset="-127"/>
                        </a:rPr>
                        <a:t>확인 필요</a:t>
                      </a:r>
                    </a:p>
                  </p:txBody>
                </p:sp>
              </p:grpSp>
            </p:grpSp>
            <p:grpSp>
              <p:nvGrpSpPr>
                <p:cNvPr id="83" name="Field 지출 목적"/>
                <p:cNvGrpSpPr/>
                <p:nvPr/>
              </p:nvGrpSpPr>
              <p:grpSpPr>
                <a:xfrm>
                  <a:off x="4375150" y="3676650"/>
                  <a:ext cx="1219200" cy="146050"/>
                  <a:chOff x="4375150" y="3676650"/>
                  <a:chExt cx="1219200" cy="146050"/>
                </a:xfrm>
              </p:grpSpPr>
              <p:sp>
                <p:nvSpPr>
                  <p:cNvPr id="84" name="Field 지출 목적 테두리"/>
                  <p:cNvSpPr/>
                  <p:nvPr/>
                </p:nvSpPr>
                <p:spPr>
                  <a:xfrm>
                    <a:off x="4375150" y="3816350"/>
                    <a:ext cx="1219200" cy="6350"/>
                  </a:xfrm>
                  <a:prstGeom prst="rect">
                    <a:avLst/>
                  </a:prstGeom>
                  <a:solidFill>
                    <a:srgbClr val="F0F0F0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5" name="Key"/>
                  <p:cNvSpPr txBox="1"/>
                  <p:nvPr/>
                </p:nvSpPr>
                <p:spPr>
                  <a:xfrm>
                    <a:off x="4387850" y="3683000"/>
                    <a:ext cx="279400" cy="889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l">
                      <a:lnSpc>
                        <a:spcPts val="700"/>
                      </a:lnSpc>
                      <a:spcBef>
                        <a:spcPts val="0"/>
                      </a:spcBef>
                    </a:pPr>
                    <a:r>
                      <a:rPr lang="ko-KR" altLang="en-US" sz="600" b="0" spc="-5">
                        <a:solidFill>
                          <a:srgbClr val="7A7A7A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지출 목적</a:t>
                    </a:r>
                  </a:p>
                </p:txBody>
              </p:sp>
              <p:sp>
                <p:nvSpPr>
                  <p:cNvPr id="86" name="Value"/>
                  <p:cNvSpPr txBox="1"/>
                  <p:nvPr/>
                </p:nvSpPr>
                <p:spPr>
                  <a:xfrm>
                    <a:off x="5029200" y="3676650"/>
                    <a:ext cx="552450" cy="1016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r">
                      <a:lnSpc>
                        <a:spcPts val="80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1D1D1F"/>
                        </a:solidFill>
                        <a:latin typeface="Pretendard SemiBold" pitchFamily="50" charset="-127"/>
                        <a:ea typeface="Pretendard SemiBold" pitchFamily="50" charset="-127"/>
                        <a:cs typeface="Pretendard SemiBold" pitchFamily="50" charset="-127"/>
                      </a:rPr>
                      <a:t>팀 주간 회의 다과</a:t>
                    </a:r>
                  </a:p>
                </p:txBody>
              </p:sp>
            </p:grpSp>
            <p:grpSp>
              <p:nvGrpSpPr>
                <p:cNvPr id="87" name="Sum Check"/>
                <p:cNvGrpSpPr/>
                <p:nvPr/>
              </p:nvGrpSpPr>
              <p:grpSpPr>
                <a:xfrm>
                  <a:off x="4375150" y="3886200"/>
                  <a:ext cx="1219200" cy="158750"/>
                  <a:chOff x="4375150" y="3886200"/>
                  <a:chExt cx="1219200" cy="158750"/>
                </a:xfrm>
              </p:grpSpPr>
              <p:sp>
                <p:nvSpPr>
                  <p:cNvPr id="88" name="Sum Check"/>
                  <p:cNvSpPr/>
                  <p:nvPr/>
                </p:nvSpPr>
                <p:spPr>
                  <a:xfrm>
                    <a:off x="4375150" y="3886200"/>
                    <a:ext cx="1219200" cy="158750"/>
                  </a:xfrm>
                  <a:prstGeom prst="roundRect">
                    <a:avLst>
                      <a:gd name="adj" fmla="val 32000"/>
                    </a:avLst>
                  </a:prstGeom>
                  <a:solidFill>
                    <a:srgbClr val="EEF9EF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9" name="Check"/>
                  <p:cNvSpPr/>
                  <p:nvPr/>
                </p:nvSpPr>
                <p:spPr>
                  <a:xfrm>
                    <a:off x="4425950" y="3927475"/>
                    <a:ext cx="76200" cy="76200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4000" h="24000" fill="none">
                        <a:moveTo>
                          <a:pt x="20000" y="6000"/>
                        </a:moveTo>
                        <a:lnTo>
                          <a:pt x="9000" y="17000"/>
                        </a:lnTo>
                        <a:lnTo>
                          <a:pt x="4000" y="12000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348F4F"/>
                    </a:solidFill>
                    <a:round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90" name="Sum"/>
                  <p:cNvSpPr txBox="1"/>
                  <p:nvPr/>
                </p:nvSpPr>
                <p:spPr>
                  <a:xfrm>
                    <a:off x="4540250" y="3924300"/>
                    <a:ext cx="692150" cy="8255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l">
                      <a:lnSpc>
                        <a:spcPts val="650"/>
                      </a:lnSpc>
                      <a:spcBef>
                        <a:spcPts val="0"/>
                      </a:spcBef>
                    </a:pPr>
                    <a:r>
                      <a:rPr lang="ko-KR" altLang="en-US" sz="550" b="0" spc="-5">
                        <a:solidFill>
                          <a:srgbClr val="296A3B"/>
                        </a:solidFill>
                        <a:latin typeface="Pretendard SemiBold" pitchFamily="50" charset="-127"/>
                        <a:ea typeface="Pretendard SemiBold" pitchFamily="50" charset="-127"/>
                        <a:cs typeface="Pretendard SemiBold" pitchFamily="50" charset="-127"/>
                      </a:rPr>
                      <a:t>공급가액 + 부가세 = 총액</a:t>
                    </a:r>
                  </a:p>
                </p:txBody>
              </p:sp>
            </p:grpSp>
            <p:grpSp>
              <p:nvGrpSpPr>
                <p:cNvPr id="91" name="Submit"/>
                <p:cNvGrpSpPr/>
                <p:nvPr/>
              </p:nvGrpSpPr>
              <p:grpSpPr>
                <a:xfrm>
                  <a:off x="4375150" y="4495800"/>
                  <a:ext cx="1219200" cy="234950"/>
                  <a:chOff x="4375150" y="4495800"/>
                  <a:chExt cx="1219200" cy="234950"/>
                </a:xfrm>
              </p:grpSpPr>
              <p:sp>
                <p:nvSpPr>
                  <p:cNvPr id="92" name="Submit"/>
                  <p:cNvSpPr/>
                  <p:nvPr/>
                </p:nvSpPr>
                <p:spPr>
                  <a:xfrm>
                    <a:off x="4375150" y="4495800"/>
                    <a:ext cx="1219200" cy="2349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66CC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93" name="Label"/>
                  <p:cNvSpPr txBox="1"/>
                  <p:nvPr/>
                </p:nvSpPr>
                <p:spPr>
                  <a:xfrm>
                    <a:off x="4908550" y="4559300"/>
                    <a:ext cx="152400" cy="10795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ctr">
                      <a:lnSpc>
                        <a:spcPts val="850"/>
                      </a:lnSpc>
                      <a:spcBef>
                        <a:spcPts val="0"/>
                      </a:spcBef>
                    </a:pPr>
                    <a:r>
                      <a:rPr lang="ko-KR" altLang="en-US" sz="700" b="0" spc="-5">
                        <a:solidFill>
                          <a:srgbClr val="FFFFFF"/>
                        </a:solidFill>
                        <a:latin typeface="Pretendard SemiBold" pitchFamily="50" charset="-127"/>
                        <a:ea typeface="Pretendard SemiBold" pitchFamily="50" charset="-127"/>
                        <a:cs typeface="Pretendard SemiBold" pitchFamily="50" charset="-127"/>
                      </a:rPr>
                      <a:t>제출</a:t>
                    </a:r>
                  </a:p>
                </p:txBody>
              </p:sp>
            </p:grpSp>
          </p:grpSp>
        </p:grpSp>
        <p:sp>
          <p:nvSpPr>
            <p:cNvPr id="94" name="Label"/>
            <p:cNvSpPr txBox="1"/>
            <p:nvPr/>
          </p:nvSpPr>
          <p:spPr>
            <a:xfrm>
              <a:off x="4679950" y="4965700"/>
              <a:ext cx="609600" cy="196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550"/>
                </a:lnSpc>
                <a:spcBef>
                  <a:spcPts val="0"/>
                </a:spcBef>
              </a:pPr>
              <a:r>
                <a:rPr lang="ko-KR" altLang="en-US" sz="13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확인·제출</a:t>
              </a:r>
            </a:p>
          </p:txBody>
        </p:sp>
      </p:grpSp>
      <p:sp>
        <p:nvSpPr>
          <p:cNvPr id="95" name="Divider"/>
          <p:cNvSpPr/>
          <p:nvPr/>
        </p:nvSpPr>
        <p:spPr>
          <a:xfrm>
            <a:off x="6096000" y="1079500"/>
            <a:ext cx="6350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6" name="Step 02"/>
          <p:cNvGrpSpPr/>
          <p:nvPr/>
        </p:nvGrpSpPr>
        <p:grpSpPr>
          <a:xfrm>
            <a:off x="6477000" y="952500"/>
            <a:ext cx="5080000" cy="3911600"/>
            <a:chOff x="6477000" y="952500"/>
            <a:chExt cx="5080000" cy="3911600"/>
          </a:xfrm>
        </p:grpSpPr>
        <p:sp>
          <p:nvSpPr>
            <p:cNvPr id="97" name="Step"/>
            <p:cNvSpPr txBox="1"/>
            <p:nvPr/>
          </p:nvSpPr>
          <p:spPr>
            <a:xfrm>
              <a:off x="6477000" y="952500"/>
              <a:ext cx="615950" cy="2095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650"/>
                </a:lnSpc>
                <a:spcBef>
                  <a:spcPts val="0"/>
                </a:spcBef>
              </a:pPr>
              <a:r>
                <a:rPr lang="ko-KR" altLang="en-US" sz="14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step 02</a:t>
              </a:r>
            </a:p>
          </p:txBody>
        </p:sp>
        <p:sp>
          <p:nvSpPr>
            <p:cNvPr id="98" name="Who"/>
            <p:cNvSpPr txBox="1"/>
            <p:nvPr/>
          </p:nvSpPr>
          <p:spPr>
            <a:xfrm>
              <a:off x="6477000" y="1200150"/>
              <a:ext cx="901700" cy="4254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3350"/>
                </a:lnSpc>
                <a:spcBef>
                  <a:spcPts val="0"/>
                </a:spcBef>
              </a:pPr>
              <a:r>
                <a:rPr lang="ko-KR" altLang="en-US" sz="2800" b="0" spc="-56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담당자</a:t>
              </a:r>
            </a:p>
          </p:txBody>
        </p:sp>
        <p:grpSp>
          <p:nvGrpSpPr>
            <p:cNvPr id="99" name="Review Window"/>
            <p:cNvGrpSpPr/>
            <p:nvPr/>
          </p:nvGrpSpPr>
          <p:grpSpPr>
            <a:xfrm>
              <a:off x="6477000" y="1879600"/>
              <a:ext cx="5080000" cy="2984500"/>
              <a:chOff x="6477000" y="1879600"/>
              <a:chExt cx="5080000" cy="2984500"/>
            </a:xfrm>
          </p:grpSpPr>
          <p:sp>
            <p:nvSpPr>
              <p:cNvPr id="100" name="Review Window"/>
              <p:cNvSpPr/>
              <p:nvPr/>
            </p:nvSpPr>
            <p:spPr>
              <a:xfrm>
                <a:off x="6480175" y="1882775"/>
                <a:ext cx="5073650" cy="2978150"/>
              </a:xfrm>
              <a:prstGeom prst="roundRect">
                <a:avLst>
                  <a:gd name="adj" fmla="val 3837"/>
                </a:avLst>
              </a:prstGeom>
              <a:solidFill>
                <a:srgbClr val="FFFFFF"/>
              </a:solidFill>
              <a:ln w="6350">
                <a:solidFill>
                  <a:srgbClr val="E0E0E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101" name="Title Bar"/>
              <p:cNvGrpSpPr/>
              <p:nvPr/>
            </p:nvGrpSpPr>
            <p:grpSpPr>
              <a:xfrm>
                <a:off x="6477000" y="1879600"/>
                <a:ext cx="5080000" cy="254000"/>
                <a:chOff x="6477000" y="1879600"/>
                <a:chExt cx="5080000" cy="254000"/>
              </a:xfrm>
            </p:grpSpPr>
            <p:sp>
              <p:nvSpPr>
                <p:cNvPr id="102" name="Title Bar"/>
                <p:cNvSpPr/>
                <p:nvPr/>
              </p:nvSpPr>
              <p:spPr>
                <a:xfrm>
                  <a:off x="6477000" y="1879600"/>
                  <a:ext cx="5080000" cy="254000"/>
                </a:xfrm>
                <a:prstGeom prst="round2SameRect">
                  <a:avLst>
                    <a:gd name="adj1" fmla="val 45000"/>
                    <a:gd name="adj2" fmla="val 0"/>
                  </a:avLst>
                </a:prstGeom>
                <a:solidFill>
                  <a:srgbClr val="F5F5F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3" name="Dot"/>
                <p:cNvSpPr/>
                <p:nvPr/>
              </p:nvSpPr>
              <p:spPr>
                <a:xfrm>
                  <a:off x="6578600" y="1971675"/>
                  <a:ext cx="69850" cy="69850"/>
                </a:xfrm>
                <a:prstGeom prst="ellipse">
                  <a:avLst/>
                </a:prstGeom>
                <a:solidFill>
                  <a:srgbClr val="D2D2D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4" name="Dot"/>
                <p:cNvSpPr/>
                <p:nvPr/>
              </p:nvSpPr>
              <p:spPr>
                <a:xfrm>
                  <a:off x="6699250" y="1971675"/>
                  <a:ext cx="69850" cy="69850"/>
                </a:xfrm>
                <a:prstGeom prst="ellipse">
                  <a:avLst/>
                </a:prstGeom>
                <a:solidFill>
                  <a:srgbClr val="D2D2D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5" name="Dot"/>
                <p:cNvSpPr/>
                <p:nvPr/>
              </p:nvSpPr>
              <p:spPr>
                <a:xfrm>
                  <a:off x="6819900" y="1971675"/>
                  <a:ext cx="69850" cy="69850"/>
                </a:xfrm>
                <a:prstGeom prst="ellipse">
                  <a:avLst/>
                </a:prstGeom>
                <a:solidFill>
                  <a:srgbClr val="D2D2D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6" name="Window Title"/>
                <p:cNvSpPr txBox="1"/>
                <p:nvPr/>
              </p:nvSpPr>
              <p:spPr>
                <a:xfrm>
                  <a:off x="6940550" y="1952625"/>
                  <a:ext cx="330200" cy="1079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850"/>
                    </a:lnSpc>
                    <a:spcBef>
                      <a:spcPts val="0"/>
                    </a:spcBef>
                  </a:pPr>
                  <a:r>
                    <a:rPr lang="ko-KR" altLang="en-US" sz="700" b="0" spc="-5">
                      <a:solidFill>
                        <a:srgbClr val="333333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증빙 검수</a:t>
                  </a:r>
                </a:p>
              </p:txBody>
            </p:sp>
          </p:grpSp>
          <p:grpSp>
            <p:nvGrpSpPr>
              <p:cNvPr id="107" name="List"/>
              <p:cNvGrpSpPr/>
              <p:nvPr/>
            </p:nvGrpSpPr>
            <p:grpSpPr>
              <a:xfrm>
                <a:off x="6477000" y="2133600"/>
                <a:ext cx="1714500" cy="2730500"/>
                <a:chOff x="6477000" y="2133600"/>
                <a:chExt cx="1714500" cy="2730500"/>
              </a:xfrm>
            </p:grpSpPr>
            <p:sp>
              <p:nvSpPr>
                <p:cNvPr id="108" name="List"/>
                <p:cNvSpPr/>
                <p:nvPr/>
              </p:nvSpPr>
              <p:spPr>
                <a:xfrm>
                  <a:off x="6477000" y="2133600"/>
                  <a:ext cx="1714500" cy="2730500"/>
                </a:xfrm>
                <a:prstGeom prst="rect">
                  <a:avLst/>
                </a:prstGeom>
                <a:solidFill>
                  <a:srgbClr val="FAFAFC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9" name="List 테두리"/>
                <p:cNvSpPr/>
                <p:nvPr/>
              </p:nvSpPr>
              <p:spPr>
                <a:xfrm>
                  <a:off x="8185150" y="2133600"/>
                  <a:ext cx="6350" cy="2730500"/>
                </a:xfrm>
                <a:prstGeom prst="rect">
                  <a:avLst/>
                </a:prstGeom>
                <a:solidFill>
                  <a:srgbClr val="F0F0F0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grpSp>
              <p:nvGrpSpPr>
                <p:cNvPr id="110" name="Status Filter"/>
                <p:cNvGrpSpPr/>
                <p:nvPr/>
              </p:nvGrpSpPr>
              <p:grpSpPr>
                <a:xfrm>
                  <a:off x="6565900" y="2222500"/>
                  <a:ext cx="1536700" cy="215900"/>
                  <a:chOff x="6565900" y="2222500"/>
                  <a:chExt cx="1536700" cy="215900"/>
                </a:xfrm>
              </p:grpSpPr>
              <p:sp>
                <p:nvSpPr>
                  <p:cNvPr id="111" name="Status Filter"/>
                  <p:cNvSpPr/>
                  <p:nvPr/>
                </p:nvSpPr>
                <p:spPr>
                  <a:xfrm>
                    <a:off x="6565900" y="2222500"/>
                    <a:ext cx="1536700" cy="215900"/>
                  </a:xfrm>
                  <a:prstGeom prst="roundRect">
                    <a:avLst>
                      <a:gd name="adj" fmla="val 29411"/>
                    </a:avLst>
                  </a:prstGeom>
                  <a:solidFill>
                    <a:srgbClr val="F0F0F0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grpSp>
                <p:nvGrpSpPr>
                  <p:cNvPr id="112" name="Filter 제출"/>
                  <p:cNvGrpSpPr/>
                  <p:nvPr/>
                </p:nvGrpSpPr>
                <p:grpSpPr>
                  <a:xfrm>
                    <a:off x="6584950" y="2241550"/>
                    <a:ext cx="499554" cy="177800"/>
                    <a:chOff x="6584950" y="2241550"/>
                    <a:chExt cx="499554" cy="177800"/>
                  </a:xfrm>
                </p:grpSpPr>
                <p:sp>
                  <p:nvSpPr>
                    <p:cNvPr id="113" name="Filter 제출"/>
                    <p:cNvSpPr/>
                    <p:nvPr/>
                  </p:nvSpPr>
                  <p:spPr>
                    <a:xfrm>
                      <a:off x="6584950" y="2241550"/>
                      <a:ext cx="499554" cy="177800"/>
                    </a:xfrm>
                    <a:prstGeom prst="roundRect">
                      <a:avLst>
                        <a:gd name="adj" fmla="val 28571"/>
                      </a:avLst>
                    </a:pr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rtlCol="0" anchor="ctr"/>
                    <a:lstStyle/>
                    <a:p>
                      <a:pPr algn="ctr"/>
                      <a:endParaRPr/>
                    </a:p>
                  </p:txBody>
                </p:sp>
                <p:sp>
                  <p:nvSpPr>
                    <p:cNvPr id="114" name="Label"/>
                    <p:cNvSpPr txBox="1"/>
                    <p:nvPr/>
                  </p:nvSpPr>
                  <p:spPr>
                    <a:xfrm>
                      <a:off x="6761670" y="2279650"/>
                      <a:ext cx="146050" cy="10160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650" b="0" spc="-5">
                          <a:solidFill>
                            <a:srgbClr val="1D1D1F"/>
                          </a:solidFill>
                          <a:latin typeface="Pretendard SemiBold" pitchFamily="50" charset="-127"/>
                          <a:ea typeface="Pretendard SemiBold" pitchFamily="50" charset="-127"/>
                          <a:cs typeface="Pretendard SemiBold" pitchFamily="50" charset="-127"/>
                        </a:rPr>
                        <a:t>제출</a:t>
                      </a:r>
                    </a:p>
                  </p:txBody>
                </p:sp>
              </p:grpSp>
              <p:sp>
                <p:nvSpPr>
                  <p:cNvPr id="115" name="Label"/>
                  <p:cNvSpPr txBox="1"/>
                  <p:nvPr/>
                </p:nvSpPr>
                <p:spPr>
                  <a:xfrm>
                    <a:off x="7181850" y="2279650"/>
                    <a:ext cx="304800" cy="1016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ctr">
                      <a:lnSpc>
                        <a:spcPts val="80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7A7A7A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보완 요청</a:t>
                    </a:r>
                  </a:p>
                </p:txBody>
              </p:sp>
              <p:sp>
                <p:nvSpPr>
                  <p:cNvPr id="116" name="Label"/>
                  <p:cNvSpPr txBox="1"/>
                  <p:nvPr/>
                </p:nvSpPr>
                <p:spPr>
                  <a:xfrm>
                    <a:off x="7760780" y="2279650"/>
                    <a:ext cx="146050" cy="1016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ctr">
                      <a:lnSpc>
                        <a:spcPts val="80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7A7A7A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승인</a:t>
                    </a:r>
                  </a:p>
                </p:txBody>
              </p:sp>
            </p:grpSp>
            <p:grpSp>
              <p:nvGrpSpPr>
                <p:cNvPr id="117" name="Item 이도윤"/>
                <p:cNvGrpSpPr/>
                <p:nvPr/>
              </p:nvGrpSpPr>
              <p:grpSpPr>
                <a:xfrm>
                  <a:off x="6565900" y="2501900"/>
                  <a:ext cx="1536700" cy="393700"/>
                  <a:chOff x="6565900" y="2501900"/>
                  <a:chExt cx="1536700" cy="393700"/>
                </a:xfrm>
              </p:grpSpPr>
              <p:sp>
                <p:nvSpPr>
                  <p:cNvPr id="118" name="Item 이도윤"/>
                  <p:cNvSpPr/>
                  <p:nvPr/>
                </p:nvSpPr>
                <p:spPr>
                  <a:xfrm>
                    <a:off x="6565900" y="2501900"/>
                    <a:ext cx="1536700" cy="393700"/>
                  </a:xfrm>
                  <a:prstGeom prst="roundRect">
                    <a:avLst>
                      <a:gd name="adj" fmla="val 19354"/>
                    </a:avLst>
                  </a:prstGeom>
                  <a:solidFill>
                    <a:srgbClr val="EBF3FB"/>
                  </a:solidFill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19" name="Name"/>
                  <p:cNvSpPr txBox="1"/>
                  <p:nvPr/>
                </p:nvSpPr>
                <p:spPr>
                  <a:xfrm>
                    <a:off x="6642100" y="2578100"/>
                    <a:ext cx="247650" cy="1143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l">
                      <a:lnSpc>
                        <a:spcPts val="900"/>
                      </a:lnSpc>
                      <a:spcBef>
                        <a:spcPts val="0"/>
                      </a:spcBef>
                    </a:pPr>
                    <a:r>
                      <a:rPr lang="ko-KR" altLang="en-US" sz="750" b="0" spc="-5">
                        <a:solidFill>
                          <a:srgbClr val="1D1D1F"/>
                        </a:solidFill>
                        <a:latin typeface="Pretendard SemiBold" pitchFamily="50" charset="-127"/>
                        <a:ea typeface="Pretendard SemiBold" pitchFamily="50" charset="-127"/>
                        <a:cs typeface="Pretendard SemiBold" pitchFamily="50" charset="-127"/>
                      </a:rPr>
                      <a:t>이도윤</a:t>
                    </a:r>
                  </a:p>
                </p:txBody>
              </p:sp>
              <p:sp>
                <p:nvSpPr>
                  <p:cNvPr id="120" name="Amount"/>
                  <p:cNvSpPr txBox="1"/>
                  <p:nvPr/>
                </p:nvSpPr>
                <p:spPr>
                  <a:xfrm>
                    <a:off x="7620000" y="2578100"/>
                    <a:ext cx="406400" cy="1143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r">
                      <a:lnSpc>
                        <a:spcPts val="900"/>
                      </a:lnSpc>
                      <a:spcBef>
                        <a:spcPts val="0"/>
                      </a:spcBef>
                    </a:pPr>
                    <a:r>
                      <a:rPr lang="ko-KR" altLang="en-US" sz="750" b="0" spc="-5">
                        <a:solidFill>
                          <a:srgbClr val="1D1D1F"/>
                        </a:solidFill>
                        <a:latin typeface="Pretendard SemiBold" pitchFamily="50" charset="-127"/>
                        <a:ea typeface="Pretendard SemiBold" pitchFamily="50" charset="-127"/>
                        <a:cs typeface="Pretendard SemiBold" pitchFamily="50" charset="-127"/>
                      </a:rPr>
                      <a:t>₩48,000</a:t>
                    </a:r>
                  </a:p>
                </p:txBody>
              </p:sp>
              <p:sp>
                <p:nvSpPr>
                  <p:cNvPr id="121" name="Meta"/>
                  <p:cNvSpPr txBox="1"/>
                  <p:nvPr/>
                </p:nvSpPr>
                <p:spPr>
                  <a:xfrm>
                    <a:off x="6642100" y="2717800"/>
                    <a:ext cx="476250" cy="1016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l">
                      <a:lnSpc>
                        <a:spcPts val="800"/>
                      </a:lnSpc>
                      <a:spcBef>
                        <a:spcPts val="0"/>
                      </a:spcBef>
                    </a:pPr>
                    <a:r>
                      <a:rPr lang="ko-KR" altLang="en-US" sz="650" b="0" spc="-5">
                        <a:solidFill>
                          <a:srgbClr val="7A7A7A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rPr>
                      <a:t>개발팀 · 10.08</a:t>
                    </a:r>
                  </a:p>
                </p:txBody>
              </p:sp>
            </p:grpSp>
            <p:sp>
              <p:nvSpPr>
                <p:cNvPr id="122" name="Name"/>
                <p:cNvSpPr txBox="1"/>
                <p:nvPr/>
              </p:nvSpPr>
              <p:spPr>
                <a:xfrm>
                  <a:off x="6642100" y="3035300"/>
                  <a:ext cx="247650" cy="1143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900"/>
                    </a:lnSpc>
                    <a:spcBef>
                      <a:spcPts val="0"/>
                    </a:spcBef>
                  </a:pPr>
                  <a:r>
                    <a:rPr lang="ko-KR" altLang="en-US" sz="750" b="0" spc="-5">
                      <a:solidFill>
                        <a:srgbClr val="1D1D1F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최서연</a:t>
                  </a:r>
                </a:p>
              </p:txBody>
            </p:sp>
            <p:sp>
              <p:nvSpPr>
                <p:cNvPr id="123" name="Amount"/>
                <p:cNvSpPr txBox="1"/>
                <p:nvPr/>
              </p:nvSpPr>
              <p:spPr>
                <a:xfrm>
                  <a:off x="7575550" y="3035300"/>
                  <a:ext cx="450850" cy="1143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r">
                    <a:lnSpc>
                      <a:spcPts val="900"/>
                    </a:lnSpc>
                    <a:spcBef>
                      <a:spcPts val="0"/>
                    </a:spcBef>
                  </a:pPr>
                  <a:r>
                    <a:rPr lang="ko-KR" altLang="en-US" sz="750" b="0" spc="-5">
                      <a:solidFill>
                        <a:srgbClr val="1D1D1F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₩126,500</a:t>
                  </a:r>
                </a:p>
              </p:txBody>
            </p:sp>
            <p:sp>
              <p:nvSpPr>
                <p:cNvPr id="124" name="Meta"/>
                <p:cNvSpPr txBox="1"/>
                <p:nvPr/>
              </p:nvSpPr>
              <p:spPr>
                <a:xfrm>
                  <a:off x="6642100" y="3175000"/>
                  <a:ext cx="469900" cy="101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800"/>
                    </a:lnSpc>
                    <a:spcBef>
                      <a:spcPts val="0"/>
                    </a:spcBef>
                  </a:pPr>
                  <a:r>
                    <a:rPr lang="ko-KR" altLang="en-US" sz="650" b="0" spc="-5">
                      <a:solidFill>
                        <a:srgbClr val="7A7A7A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영업팀 · 10.07</a:t>
                  </a:r>
                </a:p>
              </p:txBody>
            </p:sp>
            <p:sp>
              <p:nvSpPr>
                <p:cNvPr id="125" name="Name"/>
                <p:cNvSpPr txBox="1"/>
                <p:nvPr/>
              </p:nvSpPr>
              <p:spPr>
                <a:xfrm>
                  <a:off x="6642100" y="3492500"/>
                  <a:ext cx="247650" cy="1143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900"/>
                    </a:lnSpc>
                    <a:spcBef>
                      <a:spcPts val="0"/>
                    </a:spcBef>
                  </a:pPr>
                  <a:r>
                    <a:rPr lang="ko-KR" altLang="en-US" sz="750" b="0" spc="-5">
                      <a:solidFill>
                        <a:srgbClr val="1D1D1F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한지민</a:t>
                  </a:r>
                </a:p>
              </p:txBody>
            </p:sp>
            <p:sp>
              <p:nvSpPr>
                <p:cNvPr id="126" name="Amount"/>
                <p:cNvSpPr txBox="1"/>
                <p:nvPr/>
              </p:nvSpPr>
              <p:spPr>
                <a:xfrm>
                  <a:off x="7677150" y="3492500"/>
                  <a:ext cx="349250" cy="1143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r">
                    <a:lnSpc>
                      <a:spcPts val="900"/>
                    </a:lnSpc>
                    <a:spcBef>
                      <a:spcPts val="0"/>
                    </a:spcBef>
                  </a:pPr>
                  <a:r>
                    <a:rPr lang="ko-KR" altLang="en-US" sz="750" b="0" spc="-5">
                      <a:solidFill>
                        <a:srgbClr val="1D1D1F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₩9,800</a:t>
                  </a:r>
                </a:p>
              </p:txBody>
            </p:sp>
            <p:sp>
              <p:nvSpPr>
                <p:cNvPr id="127" name="Meta"/>
                <p:cNvSpPr txBox="1"/>
                <p:nvPr/>
              </p:nvSpPr>
              <p:spPr>
                <a:xfrm>
                  <a:off x="6642100" y="3632200"/>
                  <a:ext cx="469900" cy="101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800"/>
                    </a:lnSpc>
                    <a:spcBef>
                      <a:spcPts val="0"/>
                    </a:spcBef>
                  </a:pPr>
                  <a:r>
                    <a:rPr lang="ko-KR" altLang="en-US" sz="650" b="0" spc="-5">
                      <a:solidFill>
                        <a:srgbClr val="7A7A7A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기획팀 · 10.07</a:t>
                  </a:r>
                </a:p>
              </p:txBody>
            </p:sp>
          </p:grpSp>
          <p:pic>
            <p:nvPicPr>
              <p:cNvPr id="128" name="Receipt Image" descr="receipt-example.png"/>
              <p:cNvPicPr>
                <a:picLocks noChangeAspect="1"/>
              </p:cNvPicPr>
              <p:nvPr/>
            </p:nvPicPr>
            <p:blipFill>
              <a:blip r:embed="rId3"/>
              <a:srcRect l="24342" r="24342"/>
              <a:stretch>
                <a:fillRect/>
              </a:stretch>
            </p:blipFill>
            <p:spPr>
              <a:xfrm>
                <a:off x="8318500" y="2260600"/>
                <a:ext cx="825500" cy="1206500"/>
              </a:xfrm>
              <a:prstGeom prst="roundRect">
                <a:avLst>
                  <a:gd name="adj" fmla="val 6153"/>
                </a:avLst>
              </a:prstGeom>
            </p:spPr>
          </p:pic>
          <p:grpSp>
            <p:nvGrpSpPr>
              <p:cNvPr id="129" name="Field 상호명"/>
              <p:cNvGrpSpPr/>
              <p:nvPr/>
            </p:nvGrpSpPr>
            <p:grpSpPr>
              <a:xfrm>
                <a:off x="9258300" y="2311400"/>
                <a:ext cx="2171700" cy="158750"/>
                <a:chOff x="9258300" y="2311400"/>
                <a:chExt cx="2171700" cy="158750"/>
              </a:xfrm>
            </p:grpSpPr>
            <p:sp>
              <p:nvSpPr>
                <p:cNvPr id="130" name="Field 상호명 테두리"/>
                <p:cNvSpPr/>
                <p:nvPr/>
              </p:nvSpPr>
              <p:spPr>
                <a:xfrm>
                  <a:off x="9258300" y="2463800"/>
                  <a:ext cx="2171700" cy="6350"/>
                </a:xfrm>
                <a:prstGeom prst="rect">
                  <a:avLst/>
                </a:prstGeom>
                <a:solidFill>
                  <a:srgbClr val="F0F0F0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1" name="Key"/>
                <p:cNvSpPr txBox="1"/>
                <p:nvPr/>
              </p:nvSpPr>
              <p:spPr>
                <a:xfrm>
                  <a:off x="9258300" y="2311400"/>
                  <a:ext cx="215900" cy="101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800"/>
                    </a:lnSpc>
                    <a:spcBef>
                      <a:spcPts val="0"/>
                    </a:spcBef>
                  </a:pPr>
                  <a:r>
                    <a:rPr lang="ko-KR" altLang="en-US" sz="650" b="0" spc="-5">
                      <a:solidFill>
                        <a:srgbClr val="7A7A7A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상호명</a:t>
                  </a:r>
                </a:p>
              </p:txBody>
            </p:sp>
            <p:sp>
              <p:nvSpPr>
                <p:cNvPr id="132" name="Value"/>
                <p:cNvSpPr txBox="1"/>
                <p:nvPr/>
              </p:nvSpPr>
              <p:spPr>
                <a:xfrm>
                  <a:off x="11125200" y="2311400"/>
                  <a:ext cx="304800" cy="1079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r">
                    <a:lnSpc>
                      <a:spcPts val="850"/>
                    </a:lnSpc>
                    <a:spcBef>
                      <a:spcPts val="0"/>
                    </a:spcBef>
                  </a:pPr>
                  <a:r>
                    <a:rPr lang="ko-KR" altLang="en-US" sz="700" b="0" spc="-5">
                      <a:solidFill>
                        <a:srgbClr val="1D1D1F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가온식당</a:t>
                  </a:r>
                </a:p>
              </p:txBody>
            </p:sp>
          </p:grpSp>
          <p:grpSp>
            <p:nvGrpSpPr>
              <p:cNvPr id="133" name="Field 거래 일시"/>
              <p:cNvGrpSpPr/>
              <p:nvPr/>
            </p:nvGrpSpPr>
            <p:grpSpPr>
              <a:xfrm>
                <a:off x="9258300" y="2520950"/>
                <a:ext cx="2171700" cy="158750"/>
                <a:chOff x="9258300" y="2520950"/>
                <a:chExt cx="2171700" cy="158750"/>
              </a:xfrm>
            </p:grpSpPr>
            <p:sp>
              <p:nvSpPr>
                <p:cNvPr id="134" name="Field 거래 일시 테두리"/>
                <p:cNvSpPr/>
                <p:nvPr/>
              </p:nvSpPr>
              <p:spPr>
                <a:xfrm>
                  <a:off x="9258300" y="2673350"/>
                  <a:ext cx="2171700" cy="6350"/>
                </a:xfrm>
                <a:prstGeom prst="rect">
                  <a:avLst/>
                </a:prstGeom>
                <a:solidFill>
                  <a:srgbClr val="F0F0F0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5" name="Key"/>
                <p:cNvSpPr txBox="1"/>
                <p:nvPr/>
              </p:nvSpPr>
              <p:spPr>
                <a:xfrm>
                  <a:off x="9258300" y="2520950"/>
                  <a:ext cx="304800" cy="101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800"/>
                    </a:lnSpc>
                    <a:spcBef>
                      <a:spcPts val="0"/>
                    </a:spcBef>
                  </a:pPr>
                  <a:r>
                    <a:rPr lang="ko-KR" altLang="en-US" sz="650" b="0" spc="-5">
                      <a:solidFill>
                        <a:srgbClr val="7A7A7A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거래 일시</a:t>
                  </a:r>
                </a:p>
              </p:txBody>
            </p:sp>
            <p:sp>
              <p:nvSpPr>
                <p:cNvPr id="136" name="Value"/>
                <p:cNvSpPr txBox="1"/>
                <p:nvPr/>
              </p:nvSpPr>
              <p:spPr>
                <a:xfrm>
                  <a:off x="10737850" y="2520950"/>
                  <a:ext cx="692150" cy="1079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r">
                    <a:lnSpc>
                      <a:spcPts val="850"/>
                    </a:lnSpc>
                    <a:spcBef>
                      <a:spcPts val="0"/>
                    </a:spcBef>
                  </a:pPr>
                  <a:r>
                    <a:rPr lang="ko-KR" altLang="en-US" sz="700" b="0" spc="-5">
                      <a:solidFill>
                        <a:srgbClr val="1D1D1F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2026.10.08 12:41</a:t>
                  </a:r>
                </a:p>
              </p:txBody>
            </p:sp>
          </p:grpSp>
          <p:grpSp>
            <p:nvGrpSpPr>
              <p:cNvPr id="137" name="Field 총액"/>
              <p:cNvGrpSpPr/>
              <p:nvPr/>
            </p:nvGrpSpPr>
            <p:grpSpPr>
              <a:xfrm>
                <a:off x="9258300" y="2730500"/>
                <a:ext cx="2171700" cy="158750"/>
                <a:chOff x="9258300" y="2730500"/>
                <a:chExt cx="2171700" cy="158750"/>
              </a:xfrm>
            </p:grpSpPr>
            <p:sp>
              <p:nvSpPr>
                <p:cNvPr id="138" name="Field 총액 테두리"/>
                <p:cNvSpPr/>
                <p:nvPr/>
              </p:nvSpPr>
              <p:spPr>
                <a:xfrm>
                  <a:off x="9258300" y="2882900"/>
                  <a:ext cx="2171700" cy="6350"/>
                </a:xfrm>
                <a:prstGeom prst="rect">
                  <a:avLst/>
                </a:prstGeom>
                <a:solidFill>
                  <a:srgbClr val="F0F0F0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9" name="Key"/>
                <p:cNvSpPr txBox="1"/>
                <p:nvPr/>
              </p:nvSpPr>
              <p:spPr>
                <a:xfrm>
                  <a:off x="9258300" y="2730500"/>
                  <a:ext cx="146050" cy="101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800"/>
                    </a:lnSpc>
                    <a:spcBef>
                      <a:spcPts val="0"/>
                    </a:spcBef>
                  </a:pPr>
                  <a:r>
                    <a:rPr lang="ko-KR" altLang="en-US" sz="650" b="0" spc="-5">
                      <a:solidFill>
                        <a:srgbClr val="7A7A7A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총액</a:t>
                  </a:r>
                </a:p>
              </p:txBody>
            </p:sp>
            <p:sp>
              <p:nvSpPr>
                <p:cNvPr id="140" name="Value"/>
                <p:cNvSpPr txBox="1"/>
                <p:nvPr/>
              </p:nvSpPr>
              <p:spPr>
                <a:xfrm>
                  <a:off x="11049000" y="2730500"/>
                  <a:ext cx="381000" cy="1079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r">
                    <a:lnSpc>
                      <a:spcPts val="850"/>
                    </a:lnSpc>
                    <a:spcBef>
                      <a:spcPts val="0"/>
                    </a:spcBef>
                  </a:pPr>
                  <a:r>
                    <a:rPr lang="ko-KR" altLang="en-US" sz="700" b="0" spc="-5">
                      <a:solidFill>
                        <a:srgbClr val="1D1D1F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₩48,000</a:t>
                  </a:r>
                </a:p>
              </p:txBody>
            </p:sp>
          </p:grpSp>
          <p:grpSp>
            <p:nvGrpSpPr>
              <p:cNvPr id="141" name="Field 지출 목적"/>
              <p:cNvGrpSpPr/>
              <p:nvPr/>
            </p:nvGrpSpPr>
            <p:grpSpPr>
              <a:xfrm>
                <a:off x="9258300" y="2940050"/>
                <a:ext cx="2171700" cy="158750"/>
                <a:chOff x="9258300" y="2940050"/>
                <a:chExt cx="2171700" cy="158750"/>
              </a:xfrm>
            </p:grpSpPr>
            <p:sp>
              <p:nvSpPr>
                <p:cNvPr id="142" name="Field 지출 목적 테두리"/>
                <p:cNvSpPr/>
                <p:nvPr/>
              </p:nvSpPr>
              <p:spPr>
                <a:xfrm>
                  <a:off x="9258300" y="3092450"/>
                  <a:ext cx="2171700" cy="6350"/>
                </a:xfrm>
                <a:prstGeom prst="rect">
                  <a:avLst/>
                </a:prstGeom>
                <a:solidFill>
                  <a:srgbClr val="F0F0F0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3" name="Key"/>
                <p:cNvSpPr txBox="1"/>
                <p:nvPr/>
              </p:nvSpPr>
              <p:spPr>
                <a:xfrm>
                  <a:off x="9258300" y="2940050"/>
                  <a:ext cx="304800" cy="101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800"/>
                    </a:lnSpc>
                    <a:spcBef>
                      <a:spcPts val="0"/>
                    </a:spcBef>
                  </a:pPr>
                  <a:r>
                    <a:rPr lang="ko-KR" altLang="en-US" sz="650" b="0" spc="-5">
                      <a:solidFill>
                        <a:srgbClr val="7A7A7A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지출 목적</a:t>
                  </a:r>
                </a:p>
              </p:txBody>
            </p:sp>
            <p:sp>
              <p:nvSpPr>
                <p:cNvPr id="144" name="Value"/>
                <p:cNvSpPr txBox="1"/>
                <p:nvPr/>
              </p:nvSpPr>
              <p:spPr>
                <a:xfrm>
                  <a:off x="10833100" y="2940050"/>
                  <a:ext cx="596900" cy="1079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r">
                    <a:lnSpc>
                      <a:spcPts val="850"/>
                    </a:lnSpc>
                    <a:spcBef>
                      <a:spcPts val="0"/>
                    </a:spcBef>
                  </a:pPr>
                  <a:r>
                    <a:rPr lang="ko-KR" altLang="en-US" sz="700" b="0" spc="-5">
                      <a:solidFill>
                        <a:srgbClr val="1D1D1F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팀 주간 회의 다과</a:t>
                  </a:r>
                </a:p>
              </p:txBody>
            </p:sp>
          </p:grpSp>
          <p:grpSp>
            <p:nvGrpSpPr>
              <p:cNvPr id="145" name="Field 부서"/>
              <p:cNvGrpSpPr/>
              <p:nvPr/>
            </p:nvGrpSpPr>
            <p:grpSpPr>
              <a:xfrm>
                <a:off x="9258300" y="3149600"/>
                <a:ext cx="2171700" cy="158750"/>
                <a:chOff x="9258300" y="3149600"/>
                <a:chExt cx="2171700" cy="158750"/>
              </a:xfrm>
            </p:grpSpPr>
            <p:sp>
              <p:nvSpPr>
                <p:cNvPr id="146" name="Field 부서 테두리"/>
                <p:cNvSpPr/>
                <p:nvPr/>
              </p:nvSpPr>
              <p:spPr>
                <a:xfrm>
                  <a:off x="9258300" y="3302000"/>
                  <a:ext cx="2171700" cy="6350"/>
                </a:xfrm>
                <a:prstGeom prst="rect">
                  <a:avLst/>
                </a:prstGeom>
                <a:solidFill>
                  <a:srgbClr val="F0F0F0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7" name="Key"/>
                <p:cNvSpPr txBox="1"/>
                <p:nvPr/>
              </p:nvSpPr>
              <p:spPr>
                <a:xfrm>
                  <a:off x="9258300" y="3149600"/>
                  <a:ext cx="146050" cy="101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lnSpc>
                      <a:spcPts val="800"/>
                    </a:lnSpc>
                    <a:spcBef>
                      <a:spcPts val="0"/>
                    </a:spcBef>
                  </a:pPr>
                  <a:r>
                    <a:rPr lang="ko-KR" altLang="en-US" sz="650" b="0" spc="-5">
                      <a:solidFill>
                        <a:srgbClr val="7A7A7A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부서</a:t>
                  </a:r>
                </a:p>
              </p:txBody>
            </p:sp>
            <p:sp>
              <p:nvSpPr>
                <p:cNvPr id="148" name="Value"/>
                <p:cNvSpPr txBox="1"/>
                <p:nvPr/>
              </p:nvSpPr>
              <p:spPr>
                <a:xfrm>
                  <a:off x="11201400" y="3149600"/>
                  <a:ext cx="228600" cy="1079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r">
                    <a:lnSpc>
                      <a:spcPts val="850"/>
                    </a:lnSpc>
                    <a:spcBef>
                      <a:spcPts val="0"/>
                    </a:spcBef>
                  </a:pPr>
                  <a:r>
                    <a:rPr lang="ko-KR" altLang="en-US" sz="700" b="0" spc="-5">
                      <a:solidFill>
                        <a:srgbClr val="1D1D1F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개발팀</a:t>
                  </a:r>
                </a:p>
              </p:txBody>
            </p:sp>
          </p:grpSp>
          <p:grpSp>
            <p:nvGrpSpPr>
              <p:cNvPr id="149" name="Sum Check"/>
              <p:cNvGrpSpPr/>
              <p:nvPr/>
            </p:nvGrpSpPr>
            <p:grpSpPr>
              <a:xfrm>
                <a:off x="8318500" y="3568700"/>
                <a:ext cx="1073150" cy="177800"/>
                <a:chOff x="8318500" y="3568700"/>
                <a:chExt cx="1073150" cy="177800"/>
              </a:xfrm>
            </p:grpSpPr>
            <p:sp>
              <p:nvSpPr>
                <p:cNvPr id="150" name="Sum Check"/>
                <p:cNvSpPr/>
                <p:nvPr/>
              </p:nvSpPr>
              <p:spPr>
                <a:xfrm>
                  <a:off x="8318500" y="3568700"/>
                  <a:ext cx="1073150" cy="177800"/>
                </a:xfrm>
                <a:prstGeom prst="roundRect">
                  <a:avLst>
                    <a:gd name="adj" fmla="val 28571"/>
                  </a:avLst>
                </a:prstGeom>
                <a:solidFill>
                  <a:srgbClr val="EEF9EF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1" name="Check"/>
                <p:cNvSpPr/>
                <p:nvPr/>
              </p:nvSpPr>
              <p:spPr>
                <a:xfrm>
                  <a:off x="8382000" y="3613150"/>
                  <a:ext cx="88900" cy="889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000" h="24000" fill="none">
                      <a:moveTo>
                        <a:pt x="20000" y="6000"/>
                      </a:moveTo>
                      <a:lnTo>
                        <a:pt x="9000" y="17000"/>
                      </a:lnTo>
                      <a:lnTo>
                        <a:pt x="4000" y="12000"/>
                      </a:lnTo>
                    </a:path>
                  </a:pathLst>
                </a:custGeom>
                <a:noFill/>
                <a:ln w="7408" cap="rnd">
                  <a:solidFill>
                    <a:srgbClr val="348F4F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2" name="Sum"/>
                <p:cNvSpPr txBox="1"/>
                <p:nvPr/>
              </p:nvSpPr>
              <p:spPr>
                <a:xfrm>
                  <a:off x="8509000" y="3606800"/>
                  <a:ext cx="819150" cy="101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r">
                    <a:lnSpc>
                      <a:spcPts val="800"/>
                    </a:lnSpc>
                    <a:spcBef>
                      <a:spcPts val="0"/>
                    </a:spcBef>
                  </a:pPr>
                  <a:r>
                    <a:rPr lang="ko-KR" altLang="en-US" sz="650" b="0" spc="-5">
                      <a:solidFill>
                        <a:srgbClr val="296A3B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공급가액 + 부가세 = 총액</a:t>
                  </a:r>
                </a:p>
              </p:txBody>
            </p:sp>
          </p:grpSp>
          <p:grpSp>
            <p:nvGrpSpPr>
              <p:cNvPr id="153" name="Approve"/>
              <p:cNvGrpSpPr/>
              <p:nvPr/>
            </p:nvGrpSpPr>
            <p:grpSpPr>
              <a:xfrm>
                <a:off x="8318500" y="3848100"/>
                <a:ext cx="495300" cy="241300"/>
                <a:chOff x="8318500" y="3848100"/>
                <a:chExt cx="495300" cy="241300"/>
              </a:xfrm>
            </p:grpSpPr>
            <p:sp>
              <p:nvSpPr>
                <p:cNvPr id="154" name="Approve"/>
                <p:cNvSpPr/>
                <p:nvPr/>
              </p:nvSpPr>
              <p:spPr>
                <a:xfrm>
                  <a:off x="8318500" y="3848100"/>
                  <a:ext cx="495300" cy="2413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66CC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5" name="Label"/>
                <p:cNvSpPr txBox="1"/>
                <p:nvPr/>
              </p:nvSpPr>
              <p:spPr>
                <a:xfrm>
                  <a:off x="8483600" y="3911600"/>
                  <a:ext cx="165100" cy="1143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900"/>
                    </a:lnSpc>
                    <a:spcBef>
                      <a:spcPts val="0"/>
                    </a:spcBef>
                  </a:pPr>
                  <a:r>
                    <a:rPr lang="ko-KR" altLang="en-US" sz="750" b="0" spc="-5">
                      <a:solidFill>
                        <a:srgbClr val="FFFFFF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승인</a:t>
                  </a:r>
                </a:p>
              </p:txBody>
            </p:sp>
          </p:grpSp>
          <p:grpSp>
            <p:nvGrpSpPr>
              <p:cNvPr id="156" name="Request"/>
              <p:cNvGrpSpPr/>
              <p:nvPr/>
            </p:nvGrpSpPr>
            <p:grpSpPr>
              <a:xfrm>
                <a:off x="8882062" y="3852862"/>
                <a:ext cx="619125" cy="231775"/>
                <a:chOff x="8882062" y="3852862"/>
                <a:chExt cx="619125" cy="231775"/>
              </a:xfrm>
            </p:grpSpPr>
            <p:sp>
              <p:nvSpPr>
                <p:cNvPr id="157" name="Request"/>
                <p:cNvSpPr/>
                <p:nvPr/>
              </p:nvSpPr>
              <p:spPr>
                <a:xfrm>
                  <a:off x="8882062" y="3852862"/>
                  <a:ext cx="619125" cy="231775"/>
                </a:xfrm>
                <a:prstGeom prst="roundRect">
                  <a:avLst>
                    <a:gd name="adj" fmla="val 50000"/>
                  </a:avLst>
                </a:prstGeom>
                <a:noFill/>
                <a:ln w="9525">
                  <a:solidFill>
                    <a:srgbClr val="0066CC"/>
                  </a:solidFill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8" name="Label"/>
                <p:cNvSpPr txBox="1"/>
                <p:nvPr/>
              </p:nvSpPr>
              <p:spPr>
                <a:xfrm>
                  <a:off x="9017000" y="3911600"/>
                  <a:ext cx="349250" cy="1143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900"/>
                    </a:lnSpc>
                    <a:spcBef>
                      <a:spcPts val="0"/>
                    </a:spcBef>
                  </a:pPr>
                  <a:r>
                    <a:rPr lang="ko-KR" altLang="en-US" sz="750" b="0" spc="-5">
                      <a:solidFill>
                        <a:srgbClr val="0066CC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보완 요청</a:t>
                  </a:r>
                </a:p>
              </p:txBody>
            </p:sp>
          </p:grpSp>
          <p:sp>
            <p:nvSpPr>
              <p:cNvPr id="159" name="History"/>
              <p:cNvSpPr txBox="1"/>
              <p:nvPr/>
            </p:nvSpPr>
            <p:spPr>
              <a:xfrm>
                <a:off x="8318500" y="4191000"/>
                <a:ext cx="990600" cy="101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800"/>
                  </a:lnSpc>
                  <a:spcBef>
                    <a:spcPts val="0"/>
                  </a:spcBef>
                </a:pPr>
                <a:r>
                  <a:rPr lang="ko-KR" altLang="en-US" sz="650" b="0" spc="-5">
                    <a:solidFill>
                      <a:srgbClr val="7A7A7A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처리 이력  ·  제출 10.08 13:02</a:t>
                </a:r>
              </a:p>
            </p:txBody>
          </p:sp>
        </p:grpSp>
      </p:grpSp>
      <p:sp>
        <p:nvSpPr>
          <p:cNvPr id="160" name="Loop Line"/>
          <p:cNvSpPr/>
          <p:nvPr/>
        </p:nvSpPr>
        <p:spPr>
          <a:xfrm>
            <a:off x="4984750" y="4902200"/>
            <a:ext cx="4206875" cy="1066800"/>
          </a:xfrm>
          <a:custGeom>
            <a:avLst/>
            <a:gdLst/>
            <a:ahLst/>
            <a:cxnLst/>
            <a:rect l="0" t="0" r="r" b="b"/>
            <a:pathLst>
              <a:path w="4206875" h="1066800" fill="none">
                <a:moveTo>
                  <a:pt x="4206875" y="0"/>
                </a:moveTo>
                <a:lnTo>
                  <a:pt x="4206875" y="952500"/>
                </a:lnTo>
                <a:quadBezTo>
                  <a:pt x="4206875" y="1066800"/>
                  <a:pt x="4092575" y="1066800"/>
                </a:quadBezTo>
                <a:lnTo>
                  <a:pt x="114300" y="1066800"/>
                </a:lnTo>
                <a:quadBezTo>
                  <a:pt x="0" y="1066800"/>
                  <a:pt x="0" y="952500"/>
                </a:quadBezTo>
                <a:lnTo>
                  <a:pt x="0" y="393700"/>
                </a:lnTo>
              </a:path>
            </a:pathLst>
          </a:custGeom>
          <a:noFill/>
          <a:ln w="19050" cap="rnd">
            <a:solidFill>
              <a:srgbClr val="0066CC"/>
            </a:solidFill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Loop Arrowhead"/>
          <p:cNvSpPr/>
          <p:nvPr/>
        </p:nvSpPr>
        <p:spPr>
          <a:xfrm>
            <a:off x="4902200" y="5219700"/>
            <a:ext cx="165100" cy="114300"/>
          </a:xfrm>
          <a:custGeom>
            <a:avLst/>
            <a:gdLst/>
            <a:ahLst/>
            <a:cxnLst/>
            <a:rect l="0" t="0" r="r" b="b"/>
            <a:pathLst>
              <a:path w="165100" h="114300">
                <a:moveTo>
                  <a:pt x="0" y="114300"/>
                </a:moveTo>
                <a:lnTo>
                  <a:pt x="82550" y="0"/>
                </a:lnTo>
                <a:lnTo>
                  <a:pt x="165100" y="114300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Label"/>
          <p:cNvSpPr txBox="1"/>
          <p:nvPr/>
        </p:nvSpPr>
        <p:spPr>
          <a:xfrm>
            <a:off x="6359525" y="6070600"/>
            <a:ext cx="1454150" cy="184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50"/>
              </a:lnSpc>
              <a:spcBef>
                <a:spcPts val="0"/>
              </a:spcBef>
            </a:pPr>
            <a:r>
              <a:rPr lang="ko-KR" altLang="en-US" sz="1200" b="0" spc="-15">
                <a:solidFill>
                  <a:srgbClr val="0066CC"/>
                </a:solidFill>
                <a:latin typeface="Pretendard SemiBold" pitchFamily="50" charset="-127"/>
                <a:ea typeface="Pretendard SemiBold" pitchFamily="50" charset="-127"/>
                <a:cs typeface="Pretendard SemiBold" pitchFamily="50" charset="-127"/>
              </a:rPr>
              <a:t>보완 요청 → 수정·재제출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ection Nav"/>
          <p:cNvGrpSpPr/>
          <p:nvPr/>
        </p:nvGrpSpPr>
        <p:grpSpPr>
          <a:xfrm>
            <a:off x="0" y="0"/>
            <a:ext cx="12192000" cy="406400"/>
            <a:chOff x="0" y="0"/>
            <a:chExt cx="12192000" cy="406400"/>
          </a:xfrm>
        </p:grpSpPr>
        <p:sp>
          <p:nvSpPr>
            <p:cNvPr id="3" name="Section Nav"/>
            <p:cNvSpPr/>
            <p:nvPr/>
          </p:nvSpPr>
          <p:spPr>
            <a:xfrm>
              <a:off x="0" y="0"/>
              <a:ext cx="121920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Progress Bar"/>
            <p:cNvSpPr/>
            <p:nvPr/>
          </p:nvSpPr>
          <p:spPr>
            <a:xfrm>
              <a:off x="0" y="0"/>
              <a:ext cx="4064000" cy="381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ab 기획 배경"/>
            <p:cNvSpPr txBox="1"/>
            <p:nvPr/>
          </p:nvSpPr>
          <p:spPr>
            <a:xfrm>
              <a:off x="635000" y="241300"/>
              <a:ext cx="5143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기획 배경</a:t>
              </a:r>
            </a:p>
          </p:txBody>
        </p:sp>
        <p:sp>
          <p:nvSpPr>
            <p:cNvPr id="6" name="Tab 서비스"/>
            <p:cNvSpPr txBox="1"/>
            <p:nvPr/>
          </p:nvSpPr>
          <p:spPr>
            <a:xfrm>
              <a:off x="2492375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서비스</a:t>
              </a:r>
            </a:p>
          </p:txBody>
        </p:sp>
        <p:sp>
          <p:nvSpPr>
            <p:cNvPr id="7" name="Tab 차별점"/>
            <p:cNvSpPr txBox="1"/>
            <p:nvPr/>
          </p:nvSpPr>
          <p:spPr>
            <a:xfrm>
              <a:off x="4197350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차별점</a:t>
              </a:r>
            </a:p>
          </p:txBody>
        </p:sp>
        <p:sp>
          <p:nvSpPr>
            <p:cNvPr id="8" name="Tab 아키텍처"/>
            <p:cNvSpPr txBox="1"/>
            <p:nvPr/>
          </p:nvSpPr>
          <p:spPr>
            <a:xfrm>
              <a:off x="5902325" y="241300"/>
              <a:ext cx="4762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아키텍처</a:t>
              </a:r>
            </a:p>
          </p:txBody>
        </p:sp>
        <p:sp>
          <p:nvSpPr>
            <p:cNvPr id="9" name="Tab 예산"/>
            <p:cNvSpPr txBox="1"/>
            <p:nvPr/>
          </p:nvSpPr>
          <p:spPr>
            <a:xfrm>
              <a:off x="7721600" y="241300"/>
              <a:ext cx="2413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예산</a:t>
              </a:r>
            </a:p>
          </p:txBody>
        </p:sp>
        <p:sp>
          <p:nvSpPr>
            <p:cNvPr id="10" name="Tab 추진 계획"/>
            <p:cNvSpPr txBox="1"/>
            <p:nvPr/>
          </p:nvSpPr>
          <p:spPr>
            <a:xfrm>
              <a:off x="9305925" y="241300"/>
              <a:ext cx="5143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추진 계획</a:t>
              </a:r>
            </a:p>
          </p:txBody>
        </p:sp>
        <p:sp>
          <p:nvSpPr>
            <p:cNvPr id="11" name="Tab 팀 소개"/>
            <p:cNvSpPr txBox="1"/>
            <p:nvPr/>
          </p:nvSpPr>
          <p:spPr>
            <a:xfrm>
              <a:off x="11163300" y="241300"/>
              <a:ext cx="3937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팀 소개</a:t>
              </a:r>
            </a:p>
          </p:txBody>
        </p:sp>
      </p:grpSp>
      <p:sp>
        <p:nvSpPr>
          <p:cNvPr id="12" name="Title"/>
          <p:cNvSpPr txBox="1"/>
          <p:nvPr/>
        </p:nvSpPr>
        <p:spPr>
          <a:xfrm>
            <a:off x="635000" y="762000"/>
            <a:ext cx="1282700" cy="425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3350"/>
              </a:lnSpc>
              <a:spcBef>
                <a:spcPts val="0"/>
              </a:spcBef>
            </a:pPr>
            <a:r>
              <a:rPr lang="ko-KR" altLang="en-US" sz="2800" b="0" spc="-56">
                <a:solidFill>
                  <a:srgbClr val="1D1D1F"/>
                </a:solidFill>
                <a:latin typeface="Pretendard SemiBold" pitchFamily="50" charset="-127"/>
                <a:ea typeface="Pretendard SemiBold" pitchFamily="50" charset="-127"/>
                <a:cs typeface="Pretendard SemiBold" pitchFamily="50" charset="-127"/>
              </a:rPr>
              <a:t>기능 범위</a:t>
            </a:r>
          </a:p>
        </p:txBody>
      </p:sp>
      <p:grpSp>
        <p:nvGrpSpPr>
          <p:cNvPr id="13" name="Col Must"/>
          <p:cNvGrpSpPr/>
          <p:nvPr/>
        </p:nvGrpSpPr>
        <p:grpSpPr>
          <a:xfrm>
            <a:off x="635000" y="1587500"/>
            <a:ext cx="3302000" cy="4425950"/>
            <a:chOff x="635000" y="1587500"/>
            <a:chExt cx="3302000" cy="4425950"/>
          </a:xfrm>
        </p:grpSpPr>
        <p:sp>
          <p:nvSpPr>
            <p:cNvPr id="14" name="Name"/>
            <p:cNvSpPr txBox="1"/>
            <p:nvPr/>
          </p:nvSpPr>
          <p:spPr>
            <a:xfrm>
              <a:off x="635000" y="1587500"/>
              <a:ext cx="533400" cy="2730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2150"/>
                </a:lnSpc>
                <a:spcBef>
                  <a:spcPts val="0"/>
                </a:spcBef>
              </a:pPr>
              <a:r>
                <a:rPr lang="ko-KR" altLang="en-US" sz="18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Must</a:t>
              </a:r>
            </a:p>
          </p:txBody>
        </p:sp>
        <p:sp>
          <p:nvSpPr>
            <p:cNvPr id="15" name="Count"/>
            <p:cNvSpPr txBox="1"/>
            <p:nvPr/>
          </p:nvSpPr>
          <p:spPr>
            <a:xfrm>
              <a:off x="1244600" y="1676400"/>
              <a:ext cx="8255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7</a:t>
              </a:r>
            </a:p>
          </p:txBody>
        </p:sp>
        <p:grpSp>
          <p:nvGrpSpPr>
            <p:cNvPr id="16" name="Chip 로그인·역할"/>
            <p:cNvGrpSpPr/>
            <p:nvPr/>
          </p:nvGrpSpPr>
          <p:grpSpPr>
            <a:xfrm>
              <a:off x="635000" y="2025650"/>
              <a:ext cx="3302000" cy="482600"/>
              <a:chOff x="635000" y="2025650"/>
              <a:chExt cx="3302000" cy="482600"/>
            </a:xfrm>
          </p:grpSpPr>
          <p:sp>
            <p:nvSpPr>
              <p:cNvPr id="17" name="Chip 로그인·역할"/>
              <p:cNvSpPr/>
              <p:nvPr/>
            </p:nvSpPr>
            <p:spPr>
              <a:xfrm>
                <a:off x="635000" y="2025650"/>
                <a:ext cx="3302000" cy="482600"/>
              </a:xfrm>
              <a:prstGeom prst="roundRect">
                <a:avLst>
                  <a:gd name="adj" fmla="val 21052"/>
                </a:avLst>
              </a:prstGeom>
              <a:solidFill>
                <a:srgbClr val="0066CC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Label"/>
              <p:cNvSpPr txBox="1"/>
              <p:nvPr/>
            </p:nvSpPr>
            <p:spPr>
              <a:xfrm>
                <a:off x="787400" y="2168525"/>
                <a:ext cx="74930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FFFFF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로그인·역할</a:t>
                </a:r>
              </a:p>
            </p:txBody>
          </p:sp>
        </p:grpSp>
        <p:grpSp>
          <p:nvGrpSpPr>
            <p:cNvPr id="19" name="Chip 촬영·업로드"/>
            <p:cNvGrpSpPr/>
            <p:nvPr/>
          </p:nvGrpSpPr>
          <p:grpSpPr>
            <a:xfrm>
              <a:off x="635000" y="2609850"/>
              <a:ext cx="3302000" cy="482600"/>
              <a:chOff x="635000" y="2609850"/>
              <a:chExt cx="3302000" cy="482600"/>
            </a:xfrm>
          </p:grpSpPr>
          <p:sp>
            <p:nvSpPr>
              <p:cNvPr id="20" name="Chip 촬영·업로드"/>
              <p:cNvSpPr/>
              <p:nvPr/>
            </p:nvSpPr>
            <p:spPr>
              <a:xfrm>
                <a:off x="635000" y="2609850"/>
                <a:ext cx="3302000" cy="482600"/>
              </a:xfrm>
              <a:prstGeom prst="roundRect">
                <a:avLst>
                  <a:gd name="adj" fmla="val 21052"/>
                </a:avLst>
              </a:prstGeom>
              <a:solidFill>
                <a:srgbClr val="0066CC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Label"/>
              <p:cNvSpPr txBox="1"/>
              <p:nvPr/>
            </p:nvSpPr>
            <p:spPr>
              <a:xfrm>
                <a:off x="787400" y="2752725"/>
                <a:ext cx="74930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FFFFF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촬영·업로드</a:t>
                </a:r>
              </a:p>
            </p:txBody>
          </p:sp>
        </p:grpSp>
        <p:grpSp>
          <p:nvGrpSpPr>
            <p:cNvPr id="22" name="Chip AI 증빙 정보 추출"/>
            <p:cNvGrpSpPr/>
            <p:nvPr/>
          </p:nvGrpSpPr>
          <p:grpSpPr>
            <a:xfrm>
              <a:off x="635000" y="3194050"/>
              <a:ext cx="3302000" cy="482600"/>
              <a:chOff x="635000" y="3194050"/>
              <a:chExt cx="3302000" cy="482600"/>
            </a:xfrm>
          </p:grpSpPr>
          <p:sp>
            <p:nvSpPr>
              <p:cNvPr id="23" name="Chip AI 증빙 정보 추출"/>
              <p:cNvSpPr/>
              <p:nvPr/>
            </p:nvSpPr>
            <p:spPr>
              <a:xfrm>
                <a:off x="635000" y="3194050"/>
                <a:ext cx="3302000" cy="482600"/>
              </a:xfrm>
              <a:prstGeom prst="roundRect">
                <a:avLst>
                  <a:gd name="adj" fmla="val 21052"/>
                </a:avLst>
              </a:prstGeom>
              <a:solidFill>
                <a:srgbClr val="0066CC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Label"/>
              <p:cNvSpPr txBox="1"/>
              <p:nvPr/>
            </p:nvSpPr>
            <p:spPr>
              <a:xfrm>
                <a:off x="787400" y="3336925"/>
                <a:ext cx="111125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FFFFF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AI 증빙 정보 추출</a:t>
                </a:r>
              </a:p>
            </p:txBody>
          </p:sp>
        </p:grpSp>
        <p:grpSp>
          <p:nvGrpSpPr>
            <p:cNvPr id="25" name="Chip 챗봇 누락 정보 보완"/>
            <p:cNvGrpSpPr/>
            <p:nvPr/>
          </p:nvGrpSpPr>
          <p:grpSpPr>
            <a:xfrm>
              <a:off x="635000" y="3778250"/>
              <a:ext cx="3302000" cy="482600"/>
              <a:chOff x="635000" y="3778250"/>
              <a:chExt cx="3302000" cy="482600"/>
            </a:xfrm>
          </p:grpSpPr>
          <p:sp>
            <p:nvSpPr>
              <p:cNvPr id="26" name="Chip 챗봇 누락 정보 보완"/>
              <p:cNvSpPr/>
              <p:nvPr/>
            </p:nvSpPr>
            <p:spPr>
              <a:xfrm>
                <a:off x="635000" y="3778250"/>
                <a:ext cx="3302000" cy="482600"/>
              </a:xfrm>
              <a:prstGeom prst="roundRect">
                <a:avLst>
                  <a:gd name="adj" fmla="val 21052"/>
                </a:avLst>
              </a:prstGeom>
              <a:solidFill>
                <a:srgbClr val="0066CC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Label"/>
              <p:cNvSpPr txBox="1"/>
              <p:nvPr/>
            </p:nvSpPr>
            <p:spPr>
              <a:xfrm>
                <a:off x="787400" y="3921125"/>
                <a:ext cx="124460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FFFFF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챗봇 누락 정보 보완</a:t>
                </a:r>
              </a:p>
            </p:txBody>
          </p:sp>
        </p:grpSp>
        <p:grpSp>
          <p:nvGrpSpPr>
            <p:cNvPr id="28" name="Chip 확인·수정·제출"/>
            <p:cNvGrpSpPr/>
            <p:nvPr/>
          </p:nvGrpSpPr>
          <p:grpSpPr>
            <a:xfrm>
              <a:off x="635000" y="4362450"/>
              <a:ext cx="3302000" cy="482600"/>
              <a:chOff x="635000" y="4362450"/>
              <a:chExt cx="3302000" cy="482600"/>
            </a:xfrm>
          </p:grpSpPr>
          <p:sp>
            <p:nvSpPr>
              <p:cNvPr id="29" name="Chip 확인·수정·제출"/>
              <p:cNvSpPr/>
              <p:nvPr/>
            </p:nvSpPr>
            <p:spPr>
              <a:xfrm>
                <a:off x="635000" y="4362450"/>
                <a:ext cx="3302000" cy="482600"/>
              </a:xfrm>
              <a:prstGeom prst="roundRect">
                <a:avLst>
                  <a:gd name="adj" fmla="val 21052"/>
                </a:avLst>
              </a:prstGeom>
              <a:solidFill>
                <a:srgbClr val="0066CC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Label"/>
              <p:cNvSpPr txBox="1"/>
              <p:nvPr/>
            </p:nvSpPr>
            <p:spPr>
              <a:xfrm>
                <a:off x="787400" y="4505325"/>
                <a:ext cx="93345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FFFFF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확인·수정·제출</a:t>
                </a:r>
              </a:p>
            </p:txBody>
          </p:sp>
        </p:grpSp>
        <p:grpSp>
          <p:nvGrpSpPr>
            <p:cNvPr id="31" name="Chip 담당자 검수·상태 관리"/>
            <p:cNvGrpSpPr/>
            <p:nvPr/>
          </p:nvGrpSpPr>
          <p:grpSpPr>
            <a:xfrm>
              <a:off x="635000" y="4946650"/>
              <a:ext cx="3302000" cy="482600"/>
              <a:chOff x="635000" y="4946650"/>
              <a:chExt cx="3302000" cy="482600"/>
            </a:xfrm>
          </p:grpSpPr>
          <p:sp>
            <p:nvSpPr>
              <p:cNvPr id="32" name="Chip 담당자 검수·상태 관리"/>
              <p:cNvSpPr/>
              <p:nvPr/>
            </p:nvSpPr>
            <p:spPr>
              <a:xfrm>
                <a:off x="635000" y="4946650"/>
                <a:ext cx="3302000" cy="482600"/>
              </a:xfrm>
              <a:prstGeom prst="roundRect">
                <a:avLst>
                  <a:gd name="adj" fmla="val 21052"/>
                </a:avLst>
              </a:prstGeom>
              <a:solidFill>
                <a:srgbClr val="0066CC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Label"/>
              <p:cNvSpPr txBox="1"/>
              <p:nvPr/>
            </p:nvSpPr>
            <p:spPr>
              <a:xfrm>
                <a:off x="787400" y="5089525"/>
                <a:ext cx="139065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FFFFF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담당자 검수·상태 관리</a:t>
                </a:r>
              </a:p>
            </p:txBody>
          </p:sp>
        </p:grpSp>
        <p:grpSp>
          <p:nvGrpSpPr>
            <p:cNvPr id="34" name="Chip 처리 현황 조회"/>
            <p:cNvGrpSpPr/>
            <p:nvPr/>
          </p:nvGrpSpPr>
          <p:grpSpPr>
            <a:xfrm>
              <a:off x="635000" y="5530850"/>
              <a:ext cx="3302000" cy="482600"/>
              <a:chOff x="635000" y="5530850"/>
              <a:chExt cx="3302000" cy="482600"/>
            </a:xfrm>
          </p:grpSpPr>
          <p:sp>
            <p:nvSpPr>
              <p:cNvPr id="35" name="Chip 처리 현황 조회"/>
              <p:cNvSpPr/>
              <p:nvPr/>
            </p:nvSpPr>
            <p:spPr>
              <a:xfrm>
                <a:off x="635000" y="5530850"/>
                <a:ext cx="3302000" cy="482600"/>
              </a:xfrm>
              <a:prstGeom prst="roundRect">
                <a:avLst>
                  <a:gd name="adj" fmla="val 21052"/>
                </a:avLst>
              </a:prstGeom>
              <a:solidFill>
                <a:srgbClr val="0066CC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Label"/>
              <p:cNvSpPr txBox="1"/>
              <p:nvPr/>
            </p:nvSpPr>
            <p:spPr>
              <a:xfrm>
                <a:off x="787400" y="5673725"/>
                <a:ext cx="92075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FFFFF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처리 현황 조회</a:t>
                </a:r>
              </a:p>
            </p:txBody>
          </p:sp>
        </p:grpSp>
      </p:grpSp>
      <p:grpSp>
        <p:nvGrpSpPr>
          <p:cNvPr id="37" name="Col Should"/>
          <p:cNvGrpSpPr/>
          <p:nvPr/>
        </p:nvGrpSpPr>
        <p:grpSpPr>
          <a:xfrm>
            <a:off x="4445000" y="1587500"/>
            <a:ext cx="2533650" cy="2082800"/>
            <a:chOff x="4445000" y="1587500"/>
            <a:chExt cx="2533650" cy="2082800"/>
          </a:xfrm>
        </p:grpSpPr>
        <p:sp>
          <p:nvSpPr>
            <p:cNvPr id="38" name="Name"/>
            <p:cNvSpPr txBox="1"/>
            <p:nvPr/>
          </p:nvSpPr>
          <p:spPr>
            <a:xfrm>
              <a:off x="4445000" y="1587500"/>
              <a:ext cx="730250" cy="2730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2150"/>
                </a:lnSpc>
                <a:spcBef>
                  <a:spcPts val="0"/>
                </a:spcBef>
              </a:pPr>
              <a:r>
                <a:rPr lang="ko-KR" altLang="en-US" sz="18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Should</a:t>
              </a:r>
            </a:p>
          </p:txBody>
        </p:sp>
        <p:sp>
          <p:nvSpPr>
            <p:cNvPr id="39" name="Count"/>
            <p:cNvSpPr txBox="1"/>
            <p:nvPr/>
          </p:nvSpPr>
          <p:spPr>
            <a:xfrm>
              <a:off x="5251450" y="1676400"/>
              <a:ext cx="9525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3</a:t>
              </a:r>
            </a:p>
          </p:txBody>
        </p:sp>
        <p:grpSp>
          <p:nvGrpSpPr>
            <p:cNvPr id="40" name="Chip 촬영 화면 위 결과 표시"/>
            <p:cNvGrpSpPr/>
            <p:nvPr/>
          </p:nvGrpSpPr>
          <p:grpSpPr>
            <a:xfrm>
              <a:off x="4451350" y="2032000"/>
              <a:ext cx="2527300" cy="469900"/>
              <a:chOff x="4451350" y="2032000"/>
              <a:chExt cx="2527300" cy="469900"/>
            </a:xfrm>
          </p:grpSpPr>
          <p:sp>
            <p:nvSpPr>
              <p:cNvPr id="41" name="Chip 촬영 화면 위 결과 표시"/>
              <p:cNvSpPr/>
              <p:nvPr/>
            </p:nvSpPr>
            <p:spPr>
              <a:xfrm>
                <a:off x="4451350" y="2032000"/>
                <a:ext cx="2527300" cy="469900"/>
              </a:xfrm>
              <a:prstGeom prst="roundRect">
                <a:avLst>
                  <a:gd name="adj" fmla="val 21621"/>
                </a:avLst>
              </a:prstGeom>
              <a:noFill/>
              <a:ln w="12700">
                <a:solidFill>
                  <a:srgbClr val="0066CC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Label"/>
              <p:cNvSpPr txBox="1"/>
              <p:nvPr/>
            </p:nvSpPr>
            <p:spPr>
              <a:xfrm>
                <a:off x="4597400" y="2168525"/>
                <a:ext cx="142240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0066CC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촬영 화면 위 결과 표시</a:t>
                </a:r>
              </a:p>
            </p:txBody>
          </p:sp>
        </p:grpSp>
        <p:grpSp>
          <p:nvGrpSpPr>
            <p:cNvPr id="43" name="Chip 지출 기준 점검"/>
            <p:cNvGrpSpPr/>
            <p:nvPr/>
          </p:nvGrpSpPr>
          <p:grpSpPr>
            <a:xfrm>
              <a:off x="4451350" y="2616200"/>
              <a:ext cx="2527300" cy="469900"/>
              <a:chOff x="4451350" y="2616200"/>
              <a:chExt cx="2527300" cy="469900"/>
            </a:xfrm>
          </p:grpSpPr>
          <p:sp>
            <p:nvSpPr>
              <p:cNvPr id="44" name="Chip 지출 기준 점검"/>
              <p:cNvSpPr/>
              <p:nvPr/>
            </p:nvSpPr>
            <p:spPr>
              <a:xfrm>
                <a:off x="4451350" y="2616200"/>
                <a:ext cx="2527300" cy="469900"/>
              </a:xfrm>
              <a:prstGeom prst="roundRect">
                <a:avLst>
                  <a:gd name="adj" fmla="val 21621"/>
                </a:avLst>
              </a:prstGeom>
              <a:noFill/>
              <a:ln w="12700">
                <a:solidFill>
                  <a:srgbClr val="0066CC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Label"/>
              <p:cNvSpPr txBox="1"/>
              <p:nvPr/>
            </p:nvSpPr>
            <p:spPr>
              <a:xfrm>
                <a:off x="4597400" y="2752725"/>
                <a:ext cx="92075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0066CC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지출 기준 점검</a:t>
                </a:r>
              </a:p>
            </p:txBody>
          </p:sp>
        </p:grpSp>
        <p:grpSp>
          <p:nvGrpSpPr>
            <p:cNvPr id="46" name="Chip 알림·내보내기"/>
            <p:cNvGrpSpPr/>
            <p:nvPr/>
          </p:nvGrpSpPr>
          <p:grpSpPr>
            <a:xfrm>
              <a:off x="4451350" y="3200400"/>
              <a:ext cx="2527300" cy="469900"/>
              <a:chOff x="4451350" y="3200400"/>
              <a:chExt cx="2527300" cy="469900"/>
            </a:xfrm>
          </p:grpSpPr>
          <p:sp>
            <p:nvSpPr>
              <p:cNvPr id="47" name="Chip 알림·내보내기"/>
              <p:cNvSpPr/>
              <p:nvPr/>
            </p:nvSpPr>
            <p:spPr>
              <a:xfrm>
                <a:off x="4451350" y="3200400"/>
                <a:ext cx="2527300" cy="469900"/>
              </a:xfrm>
              <a:prstGeom prst="roundRect">
                <a:avLst>
                  <a:gd name="adj" fmla="val 21621"/>
                </a:avLst>
              </a:prstGeom>
              <a:noFill/>
              <a:ln w="12700">
                <a:solidFill>
                  <a:srgbClr val="0066CC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Label"/>
              <p:cNvSpPr txBox="1"/>
              <p:nvPr/>
            </p:nvSpPr>
            <p:spPr>
              <a:xfrm>
                <a:off x="4597400" y="3336925"/>
                <a:ext cx="88900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0066CC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알림·내보내기</a:t>
                </a:r>
              </a:p>
            </p:txBody>
          </p:sp>
        </p:grpSp>
      </p:grpSp>
      <p:grpSp>
        <p:nvGrpSpPr>
          <p:cNvPr id="49" name="Col Could"/>
          <p:cNvGrpSpPr/>
          <p:nvPr/>
        </p:nvGrpSpPr>
        <p:grpSpPr>
          <a:xfrm>
            <a:off x="7493000" y="1587500"/>
            <a:ext cx="1773237" cy="915987"/>
            <a:chOff x="7493000" y="1587500"/>
            <a:chExt cx="1773237" cy="915987"/>
          </a:xfrm>
        </p:grpSpPr>
        <p:sp>
          <p:nvSpPr>
            <p:cNvPr id="50" name="Name"/>
            <p:cNvSpPr txBox="1"/>
            <p:nvPr/>
          </p:nvSpPr>
          <p:spPr>
            <a:xfrm>
              <a:off x="7493000" y="1587500"/>
              <a:ext cx="615950" cy="2730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2150"/>
                </a:lnSpc>
                <a:spcBef>
                  <a:spcPts val="0"/>
                </a:spcBef>
              </a:pPr>
              <a:r>
                <a:rPr lang="ko-KR" altLang="en-US" sz="18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Could</a:t>
              </a:r>
            </a:p>
          </p:txBody>
        </p:sp>
        <p:sp>
          <p:nvSpPr>
            <p:cNvPr id="51" name="Count"/>
            <p:cNvSpPr txBox="1"/>
            <p:nvPr/>
          </p:nvSpPr>
          <p:spPr>
            <a:xfrm>
              <a:off x="8185150" y="1676400"/>
              <a:ext cx="6985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1</a:t>
              </a:r>
            </a:p>
          </p:txBody>
        </p:sp>
        <p:grpSp>
          <p:nvGrpSpPr>
            <p:cNvPr id="52" name="Chip 지출 분석"/>
            <p:cNvGrpSpPr/>
            <p:nvPr/>
          </p:nvGrpSpPr>
          <p:grpSpPr>
            <a:xfrm>
              <a:off x="7497762" y="2030412"/>
              <a:ext cx="1768475" cy="473075"/>
              <a:chOff x="7497762" y="2030412"/>
              <a:chExt cx="1768475" cy="473075"/>
            </a:xfrm>
          </p:grpSpPr>
          <p:sp>
            <p:nvSpPr>
              <p:cNvPr id="53" name="Chip 지출 분석"/>
              <p:cNvSpPr/>
              <p:nvPr/>
            </p:nvSpPr>
            <p:spPr>
              <a:xfrm>
                <a:off x="7497762" y="2030412"/>
                <a:ext cx="1768475" cy="473075"/>
              </a:xfrm>
              <a:prstGeom prst="roundRect">
                <a:avLst>
                  <a:gd name="adj" fmla="val 21476"/>
                </a:avLst>
              </a:prstGeom>
              <a:noFill/>
              <a:ln w="9525">
                <a:solidFill>
                  <a:srgbClr val="7A7A7A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Label"/>
              <p:cNvSpPr txBox="1"/>
              <p:nvPr/>
            </p:nvSpPr>
            <p:spPr>
              <a:xfrm>
                <a:off x="7645400" y="2168525"/>
                <a:ext cx="60325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333333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지출 분석</a:t>
                </a:r>
              </a:p>
            </p:txBody>
          </p:sp>
        </p:grpSp>
      </p:grpSp>
      <p:grpSp>
        <p:nvGrpSpPr>
          <p:cNvPr id="55" name="Col Won't"/>
          <p:cNvGrpSpPr/>
          <p:nvPr/>
        </p:nvGrpSpPr>
        <p:grpSpPr>
          <a:xfrm>
            <a:off x="9779000" y="1587500"/>
            <a:ext cx="1778000" cy="2673350"/>
            <a:chOff x="9779000" y="1587500"/>
            <a:chExt cx="1778000" cy="2673350"/>
          </a:xfrm>
        </p:grpSpPr>
        <p:sp>
          <p:nvSpPr>
            <p:cNvPr id="56" name="Name"/>
            <p:cNvSpPr txBox="1"/>
            <p:nvPr/>
          </p:nvSpPr>
          <p:spPr>
            <a:xfrm>
              <a:off x="9779000" y="1587500"/>
              <a:ext cx="596900" cy="2730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2150"/>
                </a:lnSpc>
                <a:spcBef>
                  <a:spcPts val="0"/>
                </a:spcBef>
              </a:pPr>
              <a:r>
                <a:rPr lang="ko-KR" altLang="en-US" sz="1800" b="0" spc="-15">
                  <a:solidFill>
                    <a:srgbClr val="7A7A7A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Won't</a:t>
              </a:r>
            </a:p>
          </p:txBody>
        </p:sp>
        <p:sp>
          <p:nvSpPr>
            <p:cNvPr id="57" name="Count"/>
            <p:cNvSpPr txBox="1"/>
            <p:nvPr/>
          </p:nvSpPr>
          <p:spPr>
            <a:xfrm>
              <a:off x="10452100" y="1676400"/>
              <a:ext cx="9525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4</a:t>
              </a:r>
            </a:p>
          </p:txBody>
        </p:sp>
        <p:grpSp>
          <p:nvGrpSpPr>
            <p:cNvPr id="58" name="Chip ERP·회계 연동"/>
            <p:cNvGrpSpPr/>
            <p:nvPr/>
          </p:nvGrpSpPr>
          <p:grpSpPr>
            <a:xfrm>
              <a:off x="9779000" y="2025650"/>
              <a:ext cx="1778000" cy="482600"/>
              <a:chOff x="9779000" y="2025650"/>
              <a:chExt cx="1778000" cy="482600"/>
            </a:xfrm>
          </p:grpSpPr>
          <p:sp>
            <p:nvSpPr>
              <p:cNvPr id="59" name="Chip ERP·회계 연동"/>
              <p:cNvSpPr/>
              <p:nvPr/>
            </p:nvSpPr>
            <p:spPr>
              <a:xfrm>
                <a:off x="9779000" y="2025650"/>
                <a:ext cx="1778000" cy="482600"/>
              </a:xfrm>
              <a:prstGeom prst="roundRect">
                <a:avLst>
                  <a:gd name="adj" fmla="val 21052"/>
                </a:avLst>
              </a:prstGeom>
              <a:solidFill>
                <a:srgbClr val="F5F5F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Label"/>
              <p:cNvSpPr txBox="1"/>
              <p:nvPr/>
            </p:nvSpPr>
            <p:spPr>
              <a:xfrm>
                <a:off x="9931400" y="2168525"/>
                <a:ext cx="93980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7A7A7A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ERP·회계 연동</a:t>
                </a:r>
              </a:p>
            </p:txBody>
          </p:sp>
        </p:grpSp>
        <p:grpSp>
          <p:nvGrpSpPr>
            <p:cNvPr id="61" name="Chip 결제"/>
            <p:cNvGrpSpPr/>
            <p:nvPr/>
          </p:nvGrpSpPr>
          <p:grpSpPr>
            <a:xfrm>
              <a:off x="9779000" y="2609850"/>
              <a:ext cx="1778000" cy="482600"/>
              <a:chOff x="9779000" y="2609850"/>
              <a:chExt cx="1778000" cy="482600"/>
            </a:xfrm>
          </p:grpSpPr>
          <p:sp>
            <p:nvSpPr>
              <p:cNvPr id="62" name="Chip 결제"/>
              <p:cNvSpPr/>
              <p:nvPr/>
            </p:nvSpPr>
            <p:spPr>
              <a:xfrm>
                <a:off x="9779000" y="2609850"/>
                <a:ext cx="1778000" cy="482600"/>
              </a:xfrm>
              <a:prstGeom prst="roundRect">
                <a:avLst>
                  <a:gd name="adj" fmla="val 21052"/>
                </a:avLst>
              </a:prstGeom>
              <a:solidFill>
                <a:srgbClr val="F5F5F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Label"/>
              <p:cNvSpPr txBox="1"/>
              <p:nvPr/>
            </p:nvSpPr>
            <p:spPr>
              <a:xfrm>
                <a:off x="9931400" y="2752725"/>
                <a:ext cx="28575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7A7A7A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결제</a:t>
                </a:r>
              </a:p>
            </p:txBody>
          </p:sp>
        </p:grpSp>
        <p:grpSp>
          <p:nvGrpSpPr>
            <p:cNvPr id="64" name="Chip 멀티테넌트"/>
            <p:cNvGrpSpPr/>
            <p:nvPr/>
          </p:nvGrpSpPr>
          <p:grpSpPr>
            <a:xfrm>
              <a:off x="9779000" y="3194050"/>
              <a:ext cx="1778000" cy="482600"/>
              <a:chOff x="9779000" y="3194050"/>
              <a:chExt cx="1778000" cy="482600"/>
            </a:xfrm>
          </p:grpSpPr>
          <p:sp>
            <p:nvSpPr>
              <p:cNvPr id="65" name="Chip 멀티테넌트"/>
              <p:cNvSpPr/>
              <p:nvPr/>
            </p:nvSpPr>
            <p:spPr>
              <a:xfrm>
                <a:off x="9779000" y="3194050"/>
                <a:ext cx="1778000" cy="482600"/>
              </a:xfrm>
              <a:prstGeom prst="roundRect">
                <a:avLst>
                  <a:gd name="adj" fmla="val 21052"/>
                </a:avLst>
              </a:prstGeom>
              <a:solidFill>
                <a:srgbClr val="F5F5F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Label"/>
              <p:cNvSpPr txBox="1"/>
              <p:nvPr/>
            </p:nvSpPr>
            <p:spPr>
              <a:xfrm>
                <a:off x="9931400" y="3336925"/>
                <a:ext cx="70485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7A7A7A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멀티테넌트</a:t>
                </a:r>
              </a:p>
            </p:txBody>
          </p:sp>
        </p:grpSp>
        <p:grpSp>
          <p:nvGrpSpPr>
            <p:cNvPr id="67" name="Chip 자체 OCR 학습"/>
            <p:cNvGrpSpPr/>
            <p:nvPr/>
          </p:nvGrpSpPr>
          <p:grpSpPr>
            <a:xfrm>
              <a:off x="9779000" y="3778250"/>
              <a:ext cx="1778000" cy="482600"/>
              <a:chOff x="9779000" y="3778250"/>
              <a:chExt cx="1778000" cy="482600"/>
            </a:xfrm>
          </p:grpSpPr>
          <p:sp>
            <p:nvSpPr>
              <p:cNvPr id="68" name="Chip 자체 OCR 학습"/>
              <p:cNvSpPr/>
              <p:nvPr/>
            </p:nvSpPr>
            <p:spPr>
              <a:xfrm>
                <a:off x="9779000" y="3778250"/>
                <a:ext cx="1778000" cy="482600"/>
              </a:xfrm>
              <a:prstGeom prst="roundRect">
                <a:avLst>
                  <a:gd name="adj" fmla="val 21052"/>
                </a:avLst>
              </a:prstGeom>
              <a:solidFill>
                <a:srgbClr val="F5F5F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Label"/>
              <p:cNvSpPr txBox="1"/>
              <p:nvPr/>
            </p:nvSpPr>
            <p:spPr>
              <a:xfrm>
                <a:off x="9931400" y="3921125"/>
                <a:ext cx="977900" cy="1968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550"/>
                  </a:lnSpc>
                  <a:spcBef>
                    <a:spcPts val="0"/>
                  </a:spcBef>
                </a:pPr>
                <a:r>
                  <a:rPr lang="ko-KR" altLang="en-US" sz="1300" b="0" spc="-15">
                    <a:solidFill>
                      <a:srgbClr val="7A7A7A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자체 OCR 학습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ection Nav"/>
          <p:cNvGrpSpPr/>
          <p:nvPr/>
        </p:nvGrpSpPr>
        <p:grpSpPr>
          <a:xfrm>
            <a:off x="0" y="0"/>
            <a:ext cx="12192000" cy="406400"/>
            <a:chOff x="0" y="0"/>
            <a:chExt cx="12192000" cy="406400"/>
          </a:xfrm>
        </p:grpSpPr>
        <p:sp>
          <p:nvSpPr>
            <p:cNvPr id="3" name="Section Nav"/>
            <p:cNvSpPr/>
            <p:nvPr/>
          </p:nvSpPr>
          <p:spPr>
            <a:xfrm>
              <a:off x="0" y="0"/>
              <a:ext cx="121920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Progress Bar"/>
            <p:cNvSpPr/>
            <p:nvPr/>
          </p:nvSpPr>
          <p:spPr>
            <a:xfrm>
              <a:off x="0" y="0"/>
              <a:ext cx="5416550" cy="381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ab 기획 배경"/>
            <p:cNvSpPr txBox="1"/>
            <p:nvPr/>
          </p:nvSpPr>
          <p:spPr>
            <a:xfrm>
              <a:off x="635000" y="241300"/>
              <a:ext cx="5143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기획 배경</a:t>
              </a:r>
            </a:p>
          </p:txBody>
        </p:sp>
        <p:sp>
          <p:nvSpPr>
            <p:cNvPr id="6" name="Tab 서비스"/>
            <p:cNvSpPr txBox="1"/>
            <p:nvPr/>
          </p:nvSpPr>
          <p:spPr>
            <a:xfrm>
              <a:off x="2492375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서비스</a:t>
              </a:r>
            </a:p>
          </p:txBody>
        </p:sp>
        <p:sp>
          <p:nvSpPr>
            <p:cNvPr id="7" name="Tab 차별점"/>
            <p:cNvSpPr txBox="1"/>
            <p:nvPr/>
          </p:nvSpPr>
          <p:spPr>
            <a:xfrm>
              <a:off x="4197350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차별점</a:t>
              </a:r>
            </a:p>
          </p:txBody>
        </p:sp>
        <p:sp>
          <p:nvSpPr>
            <p:cNvPr id="8" name="Tab 아키텍처"/>
            <p:cNvSpPr txBox="1"/>
            <p:nvPr/>
          </p:nvSpPr>
          <p:spPr>
            <a:xfrm>
              <a:off x="5902325" y="241300"/>
              <a:ext cx="4762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아키텍처</a:t>
              </a:r>
            </a:p>
          </p:txBody>
        </p:sp>
        <p:sp>
          <p:nvSpPr>
            <p:cNvPr id="9" name="Tab 예산"/>
            <p:cNvSpPr txBox="1"/>
            <p:nvPr/>
          </p:nvSpPr>
          <p:spPr>
            <a:xfrm>
              <a:off x="7721600" y="241300"/>
              <a:ext cx="2413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예산</a:t>
              </a:r>
            </a:p>
          </p:txBody>
        </p:sp>
        <p:sp>
          <p:nvSpPr>
            <p:cNvPr id="10" name="Tab 추진 계획"/>
            <p:cNvSpPr txBox="1"/>
            <p:nvPr/>
          </p:nvSpPr>
          <p:spPr>
            <a:xfrm>
              <a:off x="9305925" y="241300"/>
              <a:ext cx="5143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추진 계획</a:t>
              </a:r>
            </a:p>
          </p:txBody>
        </p:sp>
        <p:sp>
          <p:nvSpPr>
            <p:cNvPr id="11" name="Tab 팀 소개"/>
            <p:cNvSpPr txBox="1"/>
            <p:nvPr/>
          </p:nvSpPr>
          <p:spPr>
            <a:xfrm>
              <a:off x="11163300" y="241300"/>
              <a:ext cx="3937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팀 소개</a:t>
              </a:r>
            </a:p>
          </p:txBody>
        </p:sp>
      </p:grpSp>
      <p:sp>
        <p:nvSpPr>
          <p:cNvPr id="12" name="Title"/>
          <p:cNvSpPr txBox="1"/>
          <p:nvPr/>
        </p:nvSpPr>
        <p:spPr>
          <a:xfrm>
            <a:off x="635000" y="762000"/>
            <a:ext cx="1879600" cy="425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3350"/>
              </a:lnSpc>
              <a:spcBef>
                <a:spcPts val="0"/>
              </a:spcBef>
            </a:pPr>
            <a:r>
              <a:rPr lang="ko-KR" altLang="en-US" sz="2800" b="0" spc="-56">
                <a:solidFill>
                  <a:srgbClr val="1D1D1F"/>
                </a:solidFill>
                <a:latin typeface="Pretendard SemiBold" pitchFamily="50" charset="-127"/>
                <a:ea typeface="Pretendard SemiBold" pitchFamily="50" charset="-127"/>
                <a:cs typeface="Pretendard SemiBold" pitchFamily="50" charset="-127"/>
              </a:rPr>
              <a:t>기술적 차별점</a:t>
            </a:r>
          </a:p>
        </p:txBody>
      </p:sp>
      <p:grpSp>
        <p:nvGrpSpPr>
          <p:cNvPr id="13" name="Pillars"/>
          <p:cNvGrpSpPr/>
          <p:nvPr/>
        </p:nvGrpSpPr>
        <p:grpSpPr>
          <a:xfrm>
            <a:off x="635000" y="1651000"/>
            <a:ext cx="10922000" cy="3746500"/>
            <a:chOff x="635000" y="1651000"/>
            <a:chExt cx="10922000" cy="3746500"/>
          </a:xfrm>
        </p:grpSpPr>
        <p:grpSp>
          <p:nvGrpSpPr>
            <p:cNvPr id="14" name="Visual"/>
            <p:cNvGrpSpPr/>
            <p:nvPr/>
          </p:nvGrpSpPr>
          <p:grpSpPr>
            <a:xfrm>
              <a:off x="635000" y="1651000"/>
              <a:ext cx="3429000" cy="3048000"/>
              <a:chOff x="635000" y="1651000"/>
              <a:chExt cx="3429000" cy="3048000"/>
            </a:xfrm>
          </p:grpSpPr>
          <p:sp>
            <p:nvSpPr>
              <p:cNvPr id="15" name="Visual"/>
              <p:cNvSpPr/>
              <p:nvPr/>
            </p:nvSpPr>
            <p:spPr>
              <a:xfrm>
                <a:off x="635000" y="1651000"/>
                <a:ext cx="3429000" cy="3048000"/>
              </a:xfrm>
              <a:prstGeom prst="roundRect">
                <a:avLst>
                  <a:gd name="adj" fmla="val 3750"/>
                </a:avLst>
              </a:prstGeom>
              <a:solidFill>
                <a:srgbClr val="F5F5F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16" name="Detected Receipt"/>
              <p:cNvGrpSpPr/>
              <p:nvPr/>
            </p:nvGrpSpPr>
            <p:grpSpPr>
              <a:xfrm rot="21060000">
                <a:off x="1214056" y="2317496"/>
                <a:ext cx="1078230" cy="1797050"/>
                <a:chOff x="1214056" y="2317496"/>
                <a:chExt cx="1078230" cy="1797050"/>
              </a:xfrm>
            </p:grpSpPr>
            <p:pic>
              <p:nvPicPr>
                <p:cNvPr id="17" name="Image" descr="receipt-paper.png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14056" y="2317496"/>
                  <a:ext cx="1078230" cy="1797050"/>
                </a:xfrm>
                <a:prstGeom prst="rect">
                  <a:avLst/>
                </a:prstGeom>
              </p:spPr>
            </p:pic>
            <p:sp>
              <p:nvSpPr>
                <p:cNvPr id="18" name="Outline"/>
                <p:cNvSpPr/>
                <p:nvPr/>
              </p:nvSpPr>
              <p:spPr>
                <a:xfrm>
                  <a:off x="1324546" y="2409571"/>
                  <a:ext cx="819150" cy="1606550"/>
                </a:xfrm>
                <a:prstGeom prst="rect">
                  <a:avLst/>
                </a:prstGeom>
                <a:noFill/>
                <a:ln w="19050">
                  <a:solidFill>
                    <a:srgbClr val="0066CC"/>
                  </a:solidFill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9" name="Corner"/>
                <p:cNvSpPr/>
                <p:nvPr/>
              </p:nvSpPr>
              <p:spPr>
                <a:xfrm>
                  <a:off x="1264222" y="2349246"/>
                  <a:ext cx="101600" cy="101600"/>
                </a:xfrm>
                <a:prstGeom prst="ellipse">
                  <a:avLst/>
                </a:prstGeom>
                <a:solidFill>
                  <a:srgbClr val="0066CC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0" name="Corner"/>
                <p:cNvSpPr/>
                <p:nvPr/>
              </p:nvSpPr>
              <p:spPr>
                <a:xfrm>
                  <a:off x="2102422" y="2349246"/>
                  <a:ext cx="101600" cy="101600"/>
                </a:xfrm>
                <a:prstGeom prst="ellipse">
                  <a:avLst/>
                </a:prstGeom>
                <a:solidFill>
                  <a:srgbClr val="0066CC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" name="Corner"/>
                <p:cNvSpPr/>
                <p:nvPr/>
              </p:nvSpPr>
              <p:spPr>
                <a:xfrm>
                  <a:off x="1264222" y="3974846"/>
                  <a:ext cx="101600" cy="101600"/>
                </a:xfrm>
                <a:prstGeom prst="ellipse">
                  <a:avLst/>
                </a:prstGeom>
                <a:solidFill>
                  <a:srgbClr val="0066CC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" name="Corner"/>
                <p:cNvSpPr/>
                <p:nvPr/>
              </p:nvSpPr>
              <p:spPr>
                <a:xfrm>
                  <a:off x="2102422" y="3974846"/>
                  <a:ext cx="101600" cy="101600"/>
                </a:xfrm>
                <a:prstGeom prst="ellipse">
                  <a:avLst/>
                </a:prstGeom>
                <a:solidFill>
                  <a:srgbClr val="0066CC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23" name="Arrow"/>
              <p:cNvSpPr/>
              <p:nvPr/>
            </p:nvSpPr>
            <p:spPr>
              <a:xfrm>
                <a:off x="2298700" y="3060700"/>
                <a:ext cx="22860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>
                    <a:moveTo>
                      <a:pt x="5000" y="12000"/>
                    </a:moveTo>
                    <a:lnTo>
                      <a:pt x="19000" y="12000"/>
                    </a:lnTo>
                  </a:path>
                  <a:path w="24000" h="24000" fill="none">
                    <a:moveTo>
                      <a:pt x="12000" y="5000"/>
                    </a:moveTo>
                    <a:lnTo>
                      <a:pt x="19000" y="12000"/>
                    </a:lnTo>
                    <a:lnTo>
                      <a:pt x="12000" y="19000"/>
                    </a:lnTo>
                  </a:path>
                </a:pathLst>
              </a:custGeom>
              <a:noFill/>
              <a:ln w="19050" cap="rnd">
                <a:solidFill>
                  <a:srgbClr val="7A7A7A"/>
                </a:solidFill>
                <a:round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24" name="Flat Receipt" descr="receipt-paper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2235" y="2273300"/>
                <a:ext cx="1078230" cy="1797050"/>
              </a:xfrm>
              <a:prstGeom prst="rect">
                <a:avLst/>
              </a:prstGeom>
            </p:spPr>
          </p:pic>
        </p:grpSp>
        <p:sp>
          <p:nvSpPr>
            <p:cNvPr id="25" name="Headline"/>
            <p:cNvSpPr txBox="1"/>
            <p:nvPr/>
          </p:nvSpPr>
          <p:spPr>
            <a:xfrm>
              <a:off x="635000" y="4876800"/>
              <a:ext cx="1727200" cy="2730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2150"/>
                </a:lnSpc>
                <a:spcBef>
                  <a:spcPts val="0"/>
                </a:spcBef>
              </a:pPr>
              <a:r>
                <a:rPr lang="ko-KR" altLang="en-US" sz="18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촬영 단계 품질 확보</a:t>
              </a:r>
            </a:p>
          </p:txBody>
        </p:sp>
        <p:sp>
          <p:nvSpPr>
            <p:cNvPr id="26" name="Keywords"/>
            <p:cNvSpPr txBox="1"/>
            <p:nvPr/>
          </p:nvSpPr>
          <p:spPr>
            <a:xfrm>
              <a:off x="635000" y="5213350"/>
              <a:ext cx="135255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촬영 가이드 · 원근 보정</a:t>
              </a:r>
            </a:p>
          </p:txBody>
        </p:sp>
        <p:grpSp>
          <p:nvGrpSpPr>
            <p:cNvPr id="27" name="Visual"/>
            <p:cNvGrpSpPr/>
            <p:nvPr/>
          </p:nvGrpSpPr>
          <p:grpSpPr>
            <a:xfrm>
              <a:off x="4318000" y="1651000"/>
              <a:ext cx="3556000" cy="3048000"/>
              <a:chOff x="4318000" y="1651000"/>
              <a:chExt cx="3556000" cy="3048000"/>
            </a:xfrm>
          </p:grpSpPr>
          <p:sp>
            <p:nvSpPr>
              <p:cNvPr id="28" name="Visual"/>
              <p:cNvSpPr/>
              <p:nvPr/>
            </p:nvSpPr>
            <p:spPr>
              <a:xfrm>
                <a:off x="4318000" y="1651000"/>
                <a:ext cx="3556000" cy="3048000"/>
              </a:xfrm>
              <a:prstGeom prst="roundRect">
                <a:avLst>
                  <a:gd name="adj" fmla="val 3750"/>
                </a:avLst>
              </a:prstGeom>
              <a:solidFill>
                <a:srgbClr val="F5F5F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Label"/>
              <p:cNvSpPr txBox="1"/>
              <p:nvPr/>
            </p:nvSpPr>
            <p:spPr>
              <a:xfrm>
                <a:off x="4572000" y="2517775"/>
                <a:ext cx="260350" cy="1841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450"/>
                  </a:lnSpc>
                  <a:spcBef>
                    <a:spcPts val="0"/>
                  </a:spcBef>
                </a:pPr>
                <a:r>
                  <a:rPr lang="ko-KR" altLang="en-US" sz="1200" b="0" spc="-15">
                    <a:solidFill>
                      <a:srgbClr val="7A7A7A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순차</a:t>
                </a:r>
              </a:p>
            </p:txBody>
          </p:sp>
          <p:grpSp>
            <p:nvGrpSpPr>
              <p:cNvPr id="30" name="Bar 추출"/>
              <p:cNvGrpSpPr/>
              <p:nvPr/>
            </p:nvGrpSpPr>
            <p:grpSpPr>
              <a:xfrm>
                <a:off x="5105400" y="2432050"/>
                <a:ext cx="1143000" cy="355600"/>
                <a:chOff x="5105400" y="2432050"/>
                <a:chExt cx="1143000" cy="355600"/>
              </a:xfrm>
            </p:grpSpPr>
            <p:sp>
              <p:nvSpPr>
                <p:cNvPr id="31" name="Bar 추출"/>
                <p:cNvSpPr/>
                <p:nvPr/>
              </p:nvSpPr>
              <p:spPr>
                <a:xfrm>
                  <a:off x="5105400" y="2432050"/>
                  <a:ext cx="1143000" cy="355600"/>
                </a:xfrm>
                <a:prstGeom prst="roundRect">
                  <a:avLst>
                    <a:gd name="adj" fmla="val 21428"/>
                  </a:avLst>
                </a:prstGeom>
                <a:solidFill>
                  <a:srgbClr val="D2D2D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" name="Label"/>
                <p:cNvSpPr txBox="1"/>
                <p:nvPr/>
              </p:nvSpPr>
              <p:spPr>
                <a:xfrm>
                  <a:off x="5556250" y="2527300"/>
                  <a:ext cx="24130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333333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추출</a:t>
                  </a:r>
                </a:p>
              </p:txBody>
            </p:sp>
          </p:grpSp>
          <p:grpSp>
            <p:nvGrpSpPr>
              <p:cNvPr id="33" name="Bar 질문"/>
              <p:cNvGrpSpPr/>
              <p:nvPr/>
            </p:nvGrpSpPr>
            <p:grpSpPr>
              <a:xfrm>
                <a:off x="6273800" y="2432050"/>
                <a:ext cx="1206500" cy="355600"/>
                <a:chOff x="6273800" y="2432050"/>
                <a:chExt cx="1206500" cy="355600"/>
              </a:xfrm>
            </p:grpSpPr>
            <p:sp>
              <p:nvSpPr>
                <p:cNvPr id="34" name="Bar 질문"/>
                <p:cNvSpPr/>
                <p:nvPr/>
              </p:nvSpPr>
              <p:spPr>
                <a:xfrm>
                  <a:off x="6273800" y="2432050"/>
                  <a:ext cx="1206500" cy="355600"/>
                </a:xfrm>
                <a:prstGeom prst="roundRect">
                  <a:avLst>
                    <a:gd name="adj" fmla="val 21428"/>
                  </a:avLst>
                </a:prstGeom>
                <a:solidFill>
                  <a:srgbClr val="D2D2D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" name="Label"/>
                <p:cNvSpPr txBox="1"/>
                <p:nvPr/>
              </p:nvSpPr>
              <p:spPr>
                <a:xfrm>
                  <a:off x="6756400" y="2527300"/>
                  <a:ext cx="24130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333333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질문</a:t>
                  </a:r>
                </a:p>
              </p:txBody>
            </p:sp>
          </p:grpSp>
          <p:sp>
            <p:nvSpPr>
              <p:cNvPr id="36" name="Label"/>
              <p:cNvSpPr txBox="1"/>
              <p:nvPr/>
            </p:nvSpPr>
            <p:spPr>
              <a:xfrm>
                <a:off x="4572000" y="3438525"/>
                <a:ext cx="260350" cy="1841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450"/>
                  </a:lnSpc>
                  <a:spcBef>
                    <a:spcPts val="0"/>
                  </a:spcBef>
                </a:pPr>
                <a:r>
                  <a:rPr lang="ko-KR" altLang="en-US" sz="1200" b="0" spc="-15">
                    <a:solidFill>
                      <a:srgbClr val="0066CC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동시</a:t>
                </a:r>
              </a:p>
            </p:txBody>
          </p:sp>
          <p:grpSp>
            <p:nvGrpSpPr>
              <p:cNvPr id="37" name="Bar 추출"/>
              <p:cNvGrpSpPr/>
              <p:nvPr/>
            </p:nvGrpSpPr>
            <p:grpSpPr>
              <a:xfrm>
                <a:off x="5105400" y="3143250"/>
                <a:ext cx="1143000" cy="355600"/>
                <a:chOff x="5105400" y="3143250"/>
                <a:chExt cx="1143000" cy="355600"/>
              </a:xfrm>
            </p:grpSpPr>
            <p:sp>
              <p:nvSpPr>
                <p:cNvPr id="38" name="Bar 추출"/>
                <p:cNvSpPr/>
                <p:nvPr/>
              </p:nvSpPr>
              <p:spPr>
                <a:xfrm>
                  <a:off x="5105400" y="3143250"/>
                  <a:ext cx="1143000" cy="355600"/>
                </a:xfrm>
                <a:prstGeom prst="roundRect">
                  <a:avLst>
                    <a:gd name="adj" fmla="val 21428"/>
                  </a:avLst>
                </a:prstGeom>
                <a:solidFill>
                  <a:srgbClr val="0066CC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" name="Label"/>
                <p:cNvSpPr txBox="1"/>
                <p:nvPr/>
              </p:nvSpPr>
              <p:spPr>
                <a:xfrm>
                  <a:off x="5556250" y="3238500"/>
                  <a:ext cx="24130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FFFFFF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추출</a:t>
                  </a:r>
                </a:p>
              </p:txBody>
            </p:sp>
          </p:grpSp>
          <p:grpSp>
            <p:nvGrpSpPr>
              <p:cNvPr id="40" name="Bar 질문"/>
              <p:cNvGrpSpPr/>
              <p:nvPr/>
            </p:nvGrpSpPr>
            <p:grpSpPr>
              <a:xfrm>
                <a:off x="5111750" y="3568700"/>
                <a:ext cx="1193800" cy="342900"/>
                <a:chOff x="5111750" y="3568700"/>
                <a:chExt cx="1193800" cy="342900"/>
              </a:xfrm>
            </p:grpSpPr>
            <p:sp>
              <p:nvSpPr>
                <p:cNvPr id="41" name="Bar 질문"/>
                <p:cNvSpPr/>
                <p:nvPr/>
              </p:nvSpPr>
              <p:spPr>
                <a:xfrm>
                  <a:off x="5111750" y="3568700"/>
                  <a:ext cx="1193800" cy="342900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EBF3FB"/>
                </a:solidFill>
                <a:ln w="12700">
                  <a:solidFill>
                    <a:srgbClr val="0066CC"/>
                  </a:solidFill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" name="Label"/>
                <p:cNvSpPr txBox="1"/>
                <p:nvPr/>
              </p:nvSpPr>
              <p:spPr>
                <a:xfrm>
                  <a:off x="5588000" y="3657600"/>
                  <a:ext cx="24130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0066CC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질문</a:t>
                  </a:r>
                </a:p>
              </p:txBody>
            </p:sp>
          </p:grpSp>
        </p:grpSp>
        <p:sp>
          <p:nvSpPr>
            <p:cNvPr id="43" name="Headline"/>
            <p:cNvSpPr txBox="1"/>
            <p:nvPr/>
          </p:nvSpPr>
          <p:spPr>
            <a:xfrm>
              <a:off x="4318000" y="4876800"/>
              <a:ext cx="1676400" cy="2730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2150"/>
                </a:lnSpc>
                <a:spcBef>
                  <a:spcPts val="0"/>
                </a:spcBef>
              </a:pPr>
              <a:r>
                <a:rPr lang="ko-KR" altLang="en-US" sz="18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기다리지 않는 접수</a:t>
              </a:r>
            </a:p>
          </p:txBody>
        </p:sp>
        <p:sp>
          <p:nvSpPr>
            <p:cNvPr id="44" name="Keywords"/>
            <p:cNvSpPr txBox="1"/>
            <p:nvPr/>
          </p:nvSpPr>
          <p:spPr>
            <a:xfrm>
              <a:off x="4318000" y="5213350"/>
              <a:ext cx="170815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AI 추출과 챗봇 질문을 동시에</a:t>
              </a:r>
            </a:p>
          </p:txBody>
        </p:sp>
        <p:grpSp>
          <p:nvGrpSpPr>
            <p:cNvPr id="45" name="Visual"/>
            <p:cNvGrpSpPr/>
            <p:nvPr/>
          </p:nvGrpSpPr>
          <p:grpSpPr>
            <a:xfrm>
              <a:off x="8128000" y="1651000"/>
              <a:ext cx="3429000" cy="3048000"/>
              <a:chOff x="8128000" y="1651000"/>
              <a:chExt cx="3429000" cy="3048000"/>
            </a:xfrm>
          </p:grpSpPr>
          <p:sp>
            <p:nvSpPr>
              <p:cNvPr id="46" name="Visual"/>
              <p:cNvSpPr/>
              <p:nvPr/>
            </p:nvSpPr>
            <p:spPr>
              <a:xfrm>
                <a:off x="8128000" y="1651000"/>
                <a:ext cx="3429000" cy="3048000"/>
              </a:xfrm>
              <a:prstGeom prst="roundRect">
                <a:avLst>
                  <a:gd name="adj" fmla="val 3750"/>
                </a:avLst>
              </a:prstGeom>
              <a:solidFill>
                <a:srgbClr val="F5F5F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Formula"/>
              <p:cNvSpPr txBox="1"/>
              <p:nvPr/>
            </p:nvSpPr>
            <p:spPr>
              <a:xfrm>
                <a:off x="8963025" y="2473325"/>
                <a:ext cx="1758950" cy="2095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650"/>
                  </a:lnSpc>
                  <a:spcBef>
                    <a:spcPts val="0"/>
                  </a:spcBef>
                </a:pPr>
                <a:r>
                  <a:rPr lang="ko-KR" altLang="en-US" sz="1400" b="0" spc="-15">
                    <a:solidFill>
                      <a:srgbClr val="1D1D1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공급가액 + 부가세 = 총액</a:t>
                </a:r>
              </a:p>
            </p:txBody>
          </p:sp>
          <p:grpSp>
            <p:nvGrpSpPr>
              <p:cNvPr id="48" name="Result 일치"/>
              <p:cNvGrpSpPr/>
              <p:nvPr/>
            </p:nvGrpSpPr>
            <p:grpSpPr>
              <a:xfrm>
                <a:off x="9083675" y="2873375"/>
                <a:ext cx="660400" cy="292100"/>
                <a:chOff x="9083675" y="2873375"/>
                <a:chExt cx="660400" cy="292100"/>
              </a:xfrm>
            </p:grpSpPr>
            <p:sp>
              <p:nvSpPr>
                <p:cNvPr id="49" name="Result 일치"/>
                <p:cNvSpPr/>
                <p:nvPr/>
              </p:nvSpPr>
              <p:spPr>
                <a:xfrm>
                  <a:off x="9083675" y="2873375"/>
                  <a:ext cx="660400" cy="2921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EF9EF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0" name="Icon"/>
                <p:cNvSpPr/>
                <p:nvPr/>
              </p:nvSpPr>
              <p:spPr>
                <a:xfrm>
                  <a:off x="9197975" y="2949575"/>
                  <a:ext cx="139700" cy="1397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000" h="24000" fill="none">
                      <a:moveTo>
                        <a:pt x="20000" y="6000"/>
                      </a:moveTo>
                      <a:lnTo>
                        <a:pt x="9000" y="17000"/>
                      </a:lnTo>
                      <a:lnTo>
                        <a:pt x="4000" y="12000"/>
                      </a:lnTo>
                    </a:path>
                  </a:pathLst>
                </a:custGeom>
                <a:noFill/>
                <a:ln w="11642" cap="rnd">
                  <a:solidFill>
                    <a:srgbClr val="348F4F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1" name="Label"/>
                <p:cNvSpPr txBox="1"/>
                <p:nvPr/>
              </p:nvSpPr>
              <p:spPr>
                <a:xfrm>
                  <a:off x="9388475" y="2936875"/>
                  <a:ext cx="24130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296A3B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일치</a:t>
                  </a:r>
                </a:p>
              </p:txBody>
            </p:sp>
          </p:grpSp>
          <p:grpSp>
            <p:nvGrpSpPr>
              <p:cNvPr id="52" name="Result 불일치"/>
              <p:cNvGrpSpPr/>
              <p:nvPr/>
            </p:nvGrpSpPr>
            <p:grpSpPr>
              <a:xfrm>
                <a:off x="9820275" y="2873375"/>
                <a:ext cx="781050" cy="292100"/>
                <a:chOff x="9820275" y="2873375"/>
                <a:chExt cx="781050" cy="292100"/>
              </a:xfrm>
            </p:grpSpPr>
            <p:sp>
              <p:nvSpPr>
                <p:cNvPr id="53" name="Result 불일치"/>
                <p:cNvSpPr/>
                <p:nvPr/>
              </p:nvSpPr>
              <p:spPr>
                <a:xfrm>
                  <a:off x="9820275" y="2873375"/>
                  <a:ext cx="781050" cy="2921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EF3F1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4" name="Icon"/>
                <p:cNvSpPr/>
                <p:nvPr/>
              </p:nvSpPr>
              <p:spPr>
                <a:xfrm>
                  <a:off x="9934575" y="2949575"/>
                  <a:ext cx="139700" cy="1397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000" h="24000" fill="none">
                      <a:moveTo>
                        <a:pt x="21730" y="18000"/>
                      </a:moveTo>
                      <a:lnTo>
                        <a:pt x="13730" y="4000"/>
                      </a:lnTo>
                      <a:cubicBezTo>
                        <a:pt x="13375" y="3373"/>
                        <a:pt x="12710" y="2986"/>
                        <a:pt x="11990" y="2986"/>
                      </a:cubicBezTo>
                      <a:cubicBezTo>
                        <a:pt x="11270" y="2986"/>
                        <a:pt x="10605" y="3373"/>
                        <a:pt x="10250" y="4000"/>
                      </a:cubicBezTo>
                      <a:lnTo>
                        <a:pt x="2250" y="18000"/>
                      </a:lnTo>
                      <a:cubicBezTo>
                        <a:pt x="1891" y="18622"/>
                        <a:pt x="1893" y="19388"/>
                        <a:pt x="2254" y="20008"/>
                      </a:cubicBezTo>
                      <a:cubicBezTo>
                        <a:pt x="2616" y="20628"/>
                        <a:pt x="3282" y="21006"/>
                        <a:pt x="4000" y="21000"/>
                      </a:cubicBezTo>
                      <a:lnTo>
                        <a:pt x="20000" y="21000"/>
                      </a:lnTo>
                      <a:cubicBezTo>
                        <a:pt x="20714" y="20999"/>
                        <a:pt x="21374" y="20618"/>
                        <a:pt x="21731" y="19999"/>
                      </a:cubicBezTo>
                      <a:cubicBezTo>
                        <a:pt x="22087" y="19380"/>
                        <a:pt x="22087" y="18618"/>
                        <a:pt x="21730" y="18000"/>
                      </a:cubicBezTo>
                    </a:path>
                    <a:path w="24000" h="24000" fill="none">
                      <a:moveTo>
                        <a:pt x="12000" y="9000"/>
                      </a:moveTo>
                      <a:lnTo>
                        <a:pt x="12000" y="13000"/>
                      </a:ln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11642" cap="rnd">
                  <a:solidFill>
                    <a:srgbClr val="D33B3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5" name="Label"/>
                <p:cNvSpPr txBox="1"/>
                <p:nvPr/>
              </p:nvSpPr>
              <p:spPr>
                <a:xfrm>
                  <a:off x="10125075" y="2936875"/>
                  <a:ext cx="36195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B02B27"/>
                      </a:solidFill>
                      <a:latin typeface="Pretendard SemiBold" pitchFamily="50" charset="-127"/>
                      <a:ea typeface="Pretendard SemiBold" pitchFamily="50" charset="-127"/>
                      <a:cs typeface="Pretendard SemiBold" pitchFamily="50" charset="-127"/>
                    </a:rPr>
                    <a:t>불일치</a:t>
                  </a:r>
                </a:p>
              </p:txBody>
            </p:sp>
          </p:grpSp>
          <p:sp>
            <p:nvSpPr>
              <p:cNvPr id="56" name="Divider"/>
              <p:cNvSpPr/>
              <p:nvPr/>
            </p:nvSpPr>
            <p:spPr>
              <a:xfrm>
                <a:off x="8382000" y="3355975"/>
                <a:ext cx="2921000" cy="6350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Seg"/>
              <p:cNvSpPr/>
              <p:nvPr/>
            </p:nvSpPr>
            <p:spPr>
              <a:xfrm>
                <a:off x="8382000" y="3552825"/>
                <a:ext cx="698500" cy="127000"/>
              </a:xfrm>
              <a:prstGeom prst="roundRect">
                <a:avLst>
                  <a:gd name="adj" fmla="val 30000"/>
                </a:avLst>
              </a:prstGeom>
              <a:solidFill>
                <a:srgbClr val="D2D2D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Label"/>
              <p:cNvSpPr txBox="1"/>
              <p:nvPr/>
            </p:nvSpPr>
            <p:spPr>
              <a:xfrm>
                <a:off x="8585200" y="3743325"/>
                <a:ext cx="292100" cy="1333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050"/>
                  </a:lnSpc>
                  <a:spcBef>
                    <a:spcPts val="0"/>
                  </a:spcBef>
                </a:pPr>
                <a:r>
                  <a:rPr lang="ko-KR" altLang="en-US" sz="900" b="0" spc="-15">
                    <a:solidFill>
                      <a:srgbClr val="7A7A7A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업로드</a:t>
                </a:r>
              </a:p>
            </p:txBody>
          </p:sp>
          <p:sp>
            <p:nvSpPr>
              <p:cNvPr id="59" name="Seg"/>
              <p:cNvSpPr/>
              <p:nvPr/>
            </p:nvSpPr>
            <p:spPr>
              <a:xfrm>
                <a:off x="9105900" y="3552825"/>
                <a:ext cx="698500" cy="127000"/>
              </a:xfrm>
              <a:prstGeom prst="roundRect">
                <a:avLst>
                  <a:gd name="adj" fmla="val 30000"/>
                </a:avLst>
              </a:prstGeom>
              <a:solidFill>
                <a:srgbClr val="D2D2D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Label"/>
              <p:cNvSpPr txBox="1"/>
              <p:nvPr/>
            </p:nvSpPr>
            <p:spPr>
              <a:xfrm>
                <a:off x="9296400" y="3743325"/>
                <a:ext cx="317500" cy="1333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050"/>
                  </a:lnSpc>
                  <a:spcBef>
                    <a:spcPts val="0"/>
                  </a:spcBef>
                </a:pPr>
                <a:r>
                  <a:rPr lang="ko-KR" altLang="en-US" sz="900" b="0" spc="-15">
                    <a:solidFill>
                      <a:srgbClr val="7A7A7A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큐 대기</a:t>
                </a:r>
              </a:p>
            </p:txBody>
          </p:sp>
          <p:sp>
            <p:nvSpPr>
              <p:cNvPr id="61" name="Seg"/>
              <p:cNvSpPr/>
              <p:nvPr/>
            </p:nvSpPr>
            <p:spPr>
              <a:xfrm>
                <a:off x="9829800" y="3552825"/>
                <a:ext cx="698500" cy="127000"/>
              </a:xfrm>
              <a:prstGeom prst="roundRect">
                <a:avLst>
                  <a:gd name="adj" fmla="val 30000"/>
                </a:avLst>
              </a:prstGeom>
              <a:solidFill>
                <a:srgbClr val="D2D2D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Label"/>
              <p:cNvSpPr txBox="1"/>
              <p:nvPr/>
            </p:nvSpPr>
            <p:spPr>
              <a:xfrm>
                <a:off x="9972675" y="3743325"/>
                <a:ext cx="412750" cy="1333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050"/>
                  </a:lnSpc>
                  <a:spcBef>
                    <a:spcPts val="0"/>
                  </a:spcBef>
                </a:pPr>
                <a:r>
                  <a:rPr lang="ko-KR" altLang="en-US" sz="900" b="0" spc="-15">
                    <a:solidFill>
                      <a:srgbClr val="7A7A7A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Bedrock</a:t>
                </a:r>
              </a:p>
            </p:txBody>
          </p:sp>
          <p:sp>
            <p:nvSpPr>
              <p:cNvPr id="63" name="Seg"/>
              <p:cNvSpPr/>
              <p:nvPr/>
            </p:nvSpPr>
            <p:spPr>
              <a:xfrm>
                <a:off x="10553700" y="3552825"/>
                <a:ext cx="698500" cy="127000"/>
              </a:xfrm>
              <a:prstGeom prst="roundRect">
                <a:avLst>
                  <a:gd name="adj" fmla="val 30000"/>
                </a:avLst>
              </a:prstGeom>
              <a:solidFill>
                <a:srgbClr val="D2D2D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Label"/>
              <p:cNvSpPr txBox="1"/>
              <p:nvPr/>
            </p:nvSpPr>
            <p:spPr>
              <a:xfrm>
                <a:off x="10693400" y="3743325"/>
                <a:ext cx="419100" cy="1333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050"/>
                  </a:lnSpc>
                  <a:spcBef>
                    <a:spcPts val="0"/>
                  </a:spcBef>
                </a:pPr>
                <a:r>
                  <a:rPr lang="ko-KR" altLang="en-US" sz="900" b="0" spc="-15">
                    <a:solidFill>
                      <a:srgbClr val="7A7A7A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결과 표시</a:t>
                </a:r>
              </a:p>
            </p:txBody>
          </p:sp>
        </p:grpSp>
        <p:sp>
          <p:nvSpPr>
            <p:cNvPr id="65" name="Headline"/>
            <p:cNvSpPr txBox="1"/>
            <p:nvPr/>
          </p:nvSpPr>
          <p:spPr>
            <a:xfrm>
              <a:off x="8128000" y="4876800"/>
              <a:ext cx="2114550" cy="2730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2150"/>
                </a:lnSpc>
                <a:spcBef>
                  <a:spcPts val="0"/>
                </a:spcBef>
              </a:pPr>
              <a:r>
                <a:rPr lang="ko-KR" altLang="en-US" sz="18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자동 검산과 단계별 측정</a:t>
              </a:r>
            </a:p>
          </p:txBody>
        </p:sp>
        <p:sp>
          <p:nvSpPr>
            <p:cNvPr id="66" name="Keywords"/>
            <p:cNvSpPr txBox="1"/>
            <p:nvPr/>
          </p:nvSpPr>
          <p:spPr>
            <a:xfrm>
              <a:off x="8128000" y="5213350"/>
              <a:ext cx="165100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금액 검산 · 단계별 시간 기록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ection Nav"/>
          <p:cNvGrpSpPr/>
          <p:nvPr/>
        </p:nvGrpSpPr>
        <p:grpSpPr>
          <a:xfrm>
            <a:off x="0" y="0"/>
            <a:ext cx="12192000" cy="406400"/>
            <a:chOff x="0" y="0"/>
            <a:chExt cx="12192000" cy="406400"/>
          </a:xfrm>
        </p:grpSpPr>
        <p:sp>
          <p:nvSpPr>
            <p:cNvPr id="3" name="Section Nav"/>
            <p:cNvSpPr/>
            <p:nvPr/>
          </p:nvSpPr>
          <p:spPr>
            <a:xfrm>
              <a:off x="0" y="0"/>
              <a:ext cx="121920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Progress Bar"/>
            <p:cNvSpPr/>
            <p:nvPr/>
          </p:nvSpPr>
          <p:spPr>
            <a:xfrm>
              <a:off x="0" y="0"/>
              <a:ext cx="6775450" cy="381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ab 기획 배경"/>
            <p:cNvSpPr txBox="1"/>
            <p:nvPr/>
          </p:nvSpPr>
          <p:spPr>
            <a:xfrm>
              <a:off x="635000" y="241300"/>
              <a:ext cx="5143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기획 배경</a:t>
              </a:r>
            </a:p>
          </p:txBody>
        </p:sp>
        <p:sp>
          <p:nvSpPr>
            <p:cNvPr id="6" name="Tab 서비스"/>
            <p:cNvSpPr txBox="1"/>
            <p:nvPr/>
          </p:nvSpPr>
          <p:spPr>
            <a:xfrm>
              <a:off x="2492375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서비스</a:t>
              </a:r>
            </a:p>
          </p:txBody>
        </p:sp>
        <p:sp>
          <p:nvSpPr>
            <p:cNvPr id="7" name="Tab 차별점"/>
            <p:cNvSpPr txBox="1"/>
            <p:nvPr/>
          </p:nvSpPr>
          <p:spPr>
            <a:xfrm>
              <a:off x="4197350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차별점</a:t>
              </a:r>
            </a:p>
          </p:txBody>
        </p:sp>
        <p:sp>
          <p:nvSpPr>
            <p:cNvPr id="8" name="Tab 아키텍처"/>
            <p:cNvSpPr txBox="1"/>
            <p:nvPr/>
          </p:nvSpPr>
          <p:spPr>
            <a:xfrm>
              <a:off x="5902325" y="241300"/>
              <a:ext cx="4762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아키텍처</a:t>
              </a:r>
            </a:p>
          </p:txBody>
        </p:sp>
        <p:sp>
          <p:nvSpPr>
            <p:cNvPr id="9" name="Tab 예산"/>
            <p:cNvSpPr txBox="1"/>
            <p:nvPr/>
          </p:nvSpPr>
          <p:spPr>
            <a:xfrm>
              <a:off x="7721600" y="241300"/>
              <a:ext cx="2413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예산</a:t>
              </a:r>
            </a:p>
          </p:txBody>
        </p:sp>
        <p:sp>
          <p:nvSpPr>
            <p:cNvPr id="10" name="Tab 추진 계획"/>
            <p:cNvSpPr txBox="1"/>
            <p:nvPr/>
          </p:nvSpPr>
          <p:spPr>
            <a:xfrm>
              <a:off x="9305925" y="241300"/>
              <a:ext cx="5143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추진 계획</a:t>
              </a:r>
            </a:p>
          </p:txBody>
        </p:sp>
        <p:sp>
          <p:nvSpPr>
            <p:cNvPr id="11" name="Tab 팀 소개"/>
            <p:cNvSpPr txBox="1"/>
            <p:nvPr/>
          </p:nvSpPr>
          <p:spPr>
            <a:xfrm>
              <a:off x="11163300" y="241300"/>
              <a:ext cx="3937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팀 소개</a:t>
              </a:r>
            </a:p>
          </p:txBody>
        </p:sp>
      </p:grpSp>
      <p:sp>
        <p:nvSpPr>
          <p:cNvPr id="12" name="Title"/>
          <p:cNvSpPr txBox="1"/>
          <p:nvPr/>
        </p:nvSpPr>
        <p:spPr>
          <a:xfrm>
            <a:off x="635000" y="762000"/>
            <a:ext cx="2184400" cy="425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3350"/>
              </a:lnSpc>
              <a:spcBef>
                <a:spcPts val="0"/>
              </a:spcBef>
            </a:pPr>
            <a:r>
              <a:rPr lang="ko-KR" altLang="en-US" sz="2800" b="0" spc="-55">
                <a:solidFill>
                  <a:srgbClr val="1D1D1F"/>
                </a:solidFill>
                <a:latin typeface="Pretendard SemiBold" pitchFamily="50" charset="-127"/>
                <a:ea typeface="Pretendard SemiBold" pitchFamily="50" charset="-127"/>
                <a:cs typeface="Pretendard SemiBold" pitchFamily="50" charset="-127"/>
              </a:rPr>
              <a:t>시스템 아키텍처</a:t>
            </a:r>
          </a:p>
        </p:txBody>
      </p:sp>
      <p:sp>
        <p:nvSpPr>
          <p:cNvPr id="13" name="EKS Band"/>
          <p:cNvSpPr/>
          <p:nvPr/>
        </p:nvSpPr>
        <p:spPr>
          <a:xfrm>
            <a:off x="635000" y="2438400"/>
            <a:ext cx="10922000" cy="1778000"/>
          </a:xfrm>
          <a:prstGeom prst="roundRect">
            <a:avLst>
              <a:gd name="adj" fmla="val 6428"/>
            </a:avLst>
          </a:prstGeom>
          <a:solidFill>
            <a:srgbClr val="F5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I Band"/>
          <p:cNvSpPr/>
          <p:nvPr/>
        </p:nvSpPr>
        <p:spPr>
          <a:xfrm>
            <a:off x="635000" y="5511800"/>
            <a:ext cx="10922000" cy="76200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" name="EKS Label"/>
          <p:cNvGrpSpPr/>
          <p:nvPr/>
        </p:nvGrpSpPr>
        <p:grpSpPr>
          <a:xfrm>
            <a:off x="1905000" y="2527300"/>
            <a:ext cx="2444750" cy="165100"/>
            <a:chOff x="1905000" y="2527300"/>
            <a:chExt cx="2444750" cy="165100"/>
          </a:xfrm>
        </p:grpSpPr>
        <p:sp>
          <p:nvSpPr>
            <p:cNvPr id="16" name="Name"/>
            <p:cNvSpPr txBox="1"/>
            <p:nvPr/>
          </p:nvSpPr>
          <p:spPr>
            <a:xfrm>
              <a:off x="1905000" y="2527300"/>
              <a:ext cx="8064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Amazon EKS</a:t>
              </a:r>
            </a:p>
          </p:txBody>
        </p:sp>
        <p:sp>
          <p:nvSpPr>
            <p:cNvPr id="17" name="Sub"/>
            <p:cNvSpPr txBox="1"/>
            <p:nvPr/>
          </p:nvSpPr>
          <p:spPr>
            <a:xfrm>
              <a:off x="2787650" y="2543175"/>
              <a:ext cx="1562100" cy="1333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050"/>
                </a:lnSpc>
                <a:spcBef>
                  <a:spcPts val="0"/>
                </a:spcBef>
              </a:pPr>
              <a:r>
                <a:rPr lang="ko-KR" altLang="en-US" sz="90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노드 2→3대 · Cluster Autoscaler</a:t>
              </a:r>
            </a:p>
          </p:txBody>
        </p:sp>
      </p:grpSp>
      <p:grpSp>
        <p:nvGrpSpPr>
          <p:cNvPr id="18" name="ALB"/>
          <p:cNvGrpSpPr/>
          <p:nvPr/>
        </p:nvGrpSpPr>
        <p:grpSpPr>
          <a:xfrm>
            <a:off x="828675" y="2822575"/>
            <a:ext cx="6788150" cy="323850"/>
            <a:chOff x="828675" y="2822575"/>
            <a:chExt cx="6788150" cy="323850"/>
          </a:xfrm>
        </p:grpSpPr>
        <p:sp>
          <p:nvSpPr>
            <p:cNvPr id="19" name="ALB"/>
            <p:cNvSpPr/>
            <p:nvPr/>
          </p:nvSpPr>
          <p:spPr>
            <a:xfrm>
              <a:off x="828675" y="2822575"/>
              <a:ext cx="678815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rgbClr val="E0E0E0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Name"/>
            <p:cNvSpPr txBox="1"/>
            <p:nvPr/>
          </p:nvSpPr>
          <p:spPr>
            <a:xfrm>
              <a:off x="3149600" y="2908300"/>
              <a:ext cx="685800" cy="152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</a:pPr>
              <a:r>
                <a:rPr lang="ko-KR" altLang="en-US" sz="10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ALB Ingress</a:t>
              </a:r>
            </a:p>
          </p:txBody>
        </p:sp>
        <p:sp>
          <p:nvSpPr>
            <p:cNvPr id="21" name="Paths"/>
            <p:cNvSpPr txBox="1"/>
            <p:nvPr/>
          </p:nvSpPr>
          <p:spPr>
            <a:xfrm>
              <a:off x="3937000" y="2917825"/>
              <a:ext cx="1358900" cy="1333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050"/>
                </a:lnSpc>
                <a:spcBef>
                  <a:spcPts val="0"/>
                </a:spcBef>
              </a:pPr>
              <a:r>
                <a:rPr lang="ko-KR" altLang="en-US" sz="900" b="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/api  ·  /chat  ·  /preprocess</a:t>
              </a:r>
            </a:p>
          </p:txBody>
        </p:sp>
      </p:grpSp>
      <p:grpSp>
        <p:nvGrpSpPr>
          <p:cNvPr id="22" name="Box 웹 앱 (React)"/>
          <p:cNvGrpSpPr/>
          <p:nvPr/>
        </p:nvGrpSpPr>
        <p:grpSpPr>
          <a:xfrm>
            <a:off x="638175" y="1590675"/>
            <a:ext cx="1898650" cy="527050"/>
            <a:chOff x="638175" y="1590675"/>
            <a:chExt cx="1898650" cy="527050"/>
          </a:xfrm>
        </p:grpSpPr>
        <p:sp>
          <p:nvSpPr>
            <p:cNvPr id="23" name="Box 웹 앱 (React)"/>
            <p:cNvSpPr/>
            <p:nvPr/>
          </p:nvSpPr>
          <p:spPr>
            <a:xfrm>
              <a:off x="638175" y="1590675"/>
              <a:ext cx="1898650" cy="527050"/>
            </a:xfrm>
            <a:prstGeom prst="roundRect">
              <a:avLst>
                <a:gd name="adj" fmla="val 21686"/>
              </a:avLst>
            </a:prstGeom>
            <a:solidFill>
              <a:srgbClr val="FFFFFF"/>
            </a:solidFill>
            <a:ln w="6350">
              <a:solidFill>
                <a:srgbClr val="E0E0E0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Name"/>
            <p:cNvSpPr txBox="1"/>
            <p:nvPr/>
          </p:nvSpPr>
          <p:spPr>
            <a:xfrm>
              <a:off x="1174750" y="1685925"/>
              <a:ext cx="82550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20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웹 앱 (React)</a:t>
              </a:r>
            </a:p>
          </p:txBody>
        </p:sp>
        <p:sp>
          <p:nvSpPr>
            <p:cNvPr id="25" name="Sub"/>
            <p:cNvSpPr txBox="1"/>
            <p:nvPr/>
          </p:nvSpPr>
          <p:spPr>
            <a:xfrm>
              <a:off x="1108075" y="1895475"/>
              <a:ext cx="958850" cy="127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00"/>
                </a:lnSpc>
                <a:spcBef>
                  <a:spcPts val="0"/>
                </a:spcBef>
              </a:pPr>
              <a:r>
                <a:rPr lang="ko-KR" altLang="en-US" sz="85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촬영 가이드 · 원근 보정</a:t>
              </a:r>
            </a:p>
          </p:txBody>
        </p:sp>
      </p:grpSp>
      <p:grpSp>
        <p:nvGrpSpPr>
          <p:cNvPr id="26" name="Box Amazon Cognito"/>
          <p:cNvGrpSpPr/>
          <p:nvPr/>
        </p:nvGrpSpPr>
        <p:grpSpPr>
          <a:xfrm>
            <a:off x="2797175" y="1590675"/>
            <a:ext cx="1771650" cy="527050"/>
            <a:chOff x="2797175" y="1590675"/>
            <a:chExt cx="1771650" cy="527050"/>
          </a:xfrm>
        </p:grpSpPr>
        <p:sp>
          <p:nvSpPr>
            <p:cNvPr id="27" name="Box Amazon Cognito"/>
            <p:cNvSpPr/>
            <p:nvPr/>
          </p:nvSpPr>
          <p:spPr>
            <a:xfrm>
              <a:off x="2797175" y="1590675"/>
              <a:ext cx="1771650" cy="527050"/>
            </a:xfrm>
            <a:prstGeom prst="roundRect">
              <a:avLst>
                <a:gd name="adj" fmla="val 21686"/>
              </a:avLst>
            </a:prstGeom>
            <a:solidFill>
              <a:srgbClr val="FFFFFF"/>
            </a:solidFill>
            <a:ln w="6350">
              <a:solidFill>
                <a:srgbClr val="E0E0E0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Name"/>
            <p:cNvSpPr txBox="1"/>
            <p:nvPr/>
          </p:nvSpPr>
          <p:spPr>
            <a:xfrm>
              <a:off x="3111500" y="1685925"/>
              <a:ext cx="114300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20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Amazon Cognito</a:t>
              </a:r>
            </a:p>
          </p:txBody>
        </p:sp>
        <p:sp>
          <p:nvSpPr>
            <p:cNvPr id="29" name="Sub"/>
            <p:cNvSpPr txBox="1"/>
            <p:nvPr/>
          </p:nvSpPr>
          <p:spPr>
            <a:xfrm>
              <a:off x="3286125" y="1895475"/>
              <a:ext cx="793750" cy="127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00"/>
                </a:lnSpc>
                <a:spcBef>
                  <a:spcPts val="0"/>
                </a:spcBef>
              </a:pPr>
              <a:r>
                <a:rPr lang="ko-KR" altLang="en-US" sz="85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직원·담당자 로그인</a:t>
              </a:r>
            </a:p>
          </p:txBody>
        </p:sp>
      </p:grpSp>
      <p:grpSp>
        <p:nvGrpSpPr>
          <p:cNvPr id="30" name="Box S3 영수증 버킷"/>
          <p:cNvGrpSpPr/>
          <p:nvPr/>
        </p:nvGrpSpPr>
        <p:grpSpPr>
          <a:xfrm>
            <a:off x="6607175" y="1590675"/>
            <a:ext cx="1898650" cy="527050"/>
            <a:chOff x="6607175" y="1590675"/>
            <a:chExt cx="1898650" cy="527050"/>
          </a:xfrm>
        </p:grpSpPr>
        <p:sp>
          <p:nvSpPr>
            <p:cNvPr id="31" name="Box S3 영수증 버킷"/>
            <p:cNvSpPr/>
            <p:nvPr/>
          </p:nvSpPr>
          <p:spPr>
            <a:xfrm>
              <a:off x="6607175" y="1590675"/>
              <a:ext cx="1898650" cy="527050"/>
            </a:xfrm>
            <a:prstGeom prst="roundRect">
              <a:avLst>
                <a:gd name="adj" fmla="val 21686"/>
              </a:avLst>
            </a:prstGeom>
            <a:solidFill>
              <a:srgbClr val="FFFFFF"/>
            </a:solidFill>
            <a:ln w="6350">
              <a:solidFill>
                <a:srgbClr val="E0E0E0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Name"/>
            <p:cNvSpPr txBox="1"/>
            <p:nvPr/>
          </p:nvSpPr>
          <p:spPr>
            <a:xfrm>
              <a:off x="7105650" y="1685925"/>
              <a:ext cx="90170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20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S3 영수증 버킷</a:t>
              </a:r>
            </a:p>
          </p:txBody>
        </p:sp>
        <p:sp>
          <p:nvSpPr>
            <p:cNvPr id="33" name="Sub"/>
            <p:cNvSpPr txBox="1"/>
            <p:nvPr/>
          </p:nvSpPr>
          <p:spPr>
            <a:xfrm>
              <a:off x="7207250" y="1895475"/>
              <a:ext cx="698500" cy="127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00"/>
                </a:lnSpc>
                <a:spcBef>
                  <a:spcPts val="0"/>
                </a:spcBef>
              </a:pPr>
              <a:r>
                <a:rPr lang="ko-KR" altLang="en-US" sz="85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원본·보정 이미지</a:t>
              </a:r>
            </a:p>
          </p:txBody>
        </p:sp>
      </p:grpSp>
      <p:grpSp>
        <p:nvGrpSpPr>
          <p:cNvPr id="34" name="Box Amazon SQS"/>
          <p:cNvGrpSpPr/>
          <p:nvPr/>
        </p:nvGrpSpPr>
        <p:grpSpPr>
          <a:xfrm>
            <a:off x="9020175" y="1590675"/>
            <a:ext cx="1898650" cy="527050"/>
            <a:chOff x="9020175" y="1590675"/>
            <a:chExt cx="1898650" cy="527050"/>
          </a:xfrm>
        </p:grpSpPr>
        <p:sp>
          <p:nvSpPr>
            <p:cNvPr id="35" name="Box Amazon SQS"/>
            <p:cNvSpPr/>
            <p:nvPr/>
          </p:nvSpPr>
          <p:spPr>
            <a:xfrm>
              <a:off x="9020175" y="1590675"/>
              <a:ext cx="1898650" cy="527050"/>
            </a:xfrm>
            <a:prstGeom prst="roundRect">
              <a:avLst>
                <a:gd name="adj" fmla="val 21686"/>
              </a:avLst>
            </a:prstGeom>
            <a:solidFill>
              <a:srgbClr val="FFFFFF"/>
            </a:solidFill>
            <a:ln w="6350">
              <a:solidFill>
                <a:srgbClr val="E0E0E0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Name"/>
            <p:cNvSpPr txBox="1"/>
            <p:nvPr/>
          </p:nvSpPr>
          <p:spPr>
            <a:xfrm>
              <a:off x="9521825" y="1685925"/>
              <a:ext cx="89535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20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Amazon SQS</a:t>
              </a:r>
            </a:p>
          </p:txBody>
        </p:sp>
        <p:sp>
          <p:nvSpPr>
            <p:cNvPr id="37" name="Sub"/>
            <p:cNvSpPr txBox="1"/>
            <p:nvPr/>
          </p:nvSpPr>
          <p:spPr>
            <a:xfrm>
              <a:off x="9585325" y="1895475"/>
              <a:ext cx="768350" cy="127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00"/>
                </a:lnSpc>
                <a:spcBef>
                  <a:spcPts val="0"/>
                </a:spcBef>
              </a:pPr>
              <a:r>
                <a:rPr lang="ko-KR" altLang="en-US" sz="85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추출 대기열 · DLQ</a:t>
              </a:r>
            </a:p>
          </p:txBody>
        </p:sp>
      </p:grpSp>
      <p:grpSp>
        <p:nvGrpSpPr>
          <p:cNvPr id="38" name="Box api-service"/>
          <p:cNvGrpSpPr/>
          <p:nvPr/>
        </p:nvGrpSpPr>
        <p:grpSpPr>
          <a:xfrm>
            <a:off x="828675" y="3368675"/>
            <a:ext cx="2089150" cy="692150"/>
            <a:chOff x="828675" y="3368675"/>
            <a:chExt cx="2089150" cy="692150"/>
          </a:xfrm>
        </p:grpSpPr>
        <p:sp>
          <p:nvSpPr>
            <p:cNvPr id="39" name="Box api-service"/>
            <p:cNvSpPr/>
            <p:nvPr/>
          </p:nvSpPr>
          <p:spPr>
            <a:xfrm>
              <a:off x="828675" y="3368675"/>
              <a:ext cx="2089150" cy="692150"/>
            </a:xfrm>
            <a:prstGeom prst="roundRect">
              <a:avLst>
                <a:gd name="adj" fmla="val 16513"/>
              </a:avLst>
            </a:prstGeom>
            <a:solidFill>
              <a:srgbClr val="FFFFFF"/>
            </a:solidFill>
            <a:ln w="6350">
              <a:solidFill>
                <a:srgbClr val="E0E0E0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Name"/>
            <p:cNvSpPr txBox="1"/>
            <p:nvPr/>
          </p:nvSpPr>
          <p:spPr>
            <a:xfrm>
              <a:off x="1485900" y="3546475"/>
              <a:ext cx="77470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20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api-service</a:t>
              </a:r>
            </a:p>
          </p:txBody>
        </p:sp>
        <p:sp>
          <p:nvSpPr>
            <p:cNvPr id="41" name="Sub"/>
            <p:cNvSpPr txBox="1"/>
            <p:nvPr/>
          </p:nvSpPr>
          <p:spPr>
            <a:xfrm>
              <a:off x="1377950" y="3756025"/>
              <a:ext cx="990600" cy="127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00"/>
                </a:lnSpc>
                <a:spcBef>
                  <a:spcPts val="0"/>
                </a:spcBef>
              </a:pPr>
              <a:r>
                <a:rPr lang="ko-KR" altLang="en-US" sz="85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증빙 · 검수 · 상태 · HPA</a:t>
              </a:r>
            </a:p>
          </p:txBody>
        </p:sp>
      </p:grpSp>
      <p:grpSp>
        <p:nvGrpSpPr>
          <p:cNvPr id="42" name="Box chat-service"/>
          <p:cNvGrpSpPr/>
          <p:nvPr/>
        </p:nvGrpSpPr>
        <p:grpSpPr>
          <a:xfrm>
            <a:off x="3181350" y="3371850"/>
            <a:ext cx="2082800" cy="685800"/>
            <a:chOff x="3181350" y="3371850"/>
            <a:chExt cx="2082800" cy="685800"/>
          </a:xfrm>
        </p:grpSpPr>
        <p:sp>
          <p:nvSpPr>
            <p:cNvPr id="43" name="Box chat-service"/>
            <p:cNvSpPr/>
            <p:nvPr/>
          </p:nvSpPr>
          <p:spPr>
            <a:xfrm>
              <a:off x="3181350" y="3371850"/>
              <a:ext cx="2082800" cy="685800"/>
            </a:xfrm>
            <a:prstGeom prst="roundRect">
              <a:avLst>
                <a:gd name="adj" fmla="val 16666"/>
              </a:avLst>
            </a:prstGeom>
            <a:solidFill>
              <a:srgbClr val="EBF3FB"/>
            </a:solidFill>
            <a:ln w="12700">
              <a:solidFill>
                <a:srgbClr val="0066CC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Name"/>
            <p:cNvSpPr txBox="1"/>
            <p:nvPr/>
          </p:nvSpPr>
          <p:spPr>
            <a:xfrm>
              <a:off x="3787775" y="3546475"/>
              <a:ext cx="86995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20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chat-service</a:t>
              </a:r>
            </a:p>
          </p:txBody>
        </p:sp>
        <p:sp>
          <p:nvSpPr>
            <p:cNvPr id="45" name="Sub"/>
            <p:cNvSpPr txBox="1"/>
            <p:nvPr/>
          </p:nvSpPr>
          <p:spPr>
            <a:xfrm>
              <a:off x="3781425" y="3756025"/>
              <a:ext cx="882650" cy="127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00"/>
                </a:lnSpc>
                <a:spcBef>
                  <a:spcPts val="0"/>
                </a:spcBef>
              </a:pPr>
              <a:r>
                <a:rPr lang="ko-KR" altLang="en-US" sz="85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누락 정보 질문 · HPA</a:t>
              </a:r>
            </a:p>
          </p:txBody>
        </p:sp>
      </p:grpSp>
      <p:grpSp>
        <p:nvGrpSpPr>
          <p:cNvPr id="46" name="Box preprocess"/>
          <p:cNvGrpSpPr/>
          <p:nvPr/>
        </p:nvGrpSpPr>
        <p:grpSpPr>
          <a:xfrm>
            <a:off x="5527675" y="3368675"/>
            <a:ext cx="2089150" cy="692150"/>
            <a:chOff x="5527675" y="3368675"/>
            <a:chExt cx="2089150" cy="692150"/>
          </a:xfrm>
        </p:grpSpPr>
        <p:sp>
          <p:nvSpPr>
            <p:cNvPr id="47" name="Box preprocess"/>
            <p:cNvSpPr/>
            <p:nvPr/>
          </p:nvSpPr>
          <p:spPr>
            <a:xfrm>
              <a:off x="5527675" y="3368675"/>
              <a:ext cx="2089150" cy="692150"/>
            </a:xfrm>
            <a:prstGeom prst="roundRect">
              <a:avLst>
                <a:gd name="adj" fmla="val 16513"/>
              </a:avLst>
            </a:prstGeom>
            <a:solidFill>
              <a:srgbClr val="FFFFFF"/>
            </a:solidFill>
            <a:ln w="6350">
              <a:solidFill>
                <a:srgbClr val="E0E0E0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Name"/>
            <p:cNvSpPr txBox="1"/>
            <p:nvPr/>
          </p:nvSpPr>
          <p:spPr>
            <a:xfrm>
              <a:off x="6184900" y="3546475"/>
              <a:ext cx="77470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20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preprocess</a:t>
              </a:r>
            </a:p>
          </p:txBody>
        </p:sp>
        <p:sp>
          <p:nvSpPr>
            <p:cNvPr id="49" name="Sub"/>
            <p:cNvSpPr txBox="1"/>
            <p:nvPr/>
          </p:nvSpPr>
          <p:spPr>
            <a:xfrm>
              <a:off x="6130925" y="3756025"/>
              <a:ext cx="882650" cy="127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00"/>
                </a:lnSpc>
                <a:spcBef>
                  <a:spcPts val="0"/>
                </a:spcBef>
              </a:pPr>
              <a:r>
                <a:rPr lang="ko-KR" altLang="en-US" sz="85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서버 원근 보정 · HPA</a:t>
              </a:r>
            </a:p>
          </p:txBody>
        </p:sp>
      </p:grpSp>
      <p:grpSp>
        <p:nvGrpSpPr>
          <p:cNvPr id="50" name="Box ocr-worker"/>
          <p:cNvGrpSpPr/>
          <p:nvPr/>
        </p:nvGrpSpPr>
        <p:grpSpPr>
          <a:xfrm>
            <a:off x="8769350" y="3371850"/>
            <a:ext cx="2527300" cy="685800"/>
            <a:chOff x="8769350" y="3371850"/>
            <a:chExt cx="2527300" cy="685800"/>
          </a:xfrm>
        </p:grpSpPr>
        <p:sp>
          <p:nvSpPr>
            <p:cNvPr id="51" name="Box ocr-worker"/>
            <p:cNvSpPr/>
            <p:nvPr/>
          </p:nvSpPr>
          <p:spPr>
            <a:xfrm>
              <a:off x="8769350" y="3371850"/>
              <a:ext cx="2527300" cy="685800"/>
            </a:xfrm>
            <a:prstGeom prst="roundRect">
              <a:avLst>
                <a:gd name="adj" fmla="val 16666"/>
              </a:avLst>
            </a:prstGeom>
            <a:solidFill>
              <a:srgbClr val="EBF3FB"/>
            </a:solidFill>
            <a:ln w="12700">
              <a:solidFill>
                <a:srgbClr val="0066CC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Name"/>
            <p:cNvSpPr txBox="1"/>
            <p:nvPr/>
          </p:nvSpPr>
          <p:spPr>
            <a:xfrm>
              <a:off x="9652000" y="3546475"/>
              <a:ext cx="76200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20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ocr-worker</a:t>
              </a:r>
            </a:p>
          </p:txBody>
        </p:sp>
        <p:sp>
          <p:nvSpPr>
            <p:cNvPr id="53" name="Sub"/>
            <p:cNvSpPr txBox="1"/>
            <p:nvPr/>
          </p:nvSpPr>
          <p:spPr>
            <a:xfrm>
              <a:off x="9639300" y="3756025"/>
              <a:ext cx="787400" cy="127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00"/>
                </a:lnSpc>
                <a:spcBef>
                  <a:spcPts val="0"/>
                </a:spcBef>
              </a:pPr>
              <a:r>
                <a:rPr lang="ko-KR" altLang="en-US" sz="85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추출 · 검산 · KEDA</a:t>
              </a:r>
            </a:p>
          </p:txBody>
        </p:sp>
      </p:grpSp>
      <p:grpSp>
        <p:nvGrpSpPr>
          <p:cNvPr id="54" name="Box Amazon Bedrock"/>
          <p:cNvGrpSpPr/>
          <p:nvPr/>
        </p:nvGrpSpPr>
        <p:grpSpPr>
          <a:xfrm>
            <a:off x="3178175" y="4575175"/>
            <a:ext cx="4438650" cy="527050"/>
            <a:chOff x="3178175" y="4575175"/>
            <a:chExt cx="4438650" cy="527050"/>
          </a:xfrm>
        </p:grpSpPr>
        <p:sp>
          <p:nvSpPr>
            <p:cNvPr id="55" name="Box Amazon Bedrock"/>
            <p:cNvSpPr/>
            <p:nvPr/>
          </p:nvSpPr>
          <p:spPr>
            <a:xfrm>
              <a:off x="3178175" y="4575175"/>
              <a:ext cx="4438650" cy="527050"/>
            </a:xfrm>
            <a:prstGeom prst="roundRect">
              <a:avLst>
                <a:gd name="adj" fmla="val 21686"/>
              </a:avLst>
            </a:prstGeom>
            <a:solidFill>
              <a:srgbClr val="FFFFFF"/>
            </a:solidFill>
            <a:ln w="6350">
              <a:solidFill>
                <a:srgbClr val="E0E0E0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Name"/>
            <p:cNvSpPr txBox="1"/>
            <p:nvPr/>
          </p:nvSpPr>
          <p:spPr>
            <a:xfrm>
              <a:off x="4813300" y="4670425"/>
              <a:ext cx="116840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20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Amazon Bedrock</a:t>
              </a:r>
            </a:p>
          </p:txBody>
        </p:sp>
        <p:sp>
          <p:nvSpPr>
            <p:cNvPr id="57" name="Sub"/>
            <p:cNvSpPr txBox="1"/>
            <p:nvPr/>
          </p:nvSpPr>
          <p:spPr>
            <a:xfrm>
              <a:off x="4705350" y="4879975"/>
              <a:ext cx="1384300" cy="127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00"/>
                </a:lnSpc>
                <a:spcBef>
                  <a:spcPts val="0"/>
                </a:spcBef>
              </a:pPr>
              <a:r>
                <a:rPr lang="ko-KR" altLang="en-US" sz="85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챗봇 대화 · 영수증 → JSON 추출</a:t>
              </a:r>
            </a:p>
          </p:txBody>
        </p:sp>
      </p:grpSp>
      <p:grpSp>
        <p:nvGrpSpPr>
          <p:cNvPr id="58" name="Box DynamoDB"/>
          <p:cNvGrpSpPr/>
          <p:nvPr/>
        </p:nvGrpSpPr>
        <p:grpSpPr>
          <a:xfrm>
            <a:off x="8766175" y="4575175"/>
            <a:ext cx="2533650" cy="527050"/>
            <a:chOff x="8766175" y="4575175"/>
            <a:chExt cx="2533650" cy="527050"/>
          </a:xfrm>
        </p:grpSpPr>
        <p:sp>
          <p:nvSpPr>
            <p:cNvPr id="59" name="Box DynamoDB"/>
            <p:cNvSpPr/>
            <p:nvPr/>
          </p:nvSpPr>
          <p:spPr>
            <a:xfrm>
              <a:off x="8766175" y="4575175"/>
              <a:ext cx="2533650" cy="527050"/>
            </a:xfrm>
            <a:prstGeom prst="roundRect">
              <a:avLst>
                <a:gd name="adj" fmla="val 21686"/>
              </a:avLst>
            </a:prstGeom>
            <a:solidFill>
              <a:srgbClr val="FFFFFF"/>
            </a:solidFill>
            <a:ln w="6350">
              <a:solidFill>
                <a:srgbClr val="E0E0E0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Name"/>
            <p:cNvSpPr txBox="1"/>
            <p:nvPr/>
          </p:nvSpPr>
          <p:spPr>
            <a:xfrm>
              <a:off x="9648825" y="4670425"/>
              <a:ext cx="76835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20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DynamoDB</a:t>
              </a:r>
            </a:p>
          </p:txBody>
        </p:sp>
        <p:sp>
          <p:nvSpPr>
            <p:cNvPr id="61" name="Sub"/>
            <p:cNvSpPr txBox="1"/>
            <p:nvPr/>
          </p:nvSpPr>
          <p:spPr>
            <a:xfrm>
              <a:off x="9623425" y="4879975"/>
              <a:ext cx="819150" cy="127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00"/>
                </a:lnSpc>
                <a:spcBef>
                  <a:spcPts val="0"/>
                </a:spcBef>
              </a:pPr>
              <a:r>
                <a:rPr lang="ko-KR" altLang="en-US" sz="85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증빙·상태·처리 기록</a:t>
              </a:r>
            </a:p>
          </p:txBody>
        </p:sp>
      </p:grpSp>
      <p:grpSp>
        <p:nvGrpSpPr>
          <p:cNvPr id="62" name="Box Amazon ECR"/>
          <p:cNvGrpSpPr/>
          <p:nvPr/>
        </p:nvGrpSpPr>
        <p:grpSpPr>
          <a:xfrm>
            <a:off x="828675" y="5667375"/>
            <a:ext cx="1644650" cy="450850"/>
            <a:chOff x="828675" y="5667375"/>
            <a:chExt cx="1644650" cy="450850"/>
          </a:xfrm>
        </p:grpSpPr>
        <p:sp>
          <p:nvSpPr>
            <p:cNvPr id="63" name="Box Amazon ECR"/>
            <p:cNvSpPr/>
            <p:nvPr/>
          </p:nvSpPr>
          <p:spPr>
            <a:xfrm>
              <a:off x="828675" y="5667375"/>
              <a:ext cx="1644650" cy="450850"/>
            </a:xfrm>
            <a:prstGeom prst="roundRect">
              <a:avLst>
                <a:gd name="adj" fmla="val 25352"/>
              </a:avLst>
            </a:prstGeom>
            <a:solidFill>
              <a:srgbClr val="FFFFFF"/>
            </a:solidFill>
            <a:ln w="6350">
              <a:solidFill>
                <a:srgbClr val="E0E0E0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Name"/>
            <p:cNvSpPr txBox="1"/>
            <p:nvPr/>
          </p:nvSpPr>
          <p:spPr>
            <a:xfrm>
              <a:off x="1209675" y="5724525"/>
              <a:ext cx="88265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20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Amazon ECR</a:t>
              </a:r>
            </a:p>
          </p:txBody>
        </p:sp>
        <p:sp>
          <p:nvSpPr>
            <p:cNvPr id="65" name="Sub"/>
            <p:cNvSpPr txBox="1"/>
            <p:nvPr/>
          </p:nvSpPr>
          <p:spPr>
            <a:xfrm>
              <a:off x="1314450" y="5934075"/>
              <a:ext cx="673100" cy="127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00"/>
                </a:lnSpc>
                <a:spcBef>
                  <a:spcPts val="0"/>
                </a:spcBef>
              </a:pPr>
              <a:r>
                <a:rPr lang="ko-KR" altLang="en-US" sz="85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컨테이너 이미지</a:t>
              </a:r>
            </a:p>
          </p:txBody>
        </p:sp>
      </p:grpSp>
      <p:grpSp>
        <p:nvGrpSpPr>
          <p:cNvPr id="66" name="Box GitHub Actions"/>
          <p:cNvGrpSpPr/>
          <p:nvPr/>
        </p:nvGrpSpPr>
        <p:grpSpPr>
          <a:xfrm>
            <a:off x="2987675" y="5667375"/>
            <a:ext cx="1898650" cy="450850"/>
            <a:chOff x="2987675" y="5667375"/>
            <a:chExt cx="1898650" cy="450850"/>
          </a:xfrm>
        </p:grpSpPr>
        <p:sp>
          <p:nvSpPr>
            <p:cNvPr id="67" name="Box GitHub Actions"/>
            <p:cNvSpPr/>
            <p:nvPr/>
          </p:nvSpPr>
          <p:spPr>
            <a:xfrm>
              <a:off x="2987675" y="5667375"/>
              <a:ext cx="1898650" cy="450850"/>
            </a:xfrm>
            <a:prstGeom prst="roundRect">
              <a:avLst>
                <a:gd name="adj" fmla="val 25352"/>
              </a:avLst>
            </a:prstGeom>
            <a:solidFill>
              <a:srgbClr val="FFFFFF"/>
            </a:solidFill>
            <a:ln w="6350">
              <a:solidFill>
                <a:srgbClr val="E0E0E0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Name"/>
            <p:cNvSpPr txBox="1"/>
            <p:nvPr/>
          </p:nvSpPr>
          <p:spPr>
            <a:xfrm>
              <a:off x="3416300" y="5724525"/>
              <a:ext cx="104140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20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GitHub Actions</a:t>
              </a:r>
            </a:p>
          </p:txBody>
        </p:sp>
        <p:sp>
          <p:nvSpPr>
            <p:cNvPr id="69" name="Sub"/>
            <p:cNvSpPr txBox="1"/>
            <p:nvPr/>
          </p:nvSpPr>
          <p:spPr>
            <a:xfrm>
              <a:off x="3667125" y="5934075"/>
              <a:ext cx="539750" cy="127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00"/>
                </a:lnSpc>
                <a:spcBef>
                  <a:spcPts val="0"/>
                </a:spcBef>
              </a:pPr>
              <a:r>
                <a:rPr lang="ko-KR" altLang="en-US" sz="85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빌드 · 테스트</a:t>
              </a:r>
            </a:p>
          </p:txBody>
        </p:sp>
      </p:grpSp>
      <p:grpSp>
        <p:nvGrpSpPr>
          <p:cNvPr id="70" name="Box GitHub"/>
          <p:cNvGrpSpPr/>
          <p:nvPr/>
        </p:nvGrpSpPr>
        <p:grpSpPr>
          <a:xfrm>
            <a:off x="5400675" y="5667375"/>
            <a:ext cx="1644650" cy="450850"/>
            <a:chOff x="5400675" y="5667375"/>
            <a:chExt cx="1644650" cy="450850"/>
          </a:xfrm>
        </p:grpSpPr>
        <p:sp>
          <p:nvSpPr>
            <p:cNvPr id="71" name="Box GitHub"/>
            <p:cNvSpPr/>
            <p:nvPr/>
          </p:nvSpPr>
          <p:spPr>
            <a:xfrm>
              <a:off x="5400675" y="5667375"/>
              <a:ext cx="1644650" cy="450850"/>
            </a:xfrm>
            <a:prstGeom prst="roundRect">
              <a:avLst>
                <a:gd name="adj" fmla="val 25352"/>
              </a:avLst>
            </a:prstGeom>
            <a:solidFill>
              <a:srgbClr val="FFFFFF"/>
            </a:solidFill>
            <a:ln w="6350">
              <a:solidFill>
                <a:srgbClr val="E0E0E0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Name"/>
            <p:cNvSpPr txBox="1"/>
            <p:nvPr/>
          </p:nvSpPr>
          <p:spPr>
            <a:xfrm>
              <a:off x="5978525" y="5724525"/>
              <a:ext cx="48895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20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GitHub</a:t>
              </a:r>
            </a:p>
          </p:txBody>
        </p:sp>
        <p:sp>
          <p:nvSpPr>
            <p:cNvPr id="73" name="Sub"/>
            <p:cNvSpPr txBox="1"/>
            <p:nvPr/>
          </p:nvSpPr>
          <p:spPr>
            <a:xfrm>
              <a:off x="5921375" y="5934075"/>
              <a:ext cx="603250" cy="127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000"/>
                </a:lnSpc>
                <a:spcBef>
                  <a:spcPts val="0"/>
                </a:spcBef>
              </a:pPr>
              <a:r>
                <a:rPr lang="ko-KR" altLang="en-US" sz="85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PR · 코드 리뷰</a:t>
              </a:r>
            </a:p>
          </p:txBody>
        </p:sp>
      </p:grpSp>
      <p:grpSp>
        <p:nvGrpSpPr>
          <p:cNvPr id="74" name="CI Label"/>
          <p:cNvGrpSpPr/>
          <p:nvPr/>
        </p:nvGrpSpPr>
        <p:grpSpPr>
          <a:xfrm>
            <a:off x="7556500" y="5715000"/>
            <a:ext cx="1327150" cy="323850"/>
            <a:chOff x="7556500" y="5715000"/>
            <a:chExt cx="1327150" cy="323850"/>
          </a:xfrm>
        </p:grpSpPr>
        <p:sp>
          <p:nvSpPr>
            <p:cNvPr id="75" name="Name"/>
            <p:cNvSpPr txBox="1"/>
            <p:nvPr/>
          </p:nvSpPr>
          <p:spPr>
            <a:xfrm>
              <a:off x="7556500" y="5715000"/>
              <a:ext cx="3746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CI/CD</a:t>
              </a:r>
            </a:p>
          </p:txBody>
        </p:sp>
        <p:sp>
          <p:nvSpPr>
            <p:cNvPr id="76" name="Sub"/>
            <p:cNvSpPr txBox="1"/>
            <p:nvPr/>
          </p:nvSpPr>
          <p:spPr>
            <a:xfrm>
              <a:off x="7556500" y="5905500"/>
              <a:ext cx="1327150" cy="1333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050"/>
                </a:lnSpc>
                <a:spcBef>
                  <a:spcPts val="0"/>
                </a:spcBef>
              </a:pPr>
              <a:r>
                <a:rPr lang="ko-KR" altLang="en-US" sz="900" b="0" spc="-10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main에 merge하면 자동 배포</a:t>
              </a:r>
            </a:p>
          </p:txBody>
        </p:sp>
      </p:grpSp>
      <p:sp>
        <p:nvSpPr>
          <p:cNvPr id="77" name="Label"/>
          <p:cNvSpPr txBox="1"/>
          <p:nvPr/>
        </p:nvSpPr>
        <p:spPr>
          <a:xfrm>
            <a:off x="3883025" y="1206500"/>
            <a:ext cx="1377950" cy="1333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</a:pPr>
            <a:r>
              <a:rPr lang="ko-KR" altLang="en-US" sz="900" b="0" spc="-10">
                <a:solidFill>
                  <a:srgbClr val="7A7A7A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presigned URL로 직접 업로드</a:t>
            </a:r>
          </a:p>
        </p:txBody>
      </p:sp>
      <p:sp>
        <p:nvSpPr>
          <p:cNvPr id="78" name="Helm Label"/>
          <p:cNvSpPr txBox="1"/>
          <p:nvPr/>
        </p:nvSpPr>
        <p:spPr>
          <a:xfrm>
            <a:off x="1358900" y="4800600"/>
            <a:ext cx="482600" cy="1333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</a:pPr>
            <a:r>
              <a:rPr lang="ko-KR" altLang="en-US" sz="900" b="0" spc="-10">
                <a:solidFill>
                  <a:srgbClr val="7A7A7A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Helm 배포</a:t>
            </a:r>
          </a:p>
        </p:txBody>
      </p:sp>
      <p:sp>
        <p:nvSpPr>
          <p:cNvPr id="79" name="Connectors"/>
          <p:cNvSpPr/>
          <p:nvPr/>
        </p:nvSpPr>
        <p:spPr>
          <a:xfrm>
            <a:off x="1270000" y="1422400"/>
            <a:ext cx="9652000" cy="4470400"/>
          </a:xfrm>
          <a:custGeom>
            <a:avLst/>
            <a:gdLst/>
            <a:ahLst/>
            <a:cxnLst/>
            <a:rect l="0" t="0" r="r" b="b"/>
            <a:pathLst>
              <a:path w="9652000" h="4470400" fill="none">
                <a:moveTo>
                  <a:pt x="1270000" y="431800"/>
                </a:moveTo>
                <a:lnTo>
                  <a:pt x="1485900" y="431800"/>
                </a:lnTo>
                <a:moveTo>
                  <a:pt x="317500" y="165100"/>
                </a:moveTo>
                <a:lnTo>
                  <a:pt x="317500" y="0"/>
                </a:lnTo>
                <a:lnTo>
                  <a:pt x="6286500" y="0"/>
                </a:lnTo>
                <a:lnTo>
                  <a:pt x="6286500" y="127000"/>
                </a:lnTo>
                <a:moveTo>
                  <a:pt x="7239000" y="431800"/>
                </a:moveTo>
                <a:lnTo>
                  <a:pt x="7708900" y="431800"/>
                </a:lnTo>
                <a:moveTo>
                  <a:pt x="317500" y="698500"/>
                </a:moveTo>
                <a:lnTo>
                  <a:pt x="317500" y="1358900"/>
                </a:lnTo>
                <a:moveTo>
                  <a:pt x="603250" y="1727200"/>
                </a:moveTo>
                <a:lnTo>
                  <a:pt x="603250" y="1905000"/>
                </a:lnTo>
                <a:moveTo>
                  <a:pt x="2952750" y="1727200"/>
                </a:moveTo>
                <a:lnTo>
                  <a:pt x="2952750" y="1905000"/>
                </a:lnTo>
                <a:moveTo>
                  <a:pt x="5302250" y="1727200"/>
                </a:moveTo>
                <a:lnTo>
                  <a:pt x="5302250" y="1905000"/>
                </a:lnTo>
                <a:moveTo>
                  <a:pt x="8699500" y="698500"/>
                </a:moveTo>
                <a:lnTo>
                  <a:pt x="8699500" y="1905000"/>
                </a:lnTo>
                <a:moveTo>
                  <a:pt x="2952750" y="2641600"/>
                </a:moveTo>
                <a:lnTo>
                  <a:pt x="2952750" y="3111500"/>
                </a:lnTo>
                <a:moveTo>
                  <a:pt x="7874000" y="2641600"/>
                </a:moveTo>
                <a:lnTo>
                  <a:pt x="7874000" y="2895600"/>
                </a:lnTo>
                <a:lnTo>
                  <a:pt x="5715000" y="2895600"/>
                </a:lnTo>
                <a:lnTo>
                  <a:pt x="5715000" y="3111500"/>
                </a:lnTo>
                <a:moveTo>
                  <a:pt x="9652000" y="2641600"/>
                </a:moveTo>
                <a:lnTo>
                  <a:pt x="9652000" y="3111500"/>
                </a:lnTo>
                <a:moveTo>
                  <a:pt x="603250" y="2641600"/>
                </a:moveTo>
                <a:lnTo>
                  <a:pt x="603250" y="3886200"/>
                </a:lnTo>
                <a:lnTo>
                  <a:pt x="8763000" y="3886200"/>
                </a:lnTo>
                <a:lnTo>
                  <a:pt x="8763000" y="3721100"/>
                </a:lnTo>
                <a:moveTo>
                  <a:pt x="4127500" y="4470400"/>
                </a:moveTo>
                <a:lnTo>
                  <a:pt x="3657600" y="4470400"/>
                </a:lnTo>
                <a:moveTo>
                  <a:pt x="1714500" y="4470400"/>
                </a:moveTo>
                <a:lnTo>
                  <a:pt x="1244600" y="4470400"/>
                </a:lnTo>
                <a:moveTo>
                  <a:pt x="0" y="4241800"/>
                </a:moveTo>
                <a:lnTo>
                  <a:pt x="0" y="2832100"/>
                </a:lnTo>
              </a:path>
            </a:pathLst>
          </a:custGeom>
          <a:noFill/>
          <a:ln w="15875">
            <a:solidFill>
              <a:srgbClr val="7A7A7A"/>
            </a:solidFill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Arrowheads"/>
          <p:cNvSpPr/>
          <p:nvPr/>
        </p:nvSpPr>
        <p:spPr>
          <a:xfrm>
            <a:off x="1225550" y="1511300"/>
            <a:ext cx="9740900" cy="4425950"/>
          </a:xfrm>
          <a:custGeom>
            <a:avLst/>
            <a:gdLst/>
            <a:ahLst/>
            <a:cxnLst/>
            <a:rect l="0" t="0" r="r" b="b"/>
            <a:pathLst>
              <a:path w="9740900" h="4425950">
                <a:moveTo>
                  <a:pt x="1568450" y="342900"/>
                </a:moveTo>
                <a:lnTo>
                  <a:pt x="1492250" y="387350"/>
                </a:lnTo>
                <a:lnTo>
                  <a:pt x="1492250" y="298450"/>
                </a:lnTo>
                <a:close/>
                <a:moveTo>
                  <a:pt x="6330950" y="76200"/>
                </a:moveTo>
                <a:lnTo>
                  <a:pt x="6286500" y="0"/>
                </a:lnTo>
                <a:lnTo>
                  <a:pt x="6375400" y="0"/>
                </a:lnTo>
                <a:close/>
                <a:moveTo>
                  <a:pt x="7791450" y="342900"/>
                </a:moveTo>
                <a:lnTo>
                  <a:pt x="7715250" y="387350"/>
                </a:lnTo>
                <a:lnTo>
                  <a:pt x="7715250" y="298450"/>
                </a:lnTo>
                <a:close/>
                <a:moveTo>
                  <a:pt x="361950" y="1308100"/>
                </a:moveTo>
                <a:lnTo>
                  <a:pt x="317500" y="1231900"/>
                </a:lnTo>
                <a:lnTo>
                  <a:pt x="406400" y="1231900"/>
                </a:lnTo>
                <a:close/>
                <a:moveTo>
                  <a:pt x="647700" y="1854200"/>
                </a:moveTo>
                <a:lnTo>
                  <a:pt x="603250" y="1778000"/>
                </a:lnTo>
                <a:lnTo>
                  <a:pt x="692150" y="1778000"/>
                </a:lnTo>
                <a:close/>
                <a:moveTo>
                  <a:pt x="2997200" y="1854200"/>
                </a:moveTo>
                <a:lnTo>
                  <a:pt x="2952750" y="1778000"/>
                </a:lnTo>
                <a:lnTo>
                  <a:pt x="3041650" y="1778000"/>
                </a:lnTo>
                <a:close/>
                <a:moveTo>
                  <a:pt x="5346700" y="1854200"/>
                </a:moveTo>
                <a:lnTo>
                  <a:pt x="5302250" y="1778000"/>
                </a:lnTo>
                <a:lnTo>
                  <a:pt x="5391150" y="1778000"/>
                </a:lnTo>
                <a:close/>
                <a:moveTo>
                  <a:pt x="8743950" y="1854200"/>
                </a:moveTo>
                <a:lnTo>
                  <a:pt x="8699500" y="1778000"/>
                </a:lnTo>
                <a:lnTo>
                  <a:pt x="8788400" y="1778000"/>
                </a:lnTo>
                <a:close/>
                <a:moveTo>
                  <a:pt x="2997200" y="3060700"/>
                </a:moveTo>
                <a:lnTo>
                  <a:pt x="2952750" y="2984500"/>
                </a:lnTo>
                <a:lnTo>
                  <a:pt x="3041650" y="2984500"/>
                </a:lnTo>
                <a:close/>
                <a:moveTo>
                  <a:pt x="5759450" y="3060700"/>
                </a:moveTo>
                <a:lnTo>
                  <a:pt x="5715000" y="2984500"/>
                </a:lnTo>
                <a:lnTo>
                  <a:pt x="5803900" y="2984500"/>
                </a:lnTo>
                <a:close/>
                <a:moveTo>
                  <a:pt x="9696450" y="3060700"/>
                </a:moveTo>
                <a:lnTo>
                  <a:pt x="9652000" y="2984500"/>
                </a:lnTo>
                <a:lnTo>
                  <a:pt x="9740900" y="2984500"/>
                </a:lnTo>
                <a:close/>
                <a:moveTo>
                  <a:pt x="8807450" y="3594100"/>
                </a:moveTo>
                <a:lnTo>
                  <a:pt x="8851900" y="3670300"/>
                </a:lnTo>
                <a:lnTo>
                  <a:pt x="8763000" y="3670300"/>
                </a:lnTo>
                <a:close/>
                <a:moveTo>
                  <a:pt x="3663950" y="4381500"/>
                </a:moveTo>
                <a:lnTo>
                  <a:pt x="3740150" y="4337050"/>
                </a:lnTo>
                <a:lnTo>
                  <a:pt x="3740150" y="4425950"/>
                </a:lnTo>
                <a:close/>
                <a:moveTo>
                  <a:pt x="1250950" y="4381500"/>
                </a:moveTo>
                <a:lnTo>
                  <a:pt x="1327150" y="4337050"/>
                </a:lnTo>
                <a:lnTo>
                  <a:pt x="1327150" y="4425950"/>
                </a:lnTo>
                <a:close/>
                <a:moveTo>
                  <a:pt x="44450" y="2705100"/>
                </a:moveTo>
                <a:lnTo>
                  <a:pt x="88900" y="2781300"/>
                </a:lnTo>
                <a:lnTo>
                  <a:pt x="0" y="2781300"/>
                </a:lnTo>
                <a:close/>
              </a:path>
            </a:pathLst>
          </a:custGeom>
          <a:solidFill>
            <a:srgbClr val="7A7A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ection Nav"/>
          <p:cNvGrpSpPr/>
          <p:nvPr/>
        </p:nvGrpSpPr>
        <p:grpSpPr>
          <a:xfrm>
            <a:off x="0" y="0"/>
            <a:ext cx="12192000" cy="406400"/>
            <a:chOff x="0" y="0"/>
            <a:chExt cx="12192000" cy="406400"/>
          </a:xfrm>
        </p:grpSpPr>
        <p:sp>
          <p:nvSpPr>
            <p:cNvPr id="3" name="Section Nav"/>
            <p:cNvSpPr/>
            <p:nvPr/>
          </p:nvSpPr>
          <p:spPr>
            <a:xfrm>
              <a:off x="0" y="0"/>
              <a:ext cx="121920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Progress Bar"/>
            <p:cNvSpPr/>
            <p:nvPr/>
          </p:nvSpPr>
          <p:spPr>
            <a:xfrm>
              <a:off x="0" y="0"/>
              <a:ext cx="8128000" cy="381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ab 기획 배경"/>
            <p:cNvSpPr txBox="1"/>
            <p:nvPr/>
          </p:nvSpPr>
          <p:spPr>
            <a:xfrm>
              <a:off x="635000" y="241300"/>
              <a:ext cx="5143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기획 배경</a:t>
              </a:r>
            </a:p>
          </p:txBody>
        </p:sp>
        <p:sp>
          <p:nvSpPr>
            <p:cNvPr id="6" name="Tab 서비스"/>
            <p:cNvSpPr txBox="1"/>
            <p:nvPr/>
          </p:nvSpPr>
          <p:spPr>
            <a:xfrm>
              <a:off x="2492375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서비스</a:t>
              </a:r>
            </a:p>
          </p:txBody>
        </p:sp>
        <p:sp>
          <p:nvSpPr>
            <p:cNvPr id="7" name="Tab 차별점"/>
            <p:cNvSpPr txBox="1"/>
            <p:nvPr/>
          </p:nvSpPr>
          <p:spPr>
            <a:xfrm>
              <a:off x="4197350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차별점</a:t>
              </a:r>
            </a:p>
          </p:txBody>
        </p:sp>
        <p:sp>
          <p:nvSpPr>
            <p:cNvPr id="8" name="Tab 아키텍처"/>
            <p:cNvSpPr txBox="1"/>
            <p:nvPr/>
          </p:nvSpPr>
          <p:spPr>
            <a:xfrm>
              <a:off x="5902325" y="241300"/>
              <a:ext cx="4762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아키텍처</a:t>
              </a:r>
            </a:p>
          </p:txBody>
        </p:sp>
        <p:sp>
          <p:nvSpPr>
            <p:cNvPr id="9" name="Tab 예산"/>
            <p:cNvSpPr txBox="1"/>
            <p:nvPr/>
          </p:nvSpPr>
          <p:spPr>
            <a:xfrm>
              <a:off x="7721600" y="241300"/>
              <a:ext cx="2413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예산</a:t>
              </a:r>
            </a:p>
          </p:txBody>
        </p:sp>
        <p:sp>
          <p:nvSpPr>
            <p:cNvPr id="10" name="Tab 추진 계획"/>
            <p:cNvSpPr txBox="1"/>
            <p:nvPr/>
          </p:nvSpPr>
          <p:spPr>
            <a:xfrm>
              <a:off x="9305925" y="241300"/>
              <a:ext cx="5143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추진 계획</a:t>
              </a:r>
            </a:p>
          </p:txBody>
        </p:sp>
        <p:sp>
          <p:nvSpPr>
            <p:cNvPr id="11" name="Tab 팀 소개"/>
            <p:cNvSpPr txBox="1"/>
            <p:nvPr/>
          </p:nvSpPr>
          <p:spPr>
            <a:xfrm>
              <a:off x="11163300" y="241300"/>
              <a:ext cx="3937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팀 소개</a:t>
              </a:r>
            </a:p>
          </p:txBody>
        </p:sp>
      </p:grpSp>
      <p:sp>
        <p:nvSpPr>
          <p:cNvPr id="12" name="Title"/>
          <p:cNvSpPr txBox="1"/>
          <p:nvPr/>
        </p:nvSpPr>
        <p:spPr>
          <a:xfrm>
            <a:off x="635000" y="762000"/>
            <a:ext cx="1282700" cy="425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3350"/>
              </a:lnSpc>
              <a:spcBef>
                <a:spcPts val="0"/>
              </a:spcBef>
            </a:pPr>
            <a:r>
              <a:rPr lang="ko-KR" altLang="en-US" sz="2800" b="0" spc="-56">
                <a:solidFill>
                  <a:srgbClr val="1D1D1F"/>
                </a:solidFill>
                <a:latin typeface="Pretendard SemiBold" pitchFamily="50" charset="-127"/>
                <a:ea typeface="Pretendard SemiBold" pitchFamily="50" charset="-127"/>
                <a:cs typeface="Pretendard SemiBold" pitchFamily="50" charset="-127"/>
              </a:rPr>
              <a:t>예산 계획</a:t>
            </a:r>
          </a:p>
        </p:txBody>
      </p:sp>
      <p:grpSp>
        <p:nvGrpSpPr>
          <p:cNvPr id="13" name="Headline Numbers"/>
          <p:cNvGrpSpPr/>
          <p:nvPr/>
        </p:nvGrpSpPr>
        <p:grpSpPr>
          <a:xfrm>
            <a:off x="635000" y="1397000"/>
            <a:ext cx="3441700" cy="1111250"/>
            <a:chOff x="635000" y="1397000"/>
            <a:chExt cx="3441700" cy="1111250"/>
          </a:xfrm>
        </p:grpSpPr>
        <p:sp>
          <p:nvSpPr>
            <p:cNvPr id="14" name="Expected"/>
            <p:cNvSpPr txBox="1"/>
            <p:nvPr/>
          </p:nvSpPr>
          <p:spPr>
            <a:xfrm>
              <a:off x="635000" y="1397000"/>
              <a:ext cx="2012950" cy="889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7000"/>
                </a:lnSpc>
                <a:spcBef>
                  <a:spcPts val="0"/>
                </a:spcBef>
              </a:pPr>
              <a:r>
                <a:rPr lang="ko-KR" altLang="en-US" sz="7000" b="0" spc="-140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$150</a:t>
              </a:r>
            </a:p>
          </p:txBody>
        </p:sp>
        <p:sp>
          <p:nvSpPr>
            <p:cNvPr id="15" name="Budget"/>
            <p:cNvSpPr txBox="1"/>
            <p:nvPr/>
          </p:nvSpPr>
          <p:spPr>
            <a:xfrm>
              <a:off x="2774950" y="1797050"/>
              <a:ext cx="1301750" cy="4889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3850"/>
                </a:lnSpc>
                <a:spcBef>
                  <a:spcPts val="0"/>
                </a:spcBef>
              </a:pPr>
              <a:r>
                <a:rPr lang="ko-KR" altLang="en-US" sz="3200" b="0" spc="-64">
                  <a:solidFill>
                    <a:srgbClr val="7A7A7A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/  $200</a:t>
              </a:r>
            </a:p>
          </p:txBody>
        </p:sp>
        <p:sp>
          <p:nvSpPr>
            <p:cNvPr id="16" name="Caption"/>
            <p:cNvSpPr txBox="1"/>
            <p:nvPr/>
          </p:nvSpPr>
          <p:spPr>
            <a:xfrm>
              <a:off x="635000" y="2324100"/>
              <a:ext cx="118110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예상 비용  /  팀 예산</a:t>
              </a:r>
            </a:p>
          </p:txBody>
        </p:sp>
      </p:grpSp>
      <p:grpSp>
        <p:nvGrpSpPr>
          <p:cNvPr id="17" name="Budget Bar"/>
          <p:cNvGrpSpPr/>
          <p:nvPr/>
        </p:nvGrpSpPr>
        <p:grpSpPr>
          <a:xfrm>
            <a:off x="635000" y="3556000"/>
            <a:ext cx="10922000" cy="635000"/>
            <a:chOff x="635000" y="3556000"/>
            <a:chExt cx="10922000" cy="635000"/>
          </a:xfrm>
        </p:grpSpPr>
        <p:grpSp>
          <p:nvGrpSpPr>
            <p:cNvPr id="18" name="Seg EC2"/>
            <p:cNvGrpSpPr/>
            <p:nvPr/>
          </p:nvGrpSpPr>
          <p:grpSpPr>
            <a:xfrm>
              <a:off x="635000" y="3556000"/>
              <a:ext cx="2698750" cy="635000"/>
              <a:chOff x="635000" y="3556000"/>
              <a:chExt cx="2698750" cy="635000"/>
            </a:xfrm>
          </p:grpSpPr>
          <p:sp>
            <p:nvSpPr>
              <p:cNvPr id="19" name="Seg EC2"/>
              <p:cNvSpPr/>
              <p:nvPr/>
            </p:nvSpPr>
            <p:spPr>
              <a:xfrm>
                <a:off x="635000" y="3556000"/>
                <a:ext cx="2698750" cy="635000"/>
              </a:xfrm>
              <a:prstGeom prst="roundRect">
                <a:avLst>
                  <a:gd name="adj" fmla="val 6000"/>
                </a:avLst>
              </a:prstGeom>
              <a:solidFill>
                <a:srgbClr val="0066CC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Name"/>
              <p:cNvSpPr txBox="1"/>
              <p:nvPr/>
            </p:nvSpPr>
            <p:spPr>
              <a:xfrm>
                <a:off x="1854200" y="3702050"/>
                <a:ext cx="26035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FFFFF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EC2</a:t>
                </a:r>
              </a:p>
            </p:txBody>
          </p:sp>
          <p:sp>
            <p:nvSpPr>
              <p:cNvPr id="21" name="Value"/>
              <p:cNvSpPr txBox="1"/>
              <p:nvPr/>
            </p:nvSpPr>
            <p:spPr>
              <a:xfrm>
                <a:off x="1860550" y="3879850"/>
                <a:ext cx="24765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FFFFFF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$50</a:t>
                </a:r>
              </a:p>
            </p:txBody>
          </p:sp>
        </p:grpSp>
        <p:grpSp>
          <p:nvGrpSpPr>
            <p:cNvPr id="22" name="Seg EKS"/>
            <p:cNvGrpSpPr/>
            <p:nvPr/>
          </p:nvGrpSpPr>
          <p:grpSpPr>
            <a:xfrm>
              <a:off x="3352800" y="3556000"/>
              <a:ext cx="2266950" cy="635000"/>
              <a:chOff x="3352800" y="3556000"/>
              <a:chExt cx="2266950" cy="635000"/>
            </a:xfrm>
          </p:grpSpPr>
          <p:sp>
            <p:nvSpPr>
              <p:cNvPr id="23" name="Seg EKS"/>
              <p:cNvSpPr/>
              <p:nvPr/>
            </p:nvSpPr>
            <p:spPr>
              <a:xfrm>
                <a:off x="3352800" y="3556000"/>
                <a:ext cx="2266950" cy="635000"/>
              </a:xfrm>
              <a:prstGeom prst="roundRect">
                <a:avLst>
                  <a:gd name="adj" fmla="val 6000"/>
                </a:avLst>
              </a:prstGeom>
              <a:solidFill>
                <a:srgbClr val="0066CC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Name"/>
              <p:cNvSpPr txBox="1"/>
              <p:nvPr/>
            </p:nvSpPr>
            <p:spPr>
              <a:xfrm>
                <a:off x="4359275" y="3702050"/>
                <a:ext cx="25400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FFFFF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EKS</a:t>
                </a:r>
              </a:p>
            </p:txBody>
          </p:sp>
          <p:sp>
            <p:nvSpPr>
              <p:cNvPr id="25" name="Value"/>
              <p:cNvSpPr txBox="1"/>
              <p:nvPr/>
            </p:nvSpPr>
            <p:spPr>
              <a:xfrm>
                <a:off x="4359275" y="3879850"/>
                <a:ext cx="25400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FFFFFF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$42</a:t>
                </a:r>
              </a:p>
            </p:txBody>
          </p:sp>
        </p:grpSp>
        <p:grpSp>
          <p:nvGrpSpPr>
            <p:cNvPr id="26" name="Seg Bedrock"/>
            <p:cNvGrpSpPr/>
            <p:nvPr/>
          </p:nvGrpSpPr>
          <p:grpSpPr>
            <a:xfrm>
              <a:off x="5638800" y="3556000"/>
              <a:ext cx="1079500" cy="635000"/>
              <a:chOff x="5638800" y="3556000"/>
              <a:chExt cx="1079500" cy="635000"/>
            </a:xfrm>
          </p:grpSpPr>
          <p:sp>
            <p:nvSpPr>
              <p:cNvPr id="27" name="Seg Bedrock"/>
              <p:cNvSpPr/>
              <p:nvPr/>
            </p:nvSpPr>
            <p:spPr>
              <a:xfrm>
                <a:off x="5638800" y="3556000"/>
                <a:ext cx="1079500" cy="635000"/>
              </a:xfrm>
              <a:prstGeom prst="roundRect">
                <a:avLst>
                  <a:gd name="adj" fmla="val 6000"/>
                </a:avLst>
              </a:prstGeom>
              <a:solidFill>
                <a:srgbClr val="0066CC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Name"/>
              <p:cNvSpPr txBox="1"/>
              <p:nvPr/>
            </p:nvSpPr>
            <p:spPr>
              <a:xfrm>
                <a:off x="5915025" y="3702050"/>
                <a:ext cx="52705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FFFFF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Bedrock</a:t>
                </a:r>
              </a:p>
            </p:txBody>
          </p:sp>
          <p:sp>
            <p:nvSpPr>
              <p:cNvPr id="29" name="Value"/>
              <p:cNvSpPr txBox="1"/>
              <p:nvPr/>
            </p:nvSpPr>
            <p:spPr>
              <a:xfrm>
                <a:off x="6054725" y="3879850"/>
                <a:ext cx="24765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FFFFFF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$20</a:t>
                </a:r>
              </a:p>
            </p:txBody>
          </p:sp>
        </p:grpSp>
        <p:grpSp>
          <p:nvGrpSpPr>
            <p:cNvPr id="30" name="Seg ALB"/>
            <p:cNvGrpSpPr/>
            <p:nvPr/>
          </p:nvGrpSpPr>
          <p:grpSpPr>
            <a:xfrm>
              <a:off x="6737350" y="3556000"/>
              <a:ext cx="755650" cy="635000"/>
              <a:chOff x="6737350" y="3556000"/>
              <a:chExt cx="755650" cy="635000"/>
            </a:xfrm>
          </p:grpSpPr>
          <p:sp>
            <p:nvSpPr>
              <p:cNvPr id="31" name="Seg ALB"/>
              <p:cNvSpPr/>
              <p:nvPr/>
            </p:nvSpPr>
            <p:spPr>
              <a:xfrm>
                <a:off x="6737350" y="3556000"/>
                <a:ext cx="755650" cy="635000"/>
              </a:xfrm>
              <a:prstGeom prst="roundRect">
                <a:avLst>
                  <a:gd name="adj" fmla="val 6000"/>
                </a:avLst>
              </a:prstGeom>
              <a:solidFill>
                <a:srgbClr val="0066CC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Name"/>
              <p:cNvSpPr txBox="1"/>
              <p:nvPr/>
            </p:nvSpPr>
            <p:spPr>
              <a:xfrm>
                <a:off x="6985000" y="3702050"/>
                <a:ext cx="26035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FFFFF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ALB</a:t>
                </a:r>
              </a:p>
            </p:txBody>
          </p:sp>
          <p:sp>
            <p:nvSpPr>
              <p:cNvPr id="33" name="Value"/>
              <p:cNvSpPr txBox="1"/>
              <p:nvPr/>
            </p:nvSpPr>
            <p:spPr>
              <a:xfrm>
                <a:off x="7000875" y="3879850"/>
                <a:ext cx="22860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FFFFFF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$14</a:t>
                </a:r>
              </a:p>
            </p:txBody>
          </p:sp>
        </p:grpSp>
        <p:sp>
          <p:nvSpPr>
            <p:cNvPr id="34" name="Seg IPv4"/>
            <p:cNvSpPr/>
            <p:nvPr/>
          </p:nvSpPr>
          <p:spPr>
            <a:xfrm>
              <a:off x="7512050" y="3556000"/>
              <a:ext cx="482600" cy="635000"/>
            </a:xfrm>
            <a:prstGeom prst="roundRect">
              <a:avLst>
                <a:gd name="adj" fmla="val 7894"/>
              </a:avLst>
            </a:prstGeom>
            <a:solidFill>
              <a:srgbClr val="0066C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Seg 저장소 등"/>
            <p:cNvSpPr/>
            <p:nvPr/>
          </p:nvSpPr>
          <p:spPr>
            <a:xfrm>
              <a:off x="8013700" y="3556000"/>
              <a:ext cx="482600" cy="635000"/>
            </a:xfrm>
            <a:prstGeom prst="roundRect">
              <a:avLst>
                <a:gd name="adj" fmla="val 7894"/>
              </a:avLst>
            </a:prstGeom>
            <a:solidFill>
              <a:srgbClr val="0066C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Seg EBS"/>
            <p:cNvSpPr/>
            <p:nvPr/>
          </p:nvSpPr>
          <p:spPr>
            <a:xfrm>
              <a:off x="8515350" y="3556000"/>
              <a:ext cx="323850" cy="635000"/>
            </a:xfrm>
            <a:prstGeom prst="roundRect">
              <a:avLst>
                <a:gd name="adj" fmla="val 11764"/>
              </a:avLst>
            </a:prstGeom>
            <a:solidFill>
              <a:srgbClr val="0066C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7" name="Seg 예비비"/>
            <p:cNvGrpSpPr/>
            <p:nvPr/>
          </p:nvGrpSpPr>
          <p:grpSpPr>
            <a:xfrm>
              <a:off x="8858250" y="3556000"/>
              <a:ext cx="2698750" cy="635000"/>
              <a:chOff x="8858250" y="3556000"/>
              <a:chExt cx="2698750" cy="635000"/>
            </a:xfrm>
          </p:grpSpPr>
          <p:sp>
            <p:nvSpPr>
              <p:cNvPr id="38" name="Seg 예비비"/>
              <p:cNvSpPr/>
              <p:nvPr/>
            </p:nvSpPr>
            <p:spPr>
              <a:xfrm>
                <a:off x="8858250" y="3556000"/>
                <a:ext cx="2698750" cy="635000"/>
              </a:xfrm>
              <a:prstGeom prst="roundRect">
                <a:avLst>
                  <a:gd name="adj" fmla="val 6000"/>
                </a:avLst>
              </a:prstGeom>
              <a:solidFill>
                <a:srgbClr val="EBF3F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Name"/>
              <p:cNvSpPr txBox="1"/>
              <p:nvPr/>
            </p:nvSpPr>
            <p:spPr>
              <a:xfrm>
                <a:off x="10026650" y="3702050"/>
                <a:ext cx="36195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0066CC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예비비</a:t>
                </a:r>
              </a:p>
            </p:txBody>
          </p:sp>
          <p:sp>
            <p:nvSpPr>
              <p:cNvPr id="40" name="Value"/>
              <p:cNvSpPr txBox="1"/>
              <p:nvPr/>
            </p:nvSpPr>
            <p:spPr>
              <a:xfrm>
                <a:off x="10083800" y="3879850"/>
                <a:ext cx="24765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0066CC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$50</a:t>
                </a:r>
              </a:p>
            </p:txBody>
          </p:sp>
        </p:grpSp>
      </p:grpSp>
      <p:sp>
        <p:nvSpPr>
          <p:cNvPr id="41" name="Label"/>
          <p:cNvSpPr txBox="1"/>
          <p:nvPr/>
        </p:nvSpPr>
        <p:spPr>
          <a:xfrm>
            <a:off x="7537450" y="4292600"/>
            <a:ext cx="4318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</a:pPr>
            <a:r>
              <a:rPr lang="ko-KR" altLang="en-US" sz="1000" b="0" spc="-15">
                <a:solidFill>
                  <a:srgbClr val="333333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IPv4 $9</a:t>
            </a:r>
          </a:p>
        </p:txBody>
      </p:sp>
      <p:sp>
        <p:nvSpPr>
          <p:cNvPr id="42" name="Label"/>
          <p:cNvSpPr txBox="1"/>
          <p:nvPr/>
        </p:nvSpPr>
        <p:spPr>
          <a:xfrm>
            <a:off x="7931150" y="4521200"/>
            <a:ext cx="6477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</a:pPr>
            <a:r>
              <a:rPr lang="ko-KR" altLang="en-US" sz="1000" b="0" spc="-15">
                <a:solidFill>
                  <a:srgbClr val="333333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저장소 등 $9</a:t>
            </a:r>
          </a:p>
        </p:txBody>
      </p:sp>
      <p:sp>
        <p:nvSpPr>
          <p:cNvPr id="43" name="Label"/>
          <p:cNvSpPr txBox="1"/>
          <p:nvPr/>
        </p:nvSpPr>
        <p:spPr>
          <a:xfrm>
            <a:off x="8474075" y="4292600"/>
            <a:ext cx="4064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</a:pPr>
            <a:r>
              <a:rPr lang="ko-KR" altLang="en-US" sz="1000" b="0" spc="-15">
                <a:solidFill>
                  <a:srgbClr val="333333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EBS $6</a:t>
            </a:r>
          </a:p>
        </p:txBody>
      </p:sp>
      <p:sp>
        <p:nvSpPr>
          <p:cNvPr id="44" name="Range Bracket"/>
          <p:cNvSpPr/>
          <p:nvPr/>
        </p:nvSpPr>
        <p:spPr>
          <a:xfrm>
            <a:off x="7647622" y="3378200"/>
            <a:ext cx="2697162" cy="101600"/>
          </a:xfrm>
          <a:custGeom>
            <a:avLst/>
            <a:gdLst/>
            <a:ahLst/>
            <a:cxnLst/>
            <a:rect l="0" t="0" r="r" b="b"/>
            <a:pathLst>
              <a:path w="2697162" h="101600" fill="none">
                <a:moveTo>
                  <a:pt x="0" y="101600"/>
                </a:moveTo>
                <a:lnTo>
                  <a:pt x="0" y="0"/>
                </a:lnTo>
                <a:lnTo>
                  <a:pt x="2697162" y="0"/>
                </a:lnTo>
                <a:lnTo>
                  <a:pt x="2697162" y="101600"/>
                </a:lnTo>
              </a:path>
            </a:pathLst>
          </a:custGeom>
          <a:noFill/>
          <a:ln w="12700">
            <a:solidFill>
              <a:srgbClr val="7A7A7A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Label"/>
          <p:cNvSpPr txBox="1"/>
          <p:nvPr/>
        </p:nvSpPr>
        <p:spPr>
          <a:xfrm>
            <a:off x="8415210" y="3111500"/>
            <a:ext cx="1162050" cy="165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100" b="0" spc="-15">
                <a:solidFill>
                  <a:srgbClr val="7A7A7A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변동 범위 $130~180</a:t>
            </a:r>
          </a:p>
        </p:txBody>
      </p:sp>
      <p:grpSp>
        <p:nvGrpSpPr>
          <p:cNvPr id="46" name="Cost Controls"/>
          <p:cNvGrpSpPr/>
          <p:nvPr/>
        </p:nvGrpSpPr>
        <p:grpSpPr>
          <a:xfrm>
            <a:off x="635000" y="5270500"/>
            <a:ext cx="7500937" cy="611187"/>
            <a:chOff x="635000" y="5270500"/>
            <a:chExt cx="7500937" cy="611187"/>
          </a:xfrm>
        </p:grpSpPr>
        <p:sp>
          <p:nvSpPr>
            <p:cNvPr id="47" name="Label"/>
            <p:cNvSpPr txBox="1"/>
            <p:nvPr/>
          </p:nvSpPr>
          <p:spPr>
            <a:xfrm>
              <a:off x="635000" y="5270500"/>
              <a:ext cx="558800" cy="184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450"/>
                </a:lnSpc>
                <a:spcBef>
                  <a:spcPts val="0"/>
                </a:spcBef>
              </a:pPr>
              <a:r>
                <a:rPr lang="ko-KR" altLang="en-US" sz="12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비용 통제</a:t>
              </a:r>
            </a:p>
          </p:txBody>
        </p:sp>
        <p:grpSp>
          <p:nvGrpSpPr>
            <p:cNvPr id="48" name="Chip Budgets 알람 $50·$100·$150"/>
            <p:cNvGrpSpPr/>
            <p:nvPr/>
          </p:nvGrpSpPr>
          <p:grpSpPr>
            <a:xfrm>
              <a:off x="639762" y="5573712"/>
              <a:ext cx="2028825" cy="307975"/>
              <a:chOff x="639762" y="5573712"/>
              <a:chExt cx="2028825" cy="307975"/>
            </a:xfrm>
          </p:grpSpPr>
          <p:sp>
            <p:nvSpPr>
              <p:cNvPr id="49" name="Chip Budgets 알람 $50·$100·$150"/>
              <p:cNvSpPr/>
              <p:nvPr/>
            </p:nvSpPr>
            <p:spPr>
              <a:xfrm>
                <a:off x="639762" y="5573712"/>
                <a:ext cx="2028825" cy="307975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0066CC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Label"/>
              <p:cNvSpPr txBox="1"/>
              <p:nvPr/>
            </p:nvSpPr>
            <p:spPr>
              <a:xfrm>
                <a:off x="787400" y="5645150"/>
                <a:ext cx="173355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0066CC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Budgets 알람 $50·$100·$150</a:t>
                </a:r>
              </a:p>
            </p:txBody>
          </p:sp>
        </p:grpSp>
        <p:grpSp>
          <p:nvGrpSpPr>
            <p:cNvPr id="51" name="Chip 노드 최대 3대"/>
            <p:cNvGrpSpPr/>
            <p:nvPr/>
          </p:nvGrpSpPr>
          <p:grpSpPr>
            <a:xfrm>
              <a:off x="2767012" y="5573712"/>
              <a:ext cx="1044575" cy="307975"/>
              <a:chOff x="2767012" y="5573712"/>
              <a:chExt cx="1044575" cy="307975"/>
            </a:xfrm>
          </p:grpSpPr>
          <p:sp>
            <p:nvSpPr>
              <p:cNvPr id="52" name="Chip 노드 최대 3대"/>
              <p:cNvSpPr/>
              <p:nvPr/>
            </p:nvSpPr>
            <p:spPr>
              <a:xfrm>
                <a:off x="2767012" y="5573712"/>
                <a:ext cx="1044575" cy="307975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0066CC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Label"/>
              <p:cNvSpPr txBox="1"/>
              <p:nvPr/>
            </p:nvSpPr>
            <p:spPr>
              <a:xfrm>
                <a:off x="2914650" y="5645150"/>
                <a:ext cx="74930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0066CC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노드 최대 3대</a:t>
                </a:r>
              </a:p>
            </p:txBody>
          </p:sp>
        </p:grpSp>
        <p:grpSp>
          <p:nvGrpSpPr>
            <p:cNvPr id="54" name="Chip 부하 테스트 Bedrock mock"/>
            <p:cNvGrpSpPr/>
            <p:nvPr/>
          </p:nvGrpSpPr>
          <p:grpSpPr>
            <a:xfrm>
              <a:off x="3910012" y="5573712"/>
              <a:ext cx="1831975" cy="307975"/>
              <a:chOff x="3910012" y="5573712"/>
              <a:chExt cx="1831975" cy="307975"/>
            </a:xfrm>
          </p:grpSpPr>
          <p:sp>
            <p:nvSpPr>
              <p:cNvPr id="55" name="Chip 부하 테스트 Bedrock mock"/>
              <p:cNvSpPr/>
              <p:nvPr/>
            </p:nvSpPr>
            <p:spPr>
              <a:xfrm>
                <a:off x="3910012" y="5573712"/>
                <a:ext cx="1831975" cy="307975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0066CC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Label"/>
              <p:cNvSpPr txBox="1"/>
              <p:nvPr/>
            </p:nvSpPr>
            <p:spPr>
              <a:xfrm>
                <a:off x="4057650" y="5645150"/>
                <a:ext cx="153670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0066CC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부하 테스트 Bedrock mock</a:t>
                </a:r>
              </a:p>
            </p:txBody>
          </p:sp>
        </p:grpSp>
        <p:grpSp>
          <p:nvGrpSpPr>
            <p:cNvPr id="57" name="Chip 종료 점검"/>
            <p:cNvGrpSpPr/>
            <p:nvPr/>
          </p:nvGrpSpPr>
          <p:grpSpPr>
            <a:xfrm>
              <a:off x="5840412" y="5573712"/>
              <a:ext cx="809625" cy="307975"/>
              <a:chOff x="5840412" y="5573712"/>
              <a:chExt cx="809625" cy="307975"/>
            </a:xfrm>
          </p:grpSpPr>
          <p:sp>
            <p:nvSpPr>
              <p:cNvPr id="58" name="Chip 종료 점검"/>
              <p:cNvSpPr/>
              <p:nvPr/>
            </p:nvSpPr>
            <p:spPr>
              <a:xfrm>
                <a:off x="5840412" y="5573712"/>
                <a:ext cx="809625" cy="307975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0066CC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Label"/>
              <p:cNvSpPr txBox="1"/>
              <p:nvPr/>
            </p:nvSpPr>
            <p:spPr>
              <a:xfrm>
                <a:off x="5988050" y="5645150"/>
                <a:ext cx="51435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0066CC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종료 점검</a:t>
                </a:r>
              </a:p>
            </p:txBody>
          </p:sp>
        </p:grpSp>
        <p:grpSp>
          <p:nvGrpSpPr>
            <p:cNvPr id="60" name="Chip 주간 Cost Explorer"/>
            <p:cNvGrpSpPr/>
            <p:nvPr/>
          </p:nvGrpSpPr>
          <p:grpSpPr>
            <a:xfrm>
              <a:off x="6748462" y="5573712"/>
              <a:ext cx="1387475" cy="307975"/>
              <a:chOff x="6748462" y="5573712"/>
              <a:chExt cx="1387475" cy="307975"/>
            </a:xfrm>
          </p:grpSpPr>
          <p:sp>
            <p:nvSpPr>
              <p:cNvPr id="61" name="Chip 주간 Cost Explorer"/>
              <p:cNvSpPr/>
              <p:nvPr/>
            </p:nvSpPr>
            <p:spPr>
              <a:xfrm>
                <a:off x="6748462" y="5573712"/>
                <a:ext cx="1387475" cy="307975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0066CC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Label"/>
              <p:cNvSpPr txBox="1"/>
              <p:nvPr/>
            </p:nvSpPr>
            <p:spPr>
              <a:xfrm>
                <a:off x="6896100" y="5645150"/>
                <a:ext cx="1092200" cy="1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ko-KR" altLang="en-US" sz="1100" b="0" spc="-15">
                    <a:solidFill>
                      <a:srgbClr val="0066CC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주간 Cost Explorer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ection Nav"/>
          <p:cNvGrpSpPr/>
          <p:nvPr/>
        </p:nvGrpSpPr>
        <p:grpSpPr>
          <a:xfrm>
            <a:off x="0" y="0"/>
            <a:ext cx="12192000" cy="406400"/>
            <a:chOff x="0" y="0"/>
            <a:chExt cx="12192000" cy="406400"/>
          </a:xfrm>
        </p:grpSpPr>
        <p:sp>
          <p:nvSpPr>
            <p:cNvPr id="3" name="Section Nav"/>
            <p:cNvSpPr/>
            <p:nvPr/>
          </p:nvSpPr>
          <p:spPr>
            <a:xfrm>
              <a:off x="0" y="0"/>
              <a:ext cx="121920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Progress Bar"/>
            <p:cNvSpPr/>
            <p:nvPr/>
          </p:nvSpPr>
          <p:spPr>
            <a:xfrm>
              <a:off x="0" y="0"/>
              <a:ext cx="9480550" cy="381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ab 기획 배경"/>
            <p:cNvSpPr txBox="1"/>
            <p:nvPr/>
          </p:nvSpPr>
          <p:spPr>
            <a:xfrm>
              <a:off x="635000" y="241300"/>
              <a:ext cx="5143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기획 배경</a:t>
              </a:r>
            </a:p>
          </p:txBody>
        </p:sp>
        <p:sp>
          <p:nvSpPr>
            <p:cNvPr id="6" name="Tab 서비스"/>
            <p:cNvSpPr txBox="1"/>
            <p:nvPr/>
          </p:nvSpPr>
          <p:spPr>
            <a:xfrm>
              <a:off x="2493454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서비스</a:t>
              </a:r>
            </a:p>
          </p:txBody>
        </p:sp>
        <p:sp>
          <p:nvSpPr>
            <p:cNvPr id="7" name="Tab 차별점"/>
            <p:cNvSpPr txBox="1"/>
            <p:nvPr/>
          </p:nvSpPr>
          <p:spPr>
            <a:xfrm>
              <a:off x="4199446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차별점</a:t>
              </a:r>
            </a:p>
          </p:txBody>
        </p:sp>
        <p:sp>
          <p:nvSpPr>
            <p:cNvPr id="8" name="Tab 아키텍처"/>
            <p:cNvSpPr txBox="1"/>
            <p:nvPr/>
          </p:nvSpPr>
          <p:spPr>
            <a:xfrm>
              <a:off x="5905500" y="241300"/>
              <a:ext cx="4762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아키텍처</a:t>
              </a:r>
            </a:p>
          </p:txBody>
        </p:sp>
        <p:sp>
          <p:nvSpPr>
            <p:cNvPr id="9" name="Tab 예산"/>
            <p:cNvSpPr txBox="1"/>
            <p:nvPr/>
          </p:nvSpPr>
          <p:spPr>
            <a:xfrm>
              <a:off x="7725854" y="241300"/>
              <a:ext cx="2413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예산</a:t>
              </a:r>
            </a:p>
          </p:txBody>
        </p:sp>
        <p:sp>
          <p:nvSpPr>
            <p:cNvPr id="10" name="Tab 추진 계획"/>
            <p:cNvSpPr txBox="1"/>
            <p:nvPr/>
          </p:nvSpPr>
          <p:spPr>
            <a:xfrm>
              <a:off x="9311196" y="241300"/>
              <a:ext cx="5080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추진 계획</a:t>
              </a:r>
            </a:p>
          </p:txBody>
        </p:sp>
        <p:sp>
          <p:nvSpPr>
            <p:cNvPr id="11" name="Tab 팀 소개"/>
            <p:cNvSpPr txBox="1"/>
            <p:nvPr/>
          </p:nvSpPr>
          <p:spPr>
            <a:xfrm>
              <a:off x="11163300" y="241300"/>
              <a:ext cx="3937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팀 소개</a:t>
              </a:r>
            </a:p>
          </p:txBody>
        </p:sp>
      </p:grpSp>
      <p:sp>
        <p:nvSpPr>
          <p:cNvPr id="12" name="Title"/>
          <p:cNvSpPr txBox="1"/>
          <p:nvPr/>
        </p:nvSpPr>
        <p:spPr>
          <a:xfrm>
            <a:off x="635000" y="762000"/>
            <a:ext cx="1581150" cy="425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3350"/>
              </a:lnSpc>
              <a:spcBef>
                <a:spcPts val="0"/>
              </a:spcBef>
            </a:pPr>
            <a:r>
              <a:rPr lang="ko-KR" altLang="en-US" sz="2800" b="0" spc="-56">
                <a:solidFill>
                  <a:srgbClr val="1D1D1F"/>
                </a:solidFill>
                <a:latin typeface="Pretendard SemiBold" pitchFamily="50" charset="-127"/>
                <a:ea typeface="Pretendard SemiBold" pitchFamily="50" charset="-127"/>
                <a:cs typeface="Pretendard SemiBold" pitchFamily="50" charset="-127"/>
              </a:rPr>
              <a:t>개발 로드맵</a:t>
            </a:r>
          </a:p>
        </p:txBody>
      </p:sp>
      <p:sp>
        <p:nvSpPr>
          <p:cNvPr id="13" name="Bar 10/19 ~ 10/23"/>
          <p:cNvSpPr/>
          <p:nvPr/>
        </p:nvSpPr>
        <p:spPr>
          <a:xfrm>
            <a:off x="2067052" y="1587500"/>
            <a:ext cx="1726311" cy="889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Label 10/19 ~ 10/23"/>
          <p:cNvGrpSpPr/>
          <p:nvPr/>
        </p:nvGrpSpPr>
        <p:grpSpPr>
          <a:xfrm>
            <a:off x="2067052" y="1752600"/>
            <a:ext cx="2495550" cy="387350"/>
            <a:chOff x="2067052" y="1752600"/>
            <a:chExt cx="2495550" cy="387350"/>
          </a:xfrm>
        </p:grpSpPr>
        <p:sp>
          <p:nvSpPr>
            <p:cNvPr id="15" name="Task"/>
            <p:cNvSpPr txBox="1"/>
            <p:nvPr/>
          </p:nvSpPr>
          <p:spPr>
            <a:xfrm>
              <a:off x="2067052" y="1752600"/>
              <a:ext cx="2495550" cy="196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550"/>
                </a:lnSpc>
                <a:spcBef>
                  <a:spcPts val="0"/>
                </a:spcBef>
              </a:pPr>
              <a:r>
                <a:rPr lang="ko-KR" altLang="en-US" sz="13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업로드 → 추출 → 수정·저장 · EKS 접속</a:t>
              </a:r>
            </a:p>
          </p:txBody>
        </p:sp>
        <p:sp>
          <p:nvSpPr>
            <p:cNvPr id="16" name="Dates"/>
            <p:cNvSpPr txBox="1"/>
            <p:nvPr/>
          </p:nvSpPr>
          <p:spPr>
            <a:xfrm>
              <a:off x="2067052" y="1987550"/>
              <a:ext cx="755650" cy="152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</a:pPr>
              <a:r>
                <a:rPr lang="ko-KR" altLang="en-US" sz="10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10/19 ~ 10/23</a:t>
              </a:r>
            </a:p>
          </p:txBody>
        </p:sp>
      </p:grpSp>
      <p:sp>
        <p:nvSpPr>
          <p:cNvPr id="17" name="Bar 10/24 ~ 10/30"/>
          <p:cNvSpPr/>
          <p:nvPr/>
        </p:nvSpPr>
        <p:spPr>
          <a:xfrm>
            <a:off x="3818763" y="2247900"/>
            <a:ext cx="2427034" cy="889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" name="Label 10/24 ~ 10/30"/>
          <p:cNvGrpSpPr/>
          <p:nvPr/>
        </p:nvGrpSpPr>
        <p:grpSpPr>
          <a:xfrm>
            <a:off x="3818763" y="2413000"/>
            <a:ext cx="1803400" cy="387350"/>
            <a:chOff x="3818763" y="2413000"/>
            <a:chExt cx="1803400" cy="387350"/>
          </a:xfrm>
        </p:grpSpPr>
        <p:sp>
          <p:nvSpPr>
            <p:cNvPr id="19" name="Task"/>
            <p:cNvSpPr txBox="1"/>
            <p:nvPr/>
          </p:nvSpPr>
          <p:spPr>
            <a:xfrm>
              <a:off x="3818763" y="2413000"/>
              <a:ext cx="1803400" cy="196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550"/>
                </a:lnSpc>
                <a:spcBef>
                  <a:spcPts val="0"/>
                </a:spcBef>
              </a:pPr>
              <a:r>
                <a:rPr lang="ko-KR" altLang="en-US" sz="13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챗봇 · 제출 · 승인 · 보완 요청</a:t>
              </a:r>
            </a:p>
          </p:txBody>
        </p:sp>
        <p:sp>
          <p:nvSpPr>
            <p:cNvPr id="20" name="Dates"/>
            <p:cNvSpPr txBox="1"/>
            <p:nvPr/>
          </p:nvSpPr>
          <p:spPr>
            <a:xfrm>
              <a:off x="3818763" y="2647950"/>
              <a:ext cx="774700" cy="152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</a:pPr>
              <a:r>
                <a:rPr lang="ko-KR" altLang="en-US" sz="10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10/24 ~ 10/30</a:t>
              </a:r>
            </a:p>
          </p:txBody>
        </p:sp>
      </p:grpSp>
      <p:sp>
        <p:nvSpPr>
          <p:cNvPr id="21" name="Bar 10/31 ~ 11/6"/>
          <p:cNvSpPr/>
          <p:nvPr/>
        </p:nvSpPr>
        <p:spPr>
          <a:xfrm>
            <a:off x="6271196" y="2908300"/>
            <a:ext cx="2427034" cy="889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2" name="Label 10/31 ~ 11/6"/>
          <p:cNvGrpSpPr/>
          <p:nvPr/>
        </p:nvGrpSpPr>
        <p:grpSpPr>
          <a:xfrm>
            <a:off x="6271196" y="3073400"/>
            <a:ext cx="2425700" cy="387350"/>
            <a:chOff x="6271196" y="3073400"/>
            <a:chExt cx="2425700" cy="387350"/>
          </a:xfrm>
        </p:grpSpPr>
        <p:sp>
          <p:nvSpPr>
            <p:cNvPr id="23" name="Task"/>
            <p:cNvSpPr txBox="1"/>
            <p:nvPr/>
          </p:nvSpPr>
          <p:spPr>
            <a:xfrm>
              <a:off x="6271196" y="3073400"/>
              <a:ext cx="2425700" cy="196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550"/>
                </a:lnSpc>
                <a:spcBef>
                  <a:spcPts val="0"/>
                </a:spcBef>
              </a:pPr>
              <a:r>
                <a:rPr lang="ko-KR" altLang="en-US" sz="13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촬영 보정 · 비동기 · CI/CD · 통합 점검</a:t>
              </a:r>
            </a:p>
          </p:txBody>
        </p:sp>
        <p:sp>
          <p:nvSpPr>
            <p:cNvPr id="24" name="Dates"/>
            <p:cNvSpPr txBox="1"/>
            <p:nvPr/>
          </p:nvSpPr>
          <p:spPr>
            <a:xfrm>
              <a:off x="6271196" y="3308350"/>
              <a:ext cx="660400" cy="152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</a:pPr>
              <a:r>
                <a:rPr lang="ko-KR" altLang="en-US" sz="10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10/31 ~ 11/6</a:t>
              </a:r>
            </a:p>
          </p:txBody>
        </p:sp>
      </p:grpSp>
      <p:sp>
        <p:nvSpPr>
          <p:cNvPr id="25" name="Bar 11/7 ~ 11/10"/>
          <p:cNvSpPr/>
          <p:nvPr/>
        </p:nvSpPr>
        <p:spPr>
          <a:xfrm>
            <a:off x="8723566" y="3568700"/>
            <a:ext cx="1375982" cy="889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6" name="Label 11/7 ~ 11/10"/>
          <p:cNvGrpSpPr/>
          <p:nvPr/>
        </p:nvGrpSpPr>
        <p:grpSpPr>
          <a:xfrm>
            <a:off x="8454898" y="3733800"/>
            <a:ext cx="1644650" cy="387350"/>
            <a:chOff x="8454898" y="3733800"/>
            <a:chExt cx="1644650" cy="387350"/>
          </a:xfrm>
        </p:grpSpPr>
        <p:sp>
          <p:nvSpPr>
            <p:cNvPr id="27" name="Task"/>
            <p:cNvSpPr txBox="1"/>
            <p:nvPr/>
          </p:nvSpPr>
          <p:spPr>
            <a:xfrm>
              <a:off x="8454898" y="3733800"/>
              <a:ext cx="1644650" cy="196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550"/>
                </a:lnSpc>
                <a:spcBef>
                  <a:spcPts val="0"/>
                </a:spcBef>
              </a:pPr>
              <a:r>
                <a:rPr lang="ko-KR" altLang="en-US" sz="13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자동 확장 · 비용·성능 점검</a:t>
              </a:r>
            </a:p>
          </p:txBody>
        </p:sp>
        <p:sp>
          <p:nvSpPr>
            <p:cNvPr id="28" name="Dates"/>
            <p:cNvSpPr txBox="1"/>
            <p:nvPr/>
          </p:nvSpPr>
          <p:spPr>
            <a:xfrm>
              <a:off x="9464548" y="3968750"/>
              <a:ext cx="635000" cy="152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</a:pPr>
              <a:r>
                <a:rPr lang="ko-KR" altLang="en-US" sz="10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11/7 ~ 11/10</a:t>
              </a:r>
            </a:p>
          </p:txBody>
        </p:sp>
      </p:grpSp>
      <p:sp>
        <p:nvSpPr>
          <p:cNvPr id="29" name="Bar 11/11 ~ 11/13"/>
          <p:cNvSpPr/>
          <p:nvPr/>
        </p:nvSpPr>
        <p:spPr>
          <a:xfrm>
            <a:off x="10124948" y="4229100"/>
            <a:ext cx="1025652" cy="889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0" name="Label 11/11 ~ 11/13"/>
          <p:cNvGrpSpPr/>
          <p:nvPr/>
        </p:nvGrpSpPr>
        <p:grpSpPr>
          <a:xfrm>
            <a:off x="8826500" y="4394200"/>
            <a:ext cx="2324100" cy="387350"/>
            <a:chOff x="8826500" y="4394200"/>
            <a:chExt cx="2324100" cy="387350"/>
          </a:xfrm>
        </p:grpSpPr>
        <p:sp>
          <p:nvSpPr>
            <p:cNvPr id="31" name="Task"/>
            <p:cNvSpPr txBox="1"/>
            <p:nvPr/>
          </p:nvSpPr>
          <p:spPr>
            <a:xfrm>
              <a:off x="8826500" y="4394200"/>
              <a:ext cx="2324100" cy="196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550"/>
                </a:lnSpc>
                <a:spcBef>
                  <a:spcPts val="0"/>
                </a:spcBef>
              </a:pPr>
              <a:r>
                <a:rPr lang="ko-KR" altLang="en-US" sz="1300" b="0" spc="-15">
                  <a:solidFill>
                    <a:srgbClr val="1D1D1F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최종 배포 · 데모 시나리오 · 예비 영상</a:t>
              </a:r>
            </a:p>
          </p:txBody>
        </p:sp>
        <p:sp>
          <p:nvSpPr>
            <p:cNvPr id="32" name="Dates"/>
            <p:cNvSpPr txBox="1"/>
            <p:nvPr/>
          </p:nvSpPr>
          <p:spPr>
            <a:xfrm>
              <a:off x="10477500" y="4629150"/>
              <a:ext cx="673100" cy="152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</a:pPr>
              <a:r>
                <a:rPr lang="ko-KR" altLang="en-US" sz="10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11/11 ~ 11/13</a:t>
              </a:r>
            </a:p>
          </p:txBody>
        </p:sp>
      </p:grpSp>
      <p:sp>
        <p:nvSpPr>
          <p:cNvPr id="33" name="Axis"/>
          <p:cNvSpPr/>
          <p:nvPr/>
        </p:nvSpPr>
        <p:spPr>
          <a:xfrm>
            <a:off x="1016000" y="5264150"/>
            <a:ext cx="1016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Milestone 10/16 기획안 발표"/>
          <p:cNvSpPr/>
          <p:nvPr/>
        </p:nvSpPr>
        <p:spPr>
          <a:xfrm>
            <a:off x="968375" y="522287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66CC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Label"/>
          <p:cNvSpPr txBox="1"/>
          <p:nvPr/>
        </p:nvSpPr>
        <p:spPr>
          <a:xfrm>
            <a:off x="952500" y="5435600"/>
            <a:ext cx="990600" cy="165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</a:pPr>
            <a:r>
              <a:rPr lang="ko-KR" altLang="en-US" sz="1100" b="0" spc="-15">
                <a:solidFill>
                  <a:srgbClr val="333333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10/16 기획안 발표</a:t>
            </a:r>
          </a:p>
        </p:txBody>
      </p:sp>
      <p:sp>
        <p:nvSpPr>
          <p:cNvPr id="36" name="Milestone 10/23 최소 EKS 배포"/>
          <p:cNvSpPr/>
          <p:nvPr/>
        </p:nvSpPr>
        <p:spPr>
          <a:xfrm>
            <a:off x="3420808" y="522287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66CC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Label"/>
          <p:cNvSpPr txBox="1"/>
          <p:nvPr/>
        </p:nvSpPr>
        <p:spPr>
          <a:xfrm>
            <a:off x="2881058" y="5689600"/>
            <a:ext cx="1174750" cy="165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100" b="0" spc="-15">
                <a:solidFill>
                  <a:srgbClr val="333333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10/23 최소 EKS 배포</a:t>
            </a:r>
          </a:p>
        </p:txBody>
      </p:sp>
      <p:sp>
        <p:nvSpPr>
          <p:cNvPr id="38" name="Milestone 11/6 핵심 기능 통합"/>
          <p:cNvSpPr/>
          <p:nvPr/>
        </p:nvSpPr>
        <p:spPr>
          <a:xfrm>
            <a:off x="8325612" y="522287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66CC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Label"/>
          <p:cNvSpPr txBox="1"/>
          <p:nvPr/>
        </p:nvSpPr>
        <p:spPr>
          <a:xfrm>
            <a:off x="7843012" y="5435600"/>
            <a:ext cx="1060450" cy="165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100" b="0" spc="-15">
                <a:solidFill>
                  <a:srgbClr val="333333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11/6 핵심 기능 통합</a:t>
            </a:r>
          </a:p>
        </p:txBody>
      </p:sp>
      <p:sp>
        <p:nvSpPr>
          <p:cNvPr id="40" name="Milestone 11/13 시연 준비 완료"/>
          <p:cNvSpPr/>
          <p:nvPr/>
        </p:nvSpPr>
        <p:spPr>
          <a:xfrm>
            <a:off x="10778046" y="522287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66CC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Label"/>
          <p:cNvSpPr txBox="1"/>
          <p:nvPr/>
        </p:nvSpPr>
        <p:spPr>
          <a:xfrm>
            <a:off x="9765220" y="5689600"/>
            <a:ext cx="1123950" cy="165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</a:pPr>
            <a:r>
              <a:rPr lang="ko-KR" altLang="en-US" sz="1100" b="0" spc="-15">
                <a:solidFill>
                  <a:srgbClr val="333333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11/13 시연 준비 완료</a:t>
            </a:r>
          </a:p>
        </p:txBody>
      </p:sp>
      <p:sp>
        <p:nvSpPr>
          <p:cNvPr id="42" name="Milestone 11/14 데모데이"/>
          <p:cNvSpPr/>
          <p:nvPr/>
        </p:nvSpPr>
        <p:spPr>
          <a:xfrm>
            <a:off x="11096625" y="5191125"/>
            <a:ext cx="158750" cy="158750"/>
          </a:xfrm>
          <a:prstGeom prst="ellipse">
            <a:avLst/>
          </a:prstGeom>
          <a:solidFill>
            <a:srgbClr val="0066CC"/>
          </a:solidFill>
          <a:ln w="19050">
            <a:solidFill>
              <a:srgbClr val="0066CC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abel"/>
          <p:cNvSpPr txBox="1"/>
          <p:nvPr/>
        </p:nvSpPr>
        <p:spPr>
          <a:xfrm>
            <a:off x="10280650" y="5435600"/>
            <a:ext cx="984250" cy="196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</a:pPr>
            <a:r>
              <a:rPr lang="ko-KR" altLang="en-US" sz="1300" b="0" spc="-15">
                <a:solidFill>
                  <a:srgbClr val="0066CC"/>
                </a:solidFill>
                <a:latin typeface="Pretendard SemiBold" pitchFamily="50" charset="-127"/>
                <a:ea typeface="Pretendard SemiBold" pitchFamily="50" charset="-127"/>
                <a:cs typeface="Pretendard SemiBold" pitchFamily="50" charset="-127"/>
              </a:rPr>
              <a:t>11/14 데모데이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ection Nav"/>
          <p:cNvGrpSpPr/>
          <p:nvPr/>
        </p:nvGrpSpPr>
        <p:grpSpPr>
          <a:xfrm>
            <a:off x="0" y="0"/>
            <a:ext cx="12192000" cy="406400"/>
            <a:chOff x="0" y="0"/>
            <a:chExt cx="12192000" cy="406400"/>
          </a:xfrm>
        </p:grpSpPr>
        <p:sp>
          <p:nvSpPr>
            <p:cNvPr id="3" name="Section Nav"/>
            <p:cNvSpPr/>
            <p:nvPr/>
          </p:nvSpPr>
          <p:spPr>
            <a:xfrm>
              <a:off x="0" y="0"/>
              <a:ext cx="121920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Progress Bar"/>
            <p:cNvSpPr/>
            <p:nvPr/>
          </p:nvSpPr>
          <p:spPr>
            <a:xfrm>
              <a:off x="0" y="0"/>
              <a:ext cx="10839450" cy="381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ab 기획 배경"/>
            <p:cNvSpPr txBox="1"/>
            <p:nvPr/>
          </p:nvSpPr>
          <p:spPr>
            <a:xfrm>
              <a:off x="635000" y="241300"/>
              <a:ext cx="5143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기획 배경</a:t>
              </a:r>
            </a:p>
          </p:txBody>
        </p:sp>
        <p:sp>
          <p:nvSpPr>
            <p:cNvPr id="6" name="Tab 서비스"/>
            <p:cNvSpPr txBox="1"/>
            <p:nvPr/>
          </p:nvSpPr>
          <p:spPr>
            <a:xfrm>
              <a:off x="2493454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서비스</a:t>
              </a:r>
            </a:p>
          </p:txBody>
        </p:sp>
        <p:sp>
          <p:nvSpPr>
            <p:cNvPr id="7" name="Tab 차별점"/>
            <p:cNvSpPr txBox="1"/>
            <p:nvPr/>
          </p:nvSpPr>
          <p:spPr>
            <a:xfrm>
              <a:off x="4199446" y="241300"/>
              <a:ext cx="3619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차별점</a:t>
              </a:r>
            </a:p>
          </p:txBody>
        </p:sp>
        <p:sp>
          <p:nvSpPr>
            <p:cNvPr id="8" name="Tab 아키텍처"/>
            <p:cNvSpPr txBox="1"/>
            <p:nvPr/>
          </p:nvSpPr>
          <p:spPr>
            <a:xfrm>
              <a:off x="5905500" y="241300"/>
              <a:ext cx="47625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아키텍처</a:t>
              </a:r>
            </a:p>
          </p:txBody>
        </p:sp>
        <p:sp>
          <p:nvSpPr>
            <p:cNvPr id="9" name="Tab 예산"/>
            <p:cNvSpPr txBox="1"/>
            <p:nvPr/>
          </p:nvSpPr>
          <p:spPr>
            <a:xfrm>
              <a:off x="7725854" y="241300"/>
              <a:ext cx="2413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예산</a:t>
              </a:r>
            </a:p>
          </p:txBody>
        </p:sp>
        <p:sp>
          <p:nvSpPr>
            <p:cNvPr id="10" name="Tab 추진 계획"/>
            <p:cNvSpPr txBox="1"/>
            <p:nvPr/>
          </p:nvSpPr>
          <p:spPr>
            <a:xfrm>
              <a:off x="9311196" y="241300"/>
              <a:ext cx="5080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추진 계획</a:t>
              </a:r>
            </a:p>
          </p:txBody>
        </p:sp>
        <p:sp>
          <p:nvSpPr>
            <p:cNvPr id="11" name="Tab 팀 소개"/>
            <p:cNvSpPr txBox="1"/>
            <p:nvPr/>
          </p:nvSpPr>
          <p:spPr>
            <a:xfrm>
              <a:off x="11163300" y="241300"/>
              <a:ext cx="393700" cy="165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>
                <a:lnSpc>
                  <a:spcPts val="1300"/>
                </a:lnSpc>
                <a:spcBef>
                  <a:spcPts val="0"/>
                </a:spcBef>
              </a:pPr>
              <a:r>
                <a:rPr lang="ko-KR" altLang="en-US" sz="1100" b="0" spc="-15">
                  <a:solidFill>
                    <a:srgbClr val="7A7A7A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팀 소개</a:t>
              </a:r>
            </a:p>
          </p:txBody>
        </p:sp>
      </p:grpSp>
      <p:sp>
        <p:nvSpPr>
          <p:cNvPr id="12" name="Title"/>
          <p:cNvSpPr txBox="1"/>
          <p:nvPr/>
        </p:nvSpPr>
        <p:spPr>
          <a:xfrm>
            <a:off x="635000" y="762000"/>
            <a:ext cx="2559050" cy="425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3350"/>
              </a:lnSpc>
              <a:spcBef>
                <a:spcPts val="0"/>
              </a:spcBef>
            </a:pPr>
            <a:r>
              <a:rPr lang="ko-KR" altLang="en-US" sz="2800" b="0" spc="-56">
                <a:solidFill>
                  <a:srgbClr val="1D1D1F"/>
                </a:solidFill>
                <a:latin typeface="Pretendard SemiBold" pitchFamily="50" charset="-127"/>
                <a:ea typeface="Pretendard SemiBold" pitchFamily="50" charset="-127"/>
                <a:cs typeface="Pretendard SemiBold" pitchFamily="50" charset="-127"/>
              </a:rPr>
              <a:t>리스크와 평가 목표</a:t>
            </a:r>
          </a:p>
        </p:txBody>
      </p:sp>
      <p:grpSp>
        <p:nvGrpSpPr>
          <p:cNvPr id="13" name="KPIs"/>
          <p:cNvGrpSpPr/>
          <p:nvPr/>
        </p:nvGrpSpPr>
        <p:grpSpPr>
          <a:xfrm>
            <a:off x="1458404" y="1651000"/>
            <a:ext cx="9078342" cy="908050"/>
            <a:chOff x="1458404" y="1651000"/>
            <a:chExt cx="9078342" cy="908050"/>
          </a:xfrm>
        </p:grpSpPr>
        <p:sp>
          <p:nvSpPr>
            <p:cNvPr id="14" name="Number"/>
            <p:cNvSpPr txBox="1"/>
            <p:nvPr/>
          </p:nvSpPr>
          <p:spPr>
            <a:xfrm>
              <a:off x="1747330" y="1651000"/>
              <a:ext cx="1416050" cy="660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5200"/>
                </a:lnSpc>
                <a:spcBef>
                  <a:spcPts val="0"/>
                </a:spcBef>
              </a:pPr>
              <a:r>
                <a:rPr lang="ko-KR" altLang="en-US" sz="5200" b="0" spc="-104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90%</a:t>
              </a:r>
            </a:p>
          </p:txBody>
        </p:sp>
        <p:sp>
          <p:nvSpPr>
            <p:cNvPr id="15" name="Label"/>
            <p:cNvSpPr txBox="1"/>
            <p:nvPr/>
          </p:nvSpPr>
          <p:spPr>
            <a:xfrm>
              <a:off x="1458404" y="2362200"/>
              <a:ext cx="1993900" cy="196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550"/>
                </a:lnSpc>
                <a:spcBef>
                  <a:spcPts val="0"/>
                </a:spcBef>
              </a:pPr>
              <a:r>
                <a:rPr lang="ko-KR" altLang="en-US" sz="1300" b="0" spc="-15">
                  <a:solidFill>
                    <a:srgbClr val="333333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상호명·거래일·총액 정답 일치율</a:t>
              </a:r>
            </a:p>
          </p:txBody>
        </p:sp>
        <p:sp>
          <p:nvSpPr>
            <p:cNvPr id="16" name="Number"/>
            <p:cNvSpPr txBox="1"/>
            <p:nvPr/>
          </p:nvSpPr>
          <p:spPr>
            <a:xfrm>
              <a:off x="5410200" y="1651000"/>
              <a:ext cx="1371600" cy="660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5200"/>
                </a:lnSpc>
                <a:spcBef>
                  <a:spcPts val="0"/>
                </a:spcBef>
              </a:pPr>
              <a:r>
                <a:rPr lang="ko-KR" altLang="en-US" sz="5200" b="0" spc="-104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30초</a:t>
              </a:r>
            </a:p>
          </p:txBody>
        </p:sp>
        <p:sp>
          <p:nvSpPr>
            <p:cNvPr id="17" name="Label"/>
            <p:cNvSpPr txBox="1"/>
            <p:nvPr/>
          </p:nvSpPr>
          <p:spPr>
            <a:xfrm>
              <a:off x="5632450" y="2362200"/>
              <a:ext cx="927100" cy="196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550"/>
                </a:lnSpc>
                <a:spcBef>
                  <a:spcPts val="0"/>
                </a:spcBef>
              </a:pPr>
              <a:r>
                <a:rPr lang="ko-KR" altLang="en-US" sz="1300" b="0" spc="-15">
                  <a:solidFill>
                    <a:srgbClr val="333333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분석 시간 상한</a:t>
              </a:r>
            </a:p>
          </p:txBody>
        </p:sp>
        <p:sp>
          <p:nvSpPr>
            <p:cNvPr id="18" name="Number"/>
            <p:cNvSpPr txBox="1"/>
            <p:nvPr/>
          </p:nvSpPr>
          <p:spPr>
            <a:xfrm>
              <a:off x="8936546" y="1651000"/>
              <a:ext cx="1600200" cy="660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5200"/>
                </a:lnSpc>
                <a:spcBef>
                  <a:spcPts val="0"/>
                </a:spcBef>
              </a:pPr>
              <a:r>
                <a:rPr lang="ko-KR" altLang="en-US" sz="5200" b="0" spc="-104">
                  <a:solidFill>
                    <a:srgbClr val="0066CC"/>
                  </a:solidFill>
                  <a:latin typeface="Pretendard SemiBold" pitchFamily="50" charset="-127"/>
                  <a:ea typeface="Pretendard SemiBold" pitchFamily="50" charset="-127"/>
                  <a:cs typeface="Pretendard SemiBold" pitchFamily="50" charset="-127"/>
                </a:rPr>
                <a:t>$200</a:t>
              </a:r>
            </a:p>
          </p:txBody>
        </p:sp>
        <p:sp>
          <p:nvSpPr>
            <p:cNvPr id="19" name="Label"/>
            <p:cNvSpPr txBox="1"/>
            <p:nvPr/>
          </p:nvSpPr>
          <p:spPr>
            <a:xfrm>
              <a:off x="9171496" y="2362200"/>
              <a:ext cx="1130300" cy="196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550"/>
                </a:lnSpc>
                <a:spcBef>
                  <a:spcPts val="0"/>
                </a:spcBef>
              </a:pPr>
              <a:r>
                <a:rPr lang="ko-KR" altLang="en-US" sz="1300" b="0" spc="-15">
                  <a:solidFill>
                    <a:srgbClr val="333333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AWS 총비용 상한</a:t>
              </a:r>
            </a:p>
          </p:txBody>
        </p:sp>
      </p:grpSp>
      <p:sp>
        <p:nvSpPr>
          <p:cNvPr id="20" name="Text"/>
          <p:cNvSpPr txBox="1"/>
          <p:nvPr/>
        </p:nvSpPr>
        <p:spPr>
          <a:xfrm>
            <a:off x="3517900" y="2984500"/>
            <a:ext cx="5156200" cy="165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100" b="0" spc="-15">
                <a:solidFill>
                  <a:srgbClr val="7A7A7A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측정  ·  기다린 시간  ·  보정 전후 정확도  ·  검산 일치율  ·  기기별 동작  ·  자동 확장  ·  배포 자동화</a:t>
            </a:r>
          </a:p>
        </p:txBody>
      </p:sp>
      <p:sp>
        <p:nvSpPr>
          <p:cNvPr id="21" name="Divider"/>
          <p:cNvSpPr/>
          <p:nvPr/>
        </p:nvSpPr>
        <p:spPr>
          <a:xfrm>
            <a:off x="635000" y="3460750"/>
            <a:ext cx="10922000" cy="63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sk Label"/>
          <p:cNvSpPr txBox="1"/>
          <p:nvPr/>
        </p:nvSpPr>
        <p:spPr>
          <a:xfrm>
            <a:off x="635000" y="3708400"/>
            <a:ext cx="762000" cy="184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</a:pPr>
            <a:r>
              <a:rPr lang="ko-KR" altLang="en-US" sz="1200" b="0" spc="-15">
                <a:solidFill>
                  <a:srgbClr val="7A7A7A"/>
                </a:solidFill>
                <a:latin typeface="Pretendard SemiBold" pitchFamily="50" charset="-127"/>
                <a:ea typeface="Pretendard SemiBold" pitchFamily="50" charset="-127"/>
                <a:cs typeface="Pretendard SemiBold" pitchFamily="50" charset="-127"/>
              </a:rPr>
              <a:t>리스크 · 높음</a:t>
            </a:r>
          </a:p>
        </p:txBody>
      </p:sp>
      <p:grpSp>
        <p:nvGrpSpPr>
          <p:cNvPr id="23" name="Risks"/>
          <p:cNvGrpSpPr/>
          <p:nvPr/>
        </p:nvGrpSpPr>
        <p:grpSpPr>
          <a:xfrm>
            <a:off x="635000" y="4038600"/>
            <a:ext cx="10922000" cy="1758950"/>
            <a:chOff x="635000" y="4038600"/>
            <a:chExt cx="10922000" cy="1758950"/>
          </a:xfrm>
        </p:grpSpPr>
        <p:grpSp>
          <p:nvGrpSpPr>
            <p:cNvPr id="24" name="Risk 예산 초과"/>
            <p:cNvGrpSpPr/>
            <p:nvPr/>
          </p:nvGrpSpPr>
          <p:grpSpPr>
            <a:xfrm>
              <a:off x="635000" y="4038600"/>
              <a:ext cx="5334000" cy="1758950"/>
              <a:chOff x="635000" y="4038600"/>
              <a:chExt cx="5334000" cy="1758950"/>
            </a:xfrm>
          </p:grpSpPr>
          <p:sp>
            <p:nvSpPr>
              <p:cNvPr id="25" name="Risk 예산 초과"/>
              <p:cNvSpPr/>
              <p:nvPr/>
            </p:nvSpPr>
            <p:spPr>
              <a:xfrm>
                <a:off x="635000" y="4038600"/>
                <a:ext cx="5334000" cy="1758950"/>
              </a:xfrm>
              <a:prstGeom prst="roundRect">
                <a:avLst>
                  <a:gd name="adj" fmla="val 6498"/>
                </a:avLst>
              </a:prstGeom>
              <a:solidFill>
                <a:srgbClr val="F5F5F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Title"/>
              <p:cNvSpPr txBox="1"/>
              <p:nvPr/>
            </p:nvSpPr>
            <p:spPr>
              <a:xfrm>
                <a:off x="889000" y="42672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2400"/>
                  </a:lnSpc>
                  <a:spcBef>
                    <a:spcPts val="0"/>
                  </a:spcBef>
                </a:pPr>
                <a:r>
                  <a:rPr lang="ko-KR" altLang="en-US" sz="2000" b="0" spc="-40">
                    <a:solidFill>
                      <a:srgbClr val="1D1D1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예산 초과</a:t>
                </a:r>
              </a:p>
            </p:txBody>
          </p:sp>
          <p:sp>
            <p:nvSpPr>
              <p:cNvPr id="27" name="Cause"/>
              <p:cNvSpPr txBox="1"/>
              <p:nvPr/>
            </p:nvSpPr>
            <p:spPr>
              <a:xfrm>
                <a:off x="889000" y="4635500"/>
                <a:ext cx="1555750" cy="1841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450"/>
                  </a:lnSpc>
                  <a:spcBef>
                    <a:spcPts val="0"/>
                  </a:spcBef>
                </a:pPr>
                <a:r>
                  <a:rPr lang="ko-KR" altLang="en-US" sz="1200" b="0" spc="-15">
                    <a:solidFill>
                      <a:srgbClr val="7A7A7A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클러스터·ALB·EBS 미삭제</a:t>
                </a:r>
              </a:p>
            </p:txBody>
          </p:sp>
          <p:sp>
            <p:nvSpPr>
              <p:cNvPr id="28" name="Label"/>
              <p:cNvSpPr txBox="1"/>
              <p:nvPr/>
            </p:nvSpPr>
            <p:spPr>
              <a:xfrm>
                <a:off x="889000" y="5022850"/>
                <a:ext cx="215900" cy="152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200"/>
                  </a:lnSpc>
                  <a:spcBef>
                    <a:spcPts val="0"/>
                  </a:spcBef>
                </a:pPr>
                <a:r>
                  <a:rPr lang="ko-KR" altLang="en-US" sz="1000" b="0" spc="-15">
                    <a:solidFill>
                      <a:srgbClr val="7A7A7A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대응</a:t>
                </a:r>
              </a:p>
            </p:txBody>
          </p:sp>
          <p:grpSp>
            <p:nvGrpSpPr>
              <p:cNvPr id="29" name="Chip Budgets 알람"/>
              <p:cNvGrpSpPr/>
              <p:nvPr/>
            </p:nvGrpSpPr>
            <p:grpSpPr>
              <a:xfrm>
                <a:off x="893762" y="5256212"/>
                <a:ext cx="1050925" cy="307975"/>
                <a:chOff x="893762" y="5256212"/>
                <a:chExt cx="1050925" cy="307975"/>
              </a:xfrm>
            </p:grpSpPr>
            <p:sp>
              <p:nvSpPr>
                <p:cNvPr id="30" name="Chip Budgets 알람"/>
                <p:cNvSpPr/>
                <p:nvPr/>
              </p:nvSpPr>
              <p:spPr>
                <a:xfrm>
                  <a:off x="893762" y="5256212"/>
                  <a:ext cx="1050925" cy="30797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 w="9525">
                  <a:solidFill>
                    <a:srgbClr val="0066CC"/>
                  </a:solidFill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1" name="Label"/>
                <p:cNvSpPr txBox="1"/>
                <p:nvPr/>
              </p:nvSpPr>
              <p:spPr>
                <a:xfrm>
                  <a:off x="1028700" y="5327650"/>
                  <a:ext cx="78105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0066CC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Budgets 알람</a:t>
                  </a:r>
                </a:p>
              </p:txBody>
            </p:sp>
          </p:grpSp>
          <p:grpSp>
            <p:nvGrpSpPr>
              <p:cNvPr id="32" name="Chip 삭제 절차서"/>
              <p:cNvGrpSpPr/>
              <p:nvPr/>
            </p:nvGrpSpPr>
            <p:grpSpPr>
              <a:xfrm>
                <a:off x="2030412" y="5256212"/>
                <a:ext cx="898525" cy="307975"/>
                <a:chOff x="2030412" y="5256212"/>
                <a:chExt cx="898525" cy="307975"/>
              </a:xfrm>
            </p:grpSpPr>
            <p:sp>
              <p:nvSpPr>
                <p:cNvPr id="33" name="Chip 삭제 절차서"/>
                <p:cNvSpPr/>
                <p:nvPr/>
              </p:nvSpPr>
              <p:spPr>
                <a:xfrm>
                  <a:off x="2030412" y="5256212"/>
                  <a:ext cx="898525" cy="30797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 w="9525">
                  <a:solidFill>
                    <a:srgbClr val="0066CC"/>
                  </a:solidFill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" name="Label"/>
                <p:cNvSpPr txBox="1"/>
                <p:nvPr/>
              </p:nvSpPr>
              <p:spPr>
                <a:xfrm>
                  <a:off x="2165350" y="5327650"/>
                  <a:ext cx="62865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0066CC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삭제 절차서</a:t>
                  </a:r>
                </a:p>
              </p:txBody>
            </p:sp>
          </p:grpSp>
          <p:grpSp>
            <p:nvGrpSpPr>
              <p:cNvPr id="35" name="Chip 주간 비용 점검"/>
              <p:cNvGrpSpPr/>
              <p:nvPr/>
            </p:nvGrpSpPr>
            <p:grpSpPr>
              <a:xfrm>
                <a:off x="3014662" y="5256212"/>
                <a:ext cx="1050925" cy="307975"/>
                <a:chOff x="3014662" y="5256212"/>
                <a:chExt cx="1050925" cy="307975"/>
              </a:xfrm>
            </p:grpSpPr>
            <p:sp>
              <p:nvSpPr>
                <p:cNvPr id="36" name="Chip 주간 비용 점검"/>
                <p:cNvSpPr/>
                <p:nvPr/>
              </p:nvSpPr>
              <p:spPr>
                <a:xfrm>
                  <a:off x="3014662" y="5256212"/>
                  <a:ext cx="1050925" cy="30797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 w="9525">
                  <a:solidFill>
                    <a:srgbClr val="0066CC"/>
                  </a:solidFill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" name="Label"/>
                <p:cNvSpPr txBox="1"/>
                <p:nvPr/>
              </p:nvSpPr>
              <p:spPr>
                <a:xfrm>
                  <a:off x="3149600" y="5327650"/>
                  <a:ext cx="78105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0066CC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주간 비용 점검</a:t>
                  </a:r>
                </a:p>
              </p:txBody>
            </p:sp>
          </p:grpSp>
        </p:grpSp>
        <p:grpSp>
          <p:nvGrpSpPr>
            <p:cNvPr id="38" name="Risk EKS 설정 지연"/>
            <p:cNvGrpSpPr/>
            <p:nvPr/>
          </p:nvGrpSpPr>
          <p:grpSpPr>
            <a:xfrm>
              <a:off x="6223000" y="4038600"/>
              <a:ext cx="5334000" cy="1758950"/>
              <a:chOff x="6223000" y="4038600"/>
              <a:chExt cx="5334000" cy="1758950"/>
            </a:xfrm>
          </p:grpSpPr>
          <p:sp>
            <p:nvSpPr>
              <p:cNvPr id="39" name="Risk EKS 설정 지연"/>
              <p:cNvSpPr/>
              <p:nvPr/>
            </p:nvSpPr>
            <p:spPr>
              <a:xfrm>
                <a:off x="6223000" y="4038600"/>
                <a:ext cx="5334000" cy="1758950"/>
              </a:xfrm>
              <a:prstGeom prst="roundRect">
                <a:avLst>
                  <a:gd name="adj" fmla="val 6498"/>
                </a:avLst>
              </a:prstGeom>
              <a:solidFill>
                <a:srgbClr val="F5F5F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Title"/>
              <p:cNvSpPr txBox="1"/>
              <p:nvPr/>
            </p:nvSpPr>
            <p:spPr>
              <a:xfrm>
                <a:off x="6477000" y="4267200"/>
                <a:ext cx="142875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2400"/>
                  </a:lnSpc>
                  <a:spcBef>
                    <a:spcPts val="0"/>
                  </a:spcBef>
                </a:pPr>
                <a:r>
                  <a:rPr lang="ko-KR" altLang="en-US" sz="2000" b="0" spc="-40">
                    <a:solidFill>
                      <a:srgbClr val="1D1D1F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EKS 설정 지연</a:t>
                </a:r>
              </a:p>
            </p:txBody>
          </p:sp>
          <p:sp>
            <p:nvSpPr>
              <p:cNvPr id="41" name="Cause"/>
              <p:cNvSpPr txBox="1"/>
              <p:nvPr/>
            </p:nvSpPr>
            <p:spPr>
              <a:xfrm>
                <a:off x="6477000" y="4635500"/>
                <a:ext cx="819150" cy="1841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450"/>
                  </a:lnSpc>
                  <a:spcBef>
                    <a:spcPts val="0"/>
                  </a:spcBef>
                </a:pPr>
                <a:r>
                  <a:rPr lang="ko-KR" altLang="en-US" sz="1200" b="0" spc="-15">
                    <a:solidFill>
                      <a:srgbClr val="7A7A7A"/>
                    </a:solidFill>
                    <a:latin typeface="Pretendard" pitchFamily="50" charset="-127"/>
                    <a:ea typeface="Pretendard" pitchFamily="50" charset="-127"/>
                    <a:cs typeface="Pretendard" pitchFamily="50" charset="-127"/>
                  </a:rPr>
                  <a:t>네트워크·IAM</a:t>
                </a:r>
              </a:p>
            </p:txBody>
          </p:sp>
          <p:sp>
            <p:nvSpPr>
              <p:cNvPr id="42" name="Label"/>
              <p:cNvSpPr txBox="1"/>
              <p:nvPr/>
            </p:nvSpPr>
            <p:spPr>
              <a:xfrm>
                <a:off x="6477000" y="5022850"/>
                <a:ext cx="215900" cy="152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lnSpc>
                    <a:spcPts val="1200"/>
                  </a:lnSpc>
                  <a:spcBef>
                    <a:spcPts val="0"/>
                  </a:spcBef>
                </a:pPr>
                <a:r>
                  <a:rPr lang="ko-KR" altLang="en-US" sz="1000" b="0" spc="-15">
                    <a:solidFill>
                      <a:srgbClr val="7A7A7A"/>
                    </a:solidFill>
                    <a:latin typeface="Pretendard SemiBold" pitchFamily="50" charset="-127"/>
                    <a:ea typeface="Pretendard SemiBold" pitchFamily="50" charset="-127"/>
                    <a:cs typeface="Pretendard SemiBold" pitchFamily="50" charset="-127"/>
                  </a:rPr>
                  <a:t>대응</a:t>
                </a:r>
              </a:p>
            </p:txBody>
          </p:sp>
          <p:grpSp>
            <p:nvGrpSpPr>
              <p:cNvPr id="43" name="Chip 10/23 최소 배포"/>
              <p:cNvGrpSpPr/>
              <p:nvPr/>
            </p:nvGrpSpPr>
            <p:grpSpPr>
              <a:xfrm>
                <a:off x="6481762" y="5256212"/>
                <a:ext cx="1165225" cy="307975"/>
                <a:chOff x="6481762" y="5256212"/>
                <a:chExt cx="1165225" cy="307975"/>
              </a:xfrm>
            </p:grpSpPr>
            <p:sp>
              <p:nvSpPr>
                <p:cNvPr id="44" name="Chip 10/23 최소 배포"/>
                <p:cNvSpPr/>
                <p:nvPr/>
              </p:nvSpPr>
              <p:spPr>
                <a:xfrm>
                  <a:off x="6481762" y="5256212"/>
                  <a:ext cx="1165225" cy="30797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 w="9525">
                  <a:solidFill>
                    <a:srgbClr val="0066CC"/>
                  </a:solidFill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5" name="Label"/>
                <p:cNvSpPr txBox="1"/>
                <p:nvPr/>
              </p:nvSpPr>
              <p:spPr>
                <a:xfrm>
                  <a:off x="6616700" y="5327650"/>
                  <a:ext cx="89535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0066CC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10/23 최소 배포</a:t>
                  </a:r>
                </a:p>
              </p:txBody>
            </p:sp>
          </p:grpSp>
          <p:grpSp>
            <p:nvGrpSpPr>
              <p:cNvPr id="46" name="Chip 멘토 자문"/>
              <p:cNvGrpSpPr/>
              <p:nvPr/>
            </p:nvGrpSpPr>
            <p:grpSpPr>
              <a:xfrm>
                <a:off x="7732712" y="5256212"/>
                <a:ext cx="784225" cy="307975"/>
                <a:chOff x="7732712" y="5256212"/>
                <a:chExt cx="784225" cy="307975"/>
              </a:xfrm>
            </p:grpSpPr>
            <p:sp>
              <p:nvSpPr>
                <p:cNvPr id="47" name="Chip 멘토 자문"/>
                <p:cNvSpPr/>
                <p:nvPr/>
              </p:nvSpPr>
              <p:spPr>
                <a:xfrm>
                  <a:off x="7732712" y="5256212"/>
                  <a:ext cx="784225" cy="30797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 w="9525">
                  <a:solidFill>
                    <a:srgbClr val="0066CC"/>
                  </a:solidFill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" name="Label"/>
                <p:cNvSpPr txBox="1"/>
                <p:nvPr/>
              </p:nvSpPr>
              <p:spPr>
                <a:xfrm>
                  <a:off x="7867650" y="5327650"/>
                  <a:ext cx="51435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0066CC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멘토 자문</a:t>
                  </a:r>
                </a:p>
              </p:txBody>
            </p:sp>
          </p:grpSp>
          <p:grpSp>
            <p:nvGrpSpPr>
              <p:cNvPr id="49" name="Chip 기능 범위 축소"/>
              <p:cNvGrpSpPr/>
              <p:nvPr/>
            </p:nvGrpSpPr>
            <p:grpSpPr>
              <a:xfrm>
                <a:off x="8602662" y="5256212"/>
                <a:ext cx="1050925" cy="307975"/>
                <a:chOff x="8602662" y="5256212"/>
                <a:chExt cx="1050925" cy="307975"/>
              </a:xfrm>
            </p:grpSpPr>
            <p:sp>
              <p:nvSpPr>
                <p:cNvPr id="50" name="Chip 기능 범위 축소"/>
                <p:cNvSpPr/>
                <p:nvPr/>
              </p:nvSpPr>
              <p:spPr>
                <a:xfrm>
                  <a:off x="8602662" y="5256212"/>
                  <a:ext cx="1050925" cy="30797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 w="9525">
                  <a:solidFill>
                    <a:srgbClr val="0066CC"/>
                  </a:solidFill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1" name="Label"/>
                <p:cNvSpPr txBox="1"/>
                <p:nvPr/>
              </p:nvSpPr>
              <p:spPr>
                <a:xfrm>
                  <a:off x="8737600" y="5327650"/>
                  <a:ext cx="781050" cy="1651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lnSpc>
                      <a:spcPts val="1300"/>
                    </a:lnSpc>
                    <a:spcBef>
                      <a:spcPts val="0"/>
                    </a:spcBef>
                  </a:pPr>
                  <a:r>
                    <a:rPr lang="ko-KR" altLang="en-US" sz="1100" b="0" spc="-15">
                      <a:solidFill>
                        <a:srgbClr val="0066CC"/>
                      </a:solidFill>
                      <a:latin typeface="Pretendard" pitchFamily="50" charset="-127"/>
                      <a:ea typeface="Pretendard" pitchFamily="50" charset="-127"/>
                      <a:cs typeface="Pretendard" pitchFamily="50" charset="-127"/>
                    </a:rPr>
                    <a:t>기능 범위 축소</a:t>
                  </a: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9</Slides>
  <Notes>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영수증 증빙 검수 서비스 — 4팀 기획안</dc:title>
  <dc:subject/>
  <dc:creator>4팀</dc:creator>
  <cp:keywords/>
  <dc:description>generated using python-pptx</dc:description>
  <cp:lastModifiedBy>Steve Canny</cp:lastModifiedBy>
  <cp:revision>3</cp:revision>
  <dcterms:created xsi:type="dcterms:W3CDTF">2013-01-27T09:14:16Z</dcterms:created>
  <dcterms:modified xsi:type="dcterms:W3CDTF">2026-10-12T13:19:53Z</dcterms:modified>
  <cp:category/>
</cp:coreProperties>
</file>